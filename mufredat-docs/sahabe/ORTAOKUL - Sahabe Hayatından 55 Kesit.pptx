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1" Type="http://schemas.openxmlformats.org/officeDocument/2006/relationships/slide" Target="slides/slide56.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slide_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slide_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slide_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slide_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slide_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slide_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slide_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slide_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slide_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slide_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slide_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slide_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slide_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slide_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slide_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slide_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slide_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slide_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slide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slide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slide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slide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slide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slide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slide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slide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slide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slide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slide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slide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slide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slide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slide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slide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slide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slide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slide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slide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slide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slide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slide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slide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slide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slide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slide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slide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slide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slide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slide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slide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slide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slide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slide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slide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slide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slide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slide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slide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slide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 name="Google Shape;411;slide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slide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slide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slide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slide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slide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7" name="Google Shape;447;slide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slide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slide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slide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1" name="Google Shape;471;slide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slide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3" name="Google Shape;483;slide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slide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5" name="Google Shape;495;slide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slide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7" name="Google Shape;507;slide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slide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9" name="Google Shape;519;slide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slide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1" name="Google Shape;531;slide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slide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3" name="Google Shape;543;slide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slide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5" name="Google Shape;555;slide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slide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7" name="Google Shape;567;slide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slide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9" name="Google Shape;579;slide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slide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1" name="Google Shape;591;slide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slide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3" name="Google Shape;603;slide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slide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5" name="Google Shape;615;slide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slide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7" name="Google Shape;627;slide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slide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9" name="Google Shape;639;slide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slide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1" name="Google Shape;651;slide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slide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3" name="Google Shape;663;slide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slide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5" name="Google Shape;675;slide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slide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7" name="Google Shape;687;slide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slide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9" name="Google Shape;699;slide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slide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1" name="Google Shape;711;slide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t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
        <p:nvSpPr>
          <p:cNvPr id="56" name="Google Shape;56;p13"/>
          <p:cNvSpPr/>
          <p:nvPr/>
        </p:nvSpPr>
        <p:spPr>
          <a:xfrm>
            <a:off x="0" y="0"/>
            <a:ext cx="9144000" cy="5143500"/>
          </a:xfrm>
          <a:prstGeom prst="rect">
            <a:avLst/>
          </a:prstGeom>
          <a:solidFill>
            <a:srgbClr val="F7F2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 name="Google Shape;57;p13"/>
          <p:cNvSpPr txBox="1"/>
          <p:nvPr/>
        </p:nvSpPr>
        <p:spPr>
          <a:xfrm>
            <a:off x="730000" y="600000"/>
            <a:ext cx="6999900" cy="30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1100">
                <a:solidFill>
                  <a:srgbClr val="146B66"/>
                </a:solidFill>
                <a:latin typeface="Aptos"/>
                <a:ea typeface="Aptos"/>
                <a:cs typeface="Aptos"/>
                <a:sym typeface="Aptos"/>
              </a:rPr>
              <a:t>MÜFREDAT PROJESİ • SAHABE</a:t>
            </a:r>
            <a:endParaRPr b="1" sz="1100">
              <a:solidFill>
                <a:srgbClr val="146B66"/>
              </a:solidFill>
              <a:latin typeface="Aptos"/>
              <a:ea typeface="Aptos"/>
              <a:cs typeface="Aptos"/>
              <a:sym typeface="Aptos"/>
            </a:endParaRPr>
          </a:p>
        </p:txBody>
      </p:sp>
      <p:sp>
        <p:nvSpPr>
          <p:cNvPr id="58" name="Google Shape;58;p13"/>
          <p:cNvSpPr txBox="1"/>
          <p:nvPr/>
        </p:nvSpPr>
        <p:spPr>
          <a:xfrm>
            <a:off x="730000" y="1200000"/>
            <a:ext cx="6300000" cy="129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3400">
                <a:solidFill>
                  <a:srgbClr val="1F2E33"/>
                </a:solidFill>
                <a:latin typeface="Aptos Display"/>
                <a:ea typeface="Aptos Display"/>
                <a:cs typeface="Aptos Display"/>
                <a:sym typeface="Aptos Display"/>
              </a:rPr>
              <a:t>Sahabe Hayatından</a:t>
            </a:r>
            <a:endParaRPr b="1" sz="3400">
              <a:solidFill>
                <a:srgbClr val="1F2E33"/>
              </a:solidFill>
              <a:latin typeface="Aptos Display"/>
              <a:ea typeface="Aptos Display"/>
              <a:cs typeface="Aptos Display"/>
              <a:sym typeface="Aptos Display"/>
            </a:endParaRPr>
          </a:p>
          <a:p>
            <a:pPr indent="0" lvl="0" marL="0" rtl="0" algn="l">
              <a:spcBef>
                <a:spcPts val="0"/>
              </a:spcBef>
              <a:spcAft>
                <a:spcPts val="0"/>
              </a:spcAft>
              <a:buNone/>
            </a:pPr>
            <a:r>
              <a:rPr b="1" lang="tr" sz="3400">
                <a:solidFill>
                  <a:srgbClr val="1F2E33"/>
                </a:solidFill>
                <a:latin typeface="Aptos Display"/>
                <a:ea typeface="Aptos Display"/>
                <a:cs typeface="Aptos Display"/>
                <a:sym typeface="Aptos Display"/>
              </a:rPr>
              <a:t>55 Kesit</a:t>
            </a:r>
            <a:endParaRPr b="1" sz="3400">
              <a:solidFill>
                <a:srgbClr val="1F2E33"/>
              </a:solidFill>
              <a:latin typeface="Aptos Display"/>
              <a:ea typeface="Aptos Display"/>
              <a:cs typeface="Aptos Display"/>
              <a:sym typeface="Aptos Display"/>
            </a:endParaRPr>
          </a:p>
        </p:txBody>
      </p:sp>
      <p:sp>
        <p:nvSpPr>
          <p:cNvPr id="59" name="Google Shape;59;p13"/>
          <p:cNvSpPr/>
          <p:nvPr/>
        </p:nvSpPr>
        <p:spPr>
          <a:xfrm>
            <a:off x="730000" y="3150000"/>
            <a:ext cx="2199900" cy="6000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600">
                <a:solidFill>
                  <a:srgbClr val="FFFFFF"/>
                </a:solidFill>
                <a:latin typeface="Aptos"/>
                <a:ea typeface="Aptos"/>
                <a:cs typeface="Aptos"/>
                <a:sym typeface="Aptos"/>
              </a:rPr>
              <a:t>ORTAOKUL</a:t>
            </a:r>
            <a:endParaRPr b="1" sz="1600">
              <a:solidFill>
                <a:srgbClr val="FFFFFF"/>
              </a:solidFill>
              <a:latin typeface="Aptos"/>
              <a:ea typeface="Aptos"/>
              <a:cs typeface="Aptos"/>
              <a:sym typeface="Aptos"/>
            </a:endParaRPr>
          </a:p>
        </p:txBody>
      </p:sp>
      <p:sp>
        <p:nvSpPr>
          <p:cNvPr id="60" name="Google Shape;60;p13"/>
          <p:cNvSpPr txBox="1"/>
          <p:nvPr/>
        </p:nvSpPr>
        <p:spPr>
          <a:xfrm>
            <a:off x="730000" y="4050000"/>
            <a:ext cx="69999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a:solidFill>
                  <a:srgbClr val="474D4D"/>
                </a:solidFill>
                <a:latin typeface="Aptos"/>
                <a:ea typeface="Aptos"/>
                <a:cs typeface="Aptos"/>
                <a:sym typeface="Aptos"/>
              </a:rPr>
              <a:t>Bir sahabi • bir hadise • bir davranış • bir uygulama</a:t>
            </a:r>
            <a:endParaRPr>
              <a:solidFill>
                <a:srgbClr val="474D4D"/>
              </a:solidFill>
              <a:latin typeface="Aptos"/>
              <a:ea typeface="Aptos"/>
              <a:cs typeface="Aptos"/>
              <a:sym typeface="Apto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 name="Google Shape;66;p14"/>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ORTAOKUL • SAHABE</a:t>
            </a:r>
            <a:endParaRPr b="1" sz="900">
              <a:solidFill>
                <a:srgbClr val="146B66"/>
              </a:solidFill>
              <a:latin typeface="Aptos"/>
              <a:ea typeface="Aptos"/>
              <a:cs typeface="Aptos"/>
              <a:sym typeface="Aptos"/>
            </a:endParaRPr>
          </a:p>
        </p:txBody>
      </p:sp>
      <p:sp>
        <p:nvSpPr>
          <p:cNvPr id="67" name="Google Shape;67;p14"/>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01 · Hz. Ebû Bekir — Yılların Güveni</a:t>
            </a:r>
            <a:endParaRPr b="1" sz="2600">
              <a:solidFill>
                <a:srgbClr val="1F2E33"/>
              </a:solidFill>
              <a:latin typeface="Aptos Display"/>
              <a:ea typeface="Aptos Display"/>
              <a:cs typeface="Aptos Display"/>
              <a:sym typeface="Aptos Display"/>
            </a:endParaRPr>
          </a:p>
        </p:txBody>
      </p:sp>
      <p:sp>
        <p:nvSpPr>
          <p:cNvPr id="68" name="Google Shape;68;p14"/>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69" name="Google Shape;69;p14"/>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Hz. Ebû Bekir, Peygamberimizi uzun yıllardır yakından tanıyordu. Onun insanlarla konuşurken doğru sözlü olduğunu, kimseyi aldatmadığını ve kendisine emanet edilen şeylere dikkat ettiğini görmüştü. Bu yüzden Peygamberimiz İslâm’ı anlattığında karşısında yabancı birini değil, hayatı boyunca güven duyduğu dostunu görüyordu. Yeni duyduğu mesaj büyük bir karar gerektiriyordu; fakat geçmişte biriken güven ona güçlü bir dayanak oldu. Hz. Ebû Bekir uzun tartışmalara girmeden onu tasdik etti. Yıllar boyunca küçük davranışlarla kurulan güven, hayatının en önemli kararlarından birinde ona yol gösterdi.</a:t>
            </a:r>
            <a:endParaRPr sz="1350">
              <a:solidFill>
                <a:srgbClr val="292E30"/>
              </a:solidFill>
              <a:latin typeface="Aptos"/>
              <a:ea typeface="Aptos"/>
              <a:cs typeface="Aptos"/>
              <a:sym typeface="Aptos"/>
            </a:endParaRPr>
          </a:p>
        </p:txBody>
      </p:sp>
      <p:sp>
        <p:nvSpPr>
          <p:cNvPr id="70" name="Google Shape;70;p14"/>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Güven bir günde kurulmaz; küçük doğruluklar zamanla büyük bir güvene dönüşür.</a:t>
            </a:r>
            <a:endParaRPr sz="1500">
              <a:solidFill>
                <a:srgbClr val="143333"/>
              </a:solidFill>
              <a:latin typeface="Aptos"/>
              <a:ea typeface="Aptos"/>
              <a:cs typeface="Aptos"/>
              <a:sym typeface="Aptos"/>
            </a:endParaRPr>
          </a:p>
        </p:txBody>
      </p:sp>
      <p:sp>
        <p:nvSpPr>
          <p:cNvPr id="71" name="Google Shape;71;p14"/>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Bugün verdiğin küçük bir sözü özellikle yerine getir.</a:t>
            </a:r>
            <a:endParaRPr b="1" sz="1200">
              <a:solidFill>
                <a:srgbClr val="FFFFFF"/>
              </a:solidFill>
              <a:latin typeface="Aptos"/>
              <a:ea typeface="Aptos"/>
              <a:cs typeface="Aptos"/>
              <a:sym typeface="Aptos"/>
            </a:endParaRPr>
          </a:p>
        </p:txBody>
      </p:sp>
      <p:sp>
        <p:nvSpPr>
          <p:cNvPr id="72" name="Google Shape;72;p14"/>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Sevgili Peygamberimizin Arkadaşları 1 — Hz. Ebû Bekir</a:t>
            </a:r>
            <a:endParaRPr sz="700">
              <a:solidFill>
                <a:srgbClr val="737373"/>
              </a:solidFill>
              <a:latin typeface="Aptos"/>
              <a:ea typeface="Aptos"/>
              <a:cs typeface="Aptos"/>
              <a:sym typeface="Apto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5"/>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8" name="Google Shape;78;p15"/>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ORTAOKUL • SAHABE</a:t>
            </a:r>
            <a:endParaRPr b="1" sz="900">
              <a:solidFill>
                <a:srgbClr val="146B66"/>
              </a:solidFill>
              <a:latin typeface="Aptos"/>
              <a:ea typeface="Aptos"/>
              <a:cs typeface="Aptos"/>
              <a:sym typeface="Aptos"/>
            </a:endParaRPr>
          </a:p>
        </p:txBody>
      </p:sp>
      <p:sp>
        <p:nvSpPr>
          <p:cNvPr id="79" name="Google Shape;79;p15"/>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02 · Hz. Ebû Bekir — Doğru Bildiğini Paylaşmak</a:t>
            </a:r>
            <a:endParaRPr b="1" sz="2600">
              <a:solidFill>
                <a:srgbClr val="1F2E33"/>
              </a:solidFill>
              <a:latin typeface="Aptos Display"/>
              <a:ea typeface="Aptos Display"/>
              <a:cs typeface="Aptos Display"/>
              <a:sym typeface="Aptos Display"/>
            </a:endParaRPr>
          </a:p>
        </p:txBody>
      </p:sp>
      <p:sp>
        <p:nvSpPr>
          <p:cNvPr id="80" name="Google Shape;80;p15"/>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81" name="Google Shape;81;p15"/>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Hz. Ebû Bekir İslâm’ı kabul ettikten sonra güvendiği ve tanıdığı insanlara Resûlullah’ın davetini anlatmaya başladı. İlk Müslümanlardan Hz. Osman, Zübeyr b. Avvâm, Abdurrahman b. Avf, Sa‘d b. Ebû Vakkās ve Talha b. Ubeydullah gibi isimlerin İslâm’la tanışmasında onun davetinin önemli bir yeri oldu. Böylece Hz. Ebû Bekir, öğrendiği hakikati çevresine ulaştırarak İslâm’ın ilk günlerinden itibaren tebliğ vazifesinde Resûlullah’ın yanında yer aldı.</a:t>
            </a:r>
            <a:endParaRPr sz="1350">
              <a:solidFill>
                <a:srgbClr val="292E30"/>
              </a:solidFill>
              <a:latin typeface="Aptos"/>
              <a:ea typeface="Aptos"/>
              <a:cs typeface="Aptos"/>
              <a:sym typeface="Aptos"/>
            </a:endParaRPr>
          </a:p>
        </p:txBody>
      </p:sp>
      <p:sp>
        <p:nvSpPr>
          <p:cNvPr id="82" name="Google Shape;82;p15"/>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Güzel bir şeyi paylaşmak cesaret ister; fakat bunu doğru üslupla yapmak daha da önemlidir.</a:t>
            </a:r>
            <a:endParaRPr sz="1500">
              <a:solidFill>
                <a:srgbClr val="143333"/>
              </a:solidFill>
              <a:latin typeface="Aptos"/>
              <a:ea typeface="Aptos"/>
              <a:cs typeface="Aptos"/>
              <a:sym typeface="Aptos"/>
            </a:endParaRPr>
          </a:p>
        </p:txBody>
      </p:sp>
      <p:sp>
        <p:nvSpPr>
          <p:cNvPr id="83" name="Google Shape;83;p15"/>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Bir arkadaşına faydalı bulduğun tek bir güzel bilgiyi paylaş.</a:t>
            </a:r>
            <a:endParaRPr b="1" sz="1200">
              <a:solidFill>
                <a:srgbClr val="FFFFFF"/>
              </a:solidFill>
              <a:latin typeface="Aptos"/>
              <a:ea typeface="Aptos"/>
              <a:cs typeface="Aptos"/>
              <a:sym typeface="Aptos"/>
            </a:endParaRPr>
          </a:p>
        </p:txBody>
      </p:sp>
      <p:sp>
        <p:nvSpPr>
          <p:cNvPr id="84" name="Google Shape;84;p15"/>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Sevgili Peygamberimizin Arkadaşları 1 — Hz. Ebû Bekir</a:t>
            </a:r>
            <a:endParaRPr sz="700">
              <a:solidFill>
                <a:srgbClr val="737373"/>
              </a:solidFill>
              <a:latin typeface="Aptos"/>
              <a:ea typeface="Aptos"/>
              <a:cs typeface="Aptos"/>
              <a:sym typeface="Apto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6"/>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0" name="Google Shape;90;p16"/>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ORTAOKUL • SAHABE</a:t>
            </a:r>
            <a:endParaRPr b="1" sz="900">
              <a:solidFill>
                <a:srgbClr val="146B66"/>
              </a:solidFill>
              <a:latin typeface="Aptos"/>
              <a:ea typeface="Aptos"/>
              <a:cs typeface="Aptos"/>
              <a:sym typeface="Aptos"/>
            </a:endParaRPr>
          </a:p>
        </p:txBody>
      </p:sp>
      <p:sp>
        <p:nvSpPr>
          <p:cNvPr id="91" name="Google Shape;91;p16"/>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03 · Hz. Ebû Bekir — Kendinden Önce Dostunu Sormak</a:t>
            </a:r>
            <a:endParaRPr b="1" sz="2600">
              <a:solidFill>
                <a:srgbClr val="1F2E33"/>
              </a:solidFill>
              <a:latin typeface="Aptos Display"/>
              <a:ea typeface="Aptos Display"/>
              <a:cs typeface="Aptos Display"/>
              <a:sym typeface="Aptos Display"/>
            </a:endParaRPr>
          </a:p>
        </p:txBody>
      </p:sp>
      <p:sp>
        <p:nvSpPr>
          <p:cNvPr id="92" name="Google Shape;92;p16"/>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93" name="Google Shape;93;p16"/>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Hz. Ebû Bekir, inancını açıkça söylediği için ağır bir saldırıya uğradı ve baygın hâlde evine götürüldü. Kendine geldiğinde yaraları henüz çok ağırdı. Buna rağmen ilk olarak Resûlullah’ın durumunu sordu. Onun sağ salim olduğunu öğrenmek istedi ve daha sonra kendisini görmeye gitti. Kendi acısı içindeyken bile Resûlullah’ı sorması, ona duyduğu sevgi ve bağlılığın ne kadar güçlü olduğunu gösteren unutulmaz bir davranış olarak anlatılır.</a:t>
            </a:r>
            <a:endParaRPr sz="1350">
              <a:solidFill>
                <a:srgbClr val="292E30"/>
              </a:solidFill>
              <a:latin typeface="Aptos"/>
              <a:ea typeface="Aptos"/>
              <a:cs typeface="Aptos"/>
              <a:sym typeface="Aptos"/>
            </a:endParaRPr>
          </a:p>
        </p:txBody>
      </p:sp>
      <p:sp>
        <p:nvSpPr>
          <p:cNvPr id="94" name="Google Shape;94;p16"/>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Gerçek dostluk, yalnız kendi sıkıntımı düşünmemektir.</a:t>
            </a:r>
            <a:endParaRPr sz="1500">
              <a:solidFill>
                <a:srgbClr val="143333"/>
              </a:solidFill>
              <a:latin typeface="Aptos"/>
              <a:ea typeface="Aptos"/>
              <a:cs typeface="Aptos"/>
              <a:sym typeface="Aptos"/>
            </a:endParaRPr>
          </a:p>
        </p:txBody>
      </p:sp>
      <p:sp>
        <p:nvSpPr>
          <p:cNvPr id="95" name="Google Shape;95;p16"/>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Bugün bir arkadaşının hâlini gerçekten sor ve cevabını dinle.</a:t>
            </a:r>
            <a:endParaRPr b="1" sz="1200">
              <a:solidFill>
                <a:srgbClr val="FFFFFF"/>
              </a:solidFill>
              <a:latin typeface="Aptos"/>
              <a:ea typeface="Aptos"/>
              <a:cs typeface="Aptos"/>
              <a:sym typeface="Aptos"/>
            </a:endParaRPr>
          </a:p>
        </p:txBody>
      </p:sp>
      <p:sp>
        <p:nvSpPr>
          <p:cNvPr id="96" name="Google Shape;96;p16"/>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Sevgili Peygamberimizin Arkadaşları 1 — Hz. Ebû Bekir</a:t>
            </a:r>
            <a:endParaRPr sz="700">
              <a:solidFill>
                <a:srgbClr val="737373"/>
              </a:solidFill>
              <a:latin typeface="Aptos"/>
              <a:ea typeface="Aptos"/>
              <a:cs typeface="Aptos"/>
              <a:sym typeface="Apto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7"/>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2" name="Google Shape;102;p17"/>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ORTAOKUL • SAHABE</a:t>
            </a:r>
            <a:endParaRPr b="1" sz="900">
              <a:solidFill>
                <a:srgbClr val="146B66"/>
              </a:solidFill>
              <a:latin typeface="Aptos"/>
              <a:ea typeface="Aptos"/>
              <a:cs typeface="Aptos"/>
              <a:sym typeface="Aptos"/>
            </a:endParaRPr>
          </a:p>
        </p:txBody>
      </p:sp>
      <p:sp>
        <p:nvSpPr>
          <p:cNvPr id="103" name="Google Shape;103;p17"/>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04 · Hz. Ömer — Kur’an’ı Duyunca Durup Dinlemek</a:t>
            </a:r>
            <a:endParaRPr b="1" sz="2600">
              <a:solidFill>
                <a:srgbClr val="1F2E33"/>
              </a:solidFill>
              <a:latin typeface="Aptos Display"/>
              <a:ea typeface="Aptos Display"/>
              <a:cs typeface="Aptos Display"/>
              <a:sym typeface="Aptos Display"/>
            </a:endParaRPr>
          </a:p>
        </p:txBody>
      </p:sp>
      <p:sp>
        <p:nvSpPr>
          <p:cNvPr id="104" name="Google Shape;104;p17"/>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105" name="Google Shape;105;p17"/>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Hz. Ömer, henüz Müslüman olmadığı günlerde Resûlullah’a karşı çok sert bir tavır içindeydi. Kız kardeşinin evine geldiğinde içeride Kur’an okunduğunu öğrendi. Evde yaşananların ardından okunan sahifeyi görmek istedi ve Kur’an’dan ayetleri dikkatle okudu. Duyduğu ve okuduğu sözler üzerinde durdu. Bu karşılaşma, onun İslâm’ı bizzat Kur’an’dan dinlediği ve hayatında önemli bir dönüm noktasının başladığı anlardan biri oldu.</a:t>
            </a:r>
            <a:endParaRPr sz="1350">
              <a:solidFill>
                <a:srgbClr val="292E30"/>
              </a:solidFill>
              <a:latin typeface="Aptos"/>
              <a:ea typeface="Aptos"/>
              <a:cs typeface="Aptos"/>
              <a:sym typeface="Aptos"/>
            </a:endParaRPr>
          </a:p>
        </p:txBody>
      </p:sp>
      <p:sp>
        <p:nvSpPr>
          <p:cNvPr id="106" name="Google Shape;106;p17"/>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Çok kızgınken hemen karar vermek yerine durmak ve düşünmek mümkündür.</a:t>
            </a:r>
            <a:endParaRPr sz="1500">
              <a:solidFill>
                <a:srgbClr val="143333"/>
              </a:solidFill>
              <a:latin typeface="Aptos"/>
              <a:ea typeface="Aptos"/>
              <a:cs typeface="Aptos"/>
              <a:sym typeface="Aptos"/>
            </a:endParaRPr>
          </a:p>
        </p:txBody>
      </p:sp>
      <p:sp>
        <p:nvSpPr>
          <p:cNvPr id="107" name="Google Shape;107;p17"/>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Sinirlendiğin ilk anda cevap vermeden önce on saniye bekle.</a:t>
            </a:r>
            <a:endParaRPr b="1" sz="1200">
              <a:solidFill>
                <a:srgbClr val="FFFFFF"/>
              </a:solidFill>
              <a:latin typeface="Aptos"/>
              <a:ea typeface="Aptos"/>
              <a:cs typeface="Aptos"/>
              <a:sym typeface="Aptos"/>
            </a:endParaRPr>
          </a:p>
        </p:txBody>
      </p:sp>
      <p:sp>
        <p:nvSpPr>
          <p:cNvPr id="108" name="Google Shape;108;p17"/>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Sevgili Peygamberimizin Arkadaşları 2 — Hz. Ömer</a:t>
            </a:r>
            <a:endParaRPr sz="700">
              <a:solidFill>
                <a:srgbClr val="737373"/>
              </a:solidFill>
              <a:latin typeface="Aptos"/>
              <a:ea typeface="Aptos"/>
              <a:cs typeface="Aptos"/>
              <a:sym typeface="Apto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8"/>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4" name="Google Shape;114;p18"/>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ORTAOKUL • SAHABE</a:t>
            </a:r>
            <a:endParaRPr b="1" sz="900">
              <a:solidFill>
                <a:srgbClr val="146B66"/>
              </a:solidFill>
              <a:latin typeface="Aptos"/>
              <a:ea typeface="Aptos"/>
              <a:cs typeface="Aptos"/>
              <a:sym typeface="Aptos"/>
            </a:endParaRPr>
          </a:p>
        </p:txBody>
      </p:sp>
      <p:sp>
        <p:nvSpPr>
          <p:cNvPr id="115" name="Google Shape;115;p18"/>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05 · Hz. Ömer — Kız Kardeşinin Evindeki Dönüm Noktası</a:t>
            </a:r>
            <a:endParaRPr b="1" sz="2600">
              <a:solidFill>
                <a:srgbClr val="1F2E33"/>
              </a:solidFill>
              <a:latin typeface="Aptos Display"/>
              <a:ea typeface="Aptos Display"/>
              <a:cs typeface="Aptos Display"/>
              <a:sym typeface="Aptos Display"/>
            </a:endParaRPr>
          </a:p>
        </p:txBody>
      </p:sp>
      <p:sp>
        <p:nvSpPr>
          <p:cNvPr id="116" name="Google Shape;116;p18"/>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117" name="Google Shape;117;p18"/>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Hz. Ömer, kız kardeşinin evinde yaşanan gerginlik sırasında ona sert davrandı ve yüzünde kan gördü. Ardından sakinleşerek evde okunan sahifeyi görmek istedi. Kız kardeşi temizlenmesini söyledikten sonra sahifeyi ona verdi. Hz. Ömer Kur’an’dan ayetleri okudu ve bu sözlerden çok etkilendi. Bu hadise, onun Resûlullah’ın yanına giderek İslâm’ı kabul etmesine uzanan sürecin önemli bir dönüm noktası oldu.</a:t>
            </a:r>
            <a:endParaRPr sz="1350">
              <a:solidFill>
                <a:srgbClr val="292E30"/>
              </a:solidFill>
              <a:latin typeface="Aptos"/>
              <a:ea typeface="Aptos"/>
              <a:cs typeface="Aptos"/>
              <a:sym typeface="Aptos"/>
            </a:endParaRPr>
          </a:p>
        </p:txBody>
      </p:sp>
      <p:sp>
        <p:nvSpPr>
          <p:cNvPr id="118" name="Google Shape;118;p18"/>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Öfkeyle hareket ettiğimde durup sakinleşmek, daha doğru düşünmeme yardım eder.</a:t>
            </a:r>
            <a:endParaRPr sz="1500">
              <a:solidFill>
                <a:srgbClr val="143333"/>
              </a:solidFill>
              <a:latin typeface="Aptos"/>
              <a:ea typeface="Aptos"/>
              <a:cs typeface="Aptos"/>
              <a:sym typeface="Aptos"/>
            </a:endParaRPr>
          </a:p>
        </p:txBody>
      </p:sp>
      <p:sp>
        <p:nvSpPr>
          <p:cNvPr id="119" name="Google Shape;119;p18"/>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Sinirlendiğin bir anda hemen tepki vermek yerine durup sakinleşmeyi dene.</a:t>
            </a:r>
            <a:endParaRPr b="1" sz="1200">
              <a:solidFill>
                <a:srgbClr val="FFFFFF"/>
              </a:solidFill>
              <a:latin typeface="Aptos"/>
              <a:ea typeface="Aptos"/>
              <a:cs typeface="Aptos"/>
              <a:sym typeface="Aptos"/>
            </a:endParaRPr>
          </a:p>
        </p:txBody>
      </p:sp>
      <p:sp>
        <p:nvSpPr>
          <p:cNvPr id="120" name="Google Shape;120;p18"/>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Sevgili Peygamberimizin Arkadaşları 2 — Hz. Ömer</a:t>
            </a:r>
            <a:endParaRPr sz="700">
              <a:solidFill>
                <a:srgbClr val="737373"/>
              </a:solidFill>
              <a:latin typeface="Aptos"/>
              <a:ea typeface="Aptos"/>
              <a:cs typeface="Aptos"/>
              <a:sym typeface="Apto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9"/>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6" name="Google Shape;126;p19"/>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ORTAOKUL • SAHABE</a:t>
            </a:r>
            <a:endParaRPr b="1" sz="900">
              <a:solidFill>
                <a:srgbClr val="146B66"/>
              </a:solidFill>
              <a:latin typeface="Aptos"/>
              <a:ea typeface="Aptos"/>
              <a:cs typeface="Aptos"/>
              <a:sym typeface="Aptos"/>
            </a:endParaRPr>
          </a:p>
        </p:txBody>
      </p:sp>
      <p:sp>
        <p:nvSpPr>
          <p:cNvPr id="127" name="Google Shape;127;p19"/>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06 · Hz. Ömer — Dinlemeden Hüküm Vermemek</a:t>
            </a:r>
            <a:endParaRPr b="1" sz="2600">
              <a:solidFill>
                <a:srgbClr val="1F2E33"/>
              </a:solidFill>
              <a:latin typeface="Aptos Display"/>
              <a:ea typeface="Aptos Display"/>
              <a:cs typeface="Aptos Display"/>
              <a:sym typeface="Aptos Display"/>
            </a:endParaRPr>
          </a:p>
        </p:txBody>
      </p:sp>
      <p:sp>
        <p:nvSpPr>
          <p:cNvPr id="128" name="Google Shape;128;p19"/>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129" name="Google Shape;129;p19"/>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Hz. Ömer, kız kardeşinin evinde Kur’an’dan okunan ayetlerle doğrudan karşılaştı. Sahifeyi eline alıp kendisi okudu ve sözlerin anlamı üzerinde durdu. Ardından Resûlullah’ın bulunduğu yere gitmek istedi. Böylece İslâm hakkında uzaktan duydukları yerine, Kur’an’ı bizzat okuyup Resûlullah’la görüşerek karar verdi. Bu hadise, önemli bir konuda asıl kaynağa ulaşmanın değerini gösteren güçlü bir örnektir.</a:t>
            </a:r>
            <a:endParaRPr sz="1350">
              <a:solidFill>
                <a:srgbClr val="292E30"/>
              </a:solidFill>
              <a:latin typeface="Aptos"/>
              <a:ea typeface="Aptos"/>
              <a:cs typeface="Aptos"/>
              <a:sym typeface="Aptos"/>
            </a:endParaRPr>
          </a:p>
        </p:txBody>
      </p:sp>
      <p:sp>
        <p:nvSpPr>
          <p:cNvPr id="130" name="Google Shape;130;p19"/>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Bir şey hakkında karar vermeden önce onu gerçekten öğrenmeliyim.</a:t>
            </a:r>
            <a:endParaRPr sz="1500">
              <a:solidFill>
                <a:srgbClr val="143333"/>
              </a:solidFill>
              <a:latin typeface="Aptos"/>
              <a:ea typeface="Aptos"/>
              <a:cs typeface="Aptos"/>
              <a:sym typeface="Aptos"/>
            </a:endParaRPr>
          </a:p>
        </p:txBody>
      </p:sp>
      <p:sp>
        <p:nvSpPr>
          <p:cNvPr id="131" name="Google Shape;131;p19"/>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Bugün eleştirdiğin bir konu hakkında önce güvenilir bir kaynaktan bilgi edin.</a:t>
            </a:r>
            <a:endParaRPr b="1" sz="1200">
              <a:solidFill>
                <a:srgbClr val="FFFFFF"/>
              </a:solidFill>
              <a:latin typeface="Aptos"/>
              <a:ea typeface="Aptos"/>
              <a:cs typeface="Aptos"/>
              <a:sym typeface="Aptos"/>
            </a:endParaRPr>
          </a:p>
        </p:txBody>
      </p:sp>
      <p:sp>
        <p:nvSpPr>
          <p:cNvPr id="132" name="Google Shape;132;p19"/>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Sevgili Peygamberimizin Arkadaşları 2 — Hz. Ömer</a:t>
            </a:r>
            <a:endParaRPr sz="700">
              <a:solidFill>
                <a:srgbClr val="737373"/>
              </a:solidFill>
              <a:latin typeface="Aptos"/>
              <a:ea typeface="Aptos"/>
              <a:cs typeface="Aptos"/>
              <a:sym typeface="Apto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0"/>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8" name="Google Shape;138;p20"/>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ORTAOKUL • SAHABE</a:t>
            </a:r>
            <a:endParaRPr b="1" sz="900">
              <a:solidFill>
                <a:srgbClr val="146B66"/>
              </a:solidFill>
              <a:latin typeface="Aptos"/>
              <a:ea typeface="Aptos"/>
              <a:cs typeface="Aptos"/>
              <a:sym typeface="Aptos"/>
            </a:endParaRPr>
          </a:p>
        </p:txBody>
      </p:sp>
      <p:sp>
        <p:nvSpPr>
          <p:cNvPr id="139" name="Google Shape;139;p20"/>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07 · Hz. Ömer — Kur’an’ı Dinleyip İman Etmek</a:t>
            </a:r>
            <a:endParaRPr b="1" sz="2600">
              <a:solidFill>
                <a:srgbClr val="1F2E33"/>
              </a:solidFill>
              <a:latin typeface="Aptos Display"/>
              <a:ea typeface="Aptos Display"/>
              <a:cs typeface="Aptos Display"/>
              <a:sym typeface="Aptos Display"/>
            </a:endParaRPr>
          </a:p>
        </p:txBody>
      </p:sp>
      <p:sp>
        <p:nvSpPr>
          <p:cNvPr id="140" name="Google Shape;140;p20"/>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141" name="Google Shape;141;p20"/>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Hz. Ömer, kız kardeşinin evinde Kur’an ayetlerini okuduktan sonra Resûlullah’ın bulunduğu yere gitti. Orada Peygamberimizle görüştü ve İslâm’ı kabul ederek imanını açıkladı. Onun Müslüman oluşu, Mekke’deki müminler için büyük bir sevinç ve güç kaynağı oldu. Hz. Ömer bundan sonra hayatını İslâm’ın yanında, Resûlullah’ın yakınında ve müminlerin hizmetinde sürdürdü.</a:t>
            </a:r>
            <a:endParaRPr sz="1350">
              <a:solidFill>
                <a:srgbClr val="292E30"/>
              </a:solidFill>
              <a:latin typeface="Aptos"/>
              <a:ea typeface="Aptos"/>
              <a:cs typeface="Aptos"/>
              <a:sym typeface="Aptos"/>
            </a:endParaRPr>
          </a:p>
        </p:txBody>
      </p:sp>
      <p:sp>
        <p:nvSpPr>
          <p:cNvPr id="142" name="Google Shape;142;p20"/>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Hakikati öğrendiğimde onu kabul etmekten çekinmemeliyim.</a:t>
            </a:r>
            <a:endParaRPr sz="1500">
              <a:solidFill>
                <a:srgbClr val="143333"/>
              </a:solidFill>
              <a:latin typeface="Aptos"/>
              <a:ea typeface="Aptos"/>
              <a:cs typeface="Aptos"/>
              <a:sym typeface="Aptos"/>
            </a:endParaRPr>
          </a:p>
        </p:txBody>
      </p:sp>
      <p:sp>
        <p:nvSpPr>
          <p:cNvPr id="143" name="Google Shape;143;p20"/>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Doğru olduğunu öğrendiğin bir güzel davranışı bugün uygulamaya başla.</a:t>
            </a:r>
            <a:endParaRPr b="1" sz="1200">
              <a:solidFill>
                <a:srgbClr val="FFFFFF"/>
              </a:solidFill>
              <a:latin typeface="Aptos"/>
              <a:ea typeface="Aptos"/>
              <a:cs typeface="Aptos"/>
              <a:sym typeface="Aptos"/>
            </a:endParaRPr>
          </a:p>
        </p:txBody>
      </p:sp>
      <p:sp>
        <p:nvSpPr>
          <p:cNvPr id="144" name="Google Shape;144;p20"/>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Sevgili Peygamberimizin Arkadaşları 2 — Hz. Ömer</a:t>
            </a:r>
            <a:endParaRPr sz="700">
              <a:solidFill>
                <a:srgbClr val="737373"/>
              </a:solidFill>
              <a:latin typeface="Aptos"/>
              <a:ea typeface="Aptos"/>
              <a:cs typeface="Aptos"/>
              <a:sym typeface="Apto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1"/>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0" name="Google Shape;150;p21"/>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ORTAOKUL • SAHABE</a:t>
            </a:r>
            <a:endParaRPr b="1" sz="900">
              <a:solidFill>
                <a:srgbClr val="146B66"/>
              </a:solidFill>
              <a:latin typeface="Aptos"/>
              <a:ea typeface="Aptos"/>
              <a:cs typeface="Aptos"/>
              <a:sym typeface="Aptos"/>
            </a:endParaRPr>
          </a:p>
        </p:txBody>
      </p:sp>
      <p:sp>
        <p:nvSpPr>
          <p:cNvPr id="151" name="Google Shape;151;p21"/>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08 · Hz. Ömer — İmanıyla Müslümanlara Güç Olmak</a:t>
            </a:r>
            <a:endParaRPr b="1" sz="2600">
              <a:solidFill>
                <a:srgbClr val="1F2E33"/>
              </a:solidFill>
              <a:latin typeface="Aptos Display"/>
              <a:ea typeface="Aptos Display"/>
              <a:cs typeface="Aptos Display"/>
              <a:sym typeface="Aptos Display"/>
            </a:endParaRPr>
          </a:p>
        </p:txBody>
      </p:sp>
      <p:sp>
        <p:nvSpPr>
          <p:cNvPr id="152" name="Google Shape;152;p21"/>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153" name="Google Shape;153;p21"/>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Hz. Ömer güçlü ve kararlı kişiliğiyle Mekke’de tanınan biriydi. İslâm’ı kabul ettiğinde Müslümanlar büyük sevinç yaşadı. Bundan sonra o, imanını açıkça yaşadı ve müminlerin yanında yer aldı. Onun Müslüman oluşu, baskı altındaki ilk Müslümanlara moral ve güç verdi. Hz. Ömer’in cesareti ve kararlılığı, İslâm toplumunun hizmetinde önemli bir kuvvet hâline geldi.</a:t>
            </a:r>
            <a:endParaRPr sz="1350">
              <a:solidFill>
                <a:srgbClr val="292E30"/>
              </a:solidFill>
              <a:latin typeface="Aptos"/>
              <a:ea typeface="Aptos"/>
              <a:cs typeface="Aptos"/>
              <a:sym typeface="Aptos"/>
            </a:endParaRPr>
          </a:p>
        </p:txBody>
      </p:sp>
      <p:sp>
        <p:nvSpPr>
          <p:cNvPr id="154" name="Google Shape;154;p21"/>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Güç ve cesaret, doğru olanın yanında kullanıldığında değer kazanır.</a:t>
            </a:r>
            <a:endParaRPr sz="1500">
              <a:solidFill>
                <a:srgbClr val="143333"/>
              </a:solidFill>
              <a:latin typeface="Aptos"/>
              <a:ea typeface="Aptos"/>
              <a:cs typeface="Aptos"/>
              <a:sym typeface="Aptos"/>
            </a:endParaRPr>
          </a:p>
        </p:txBody>
      </p:sp>
      <p:sp>
        <p:nvSpPr>
          <p:cNvPr id="155" name="Google Shape;155;p21"/>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Bugün haksızlığa uğrayan bir arkadaşının yanında dur.</a:t>
            </a:r>
            <a:endParaRPr b="1" sz="1200">
              <a:solidFill>
                <a:srgbClr val="FFFFFF"/>
              </a:solidFill>
              <a:latin typeface="Aptos"/>
              <a:ea typeface="Aptos"/>
              <a:cs typeface="Aptos"/>
              <a:sym typeface="Aptos"/>
            </a:endParaRPr>
          </a:p>
        </p:txBody>
      </p:sp>
      <p:sp>
        <p:nvSpPr>
          <p:cNvPr id="156" name="Google Shape;156;p21"/>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Sevgili Peygamberimizin Arkadaşları 2 — Hz. Ömer</a:t>
            </a:r>
            <a:endParaRPr sz="700">
              <a:solidFill>
                <a:srgbClr val="737373"/>
              </a:solidFill>
              <a:latin typeface="Aptos"/>
              <a:ea typeface="Aptos"/>
              <a:cs typeface="Aptos"/>
              <a:sym typeface="Apto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2"/>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2" name="Google Shape;162;p22"/>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ORTAOKUL • SAHABE</a:t>
            </a:r>
            <a:endParaRPr b="1" sz="900">
              <a:solidFill>
                <a:srgbClr val="146B66"/>
              </a:solidFill>
              <a:latin typeface="Aptos"/>
              <a:ea typeface="Aptos"/>
              <a:cs typeface="Aptos"/>
              <a:sym typeface="Aptos"/>
            </a:endParaRPr>
          </a:p>
        </p:txBody>
      </p:sp>
      <p:sp>
        <p:nvSpPr>
          <p:cNvPr id="163" name="Google Shape;163;p22"/>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09 · Hz. Osman — Duyduğu Haberi Araştırmak</a:t>
            </a:r>
            <a:endParaRPr b="1" sz="2600">
              <a:solidFill>
                <a:srgbClr val="1F2E33"/>
              </a:solidFill>
              <a:latin typeface="Aptos Display"/>
              <a:ea typeface="Aptos Display"/>
              <a:cs typeface="Aptos Display"/>
              <a:sym typeface="Aptos Display"/>
            </a:endParaRPr>
          </a:p>
        </p:txBody>
      </p:sp>
      <p:sp>
        <p:nvSpPr>
          <p:cNvPr id="164" name="Google Shape;164;p22"/>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165" name="Google Shape;165;p22"/>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Hz. Osman, Resûlullah’ın peygamberliğini ilân ettiği haberini duyduğunda bu konu üzerinde düşündü. Resûlullah’ı uzun zamandır tanıyor ve onun doğruluğunu biliyordu. Haberi daha iyi öğrenmek için Resûlullah’ın en yakın dostlarından Hz. Ebû Bekir’le konuşmaya karar verdi. Ertesi gün onun yanına giderek İslâm hakkında merak ettiği konuları sordu. Böylece duyduğu önemli bir haberi araştırarak doğrudan bilgi edinmeye yöneldi.</a:t>
            </a:r>
            <a:endParaRPr sz="1350">
              <a:solidFill>
                <a:srgbClr val="292E30"/>
              </a:solidFill>
              <a:latin typeface="Aptos"/>
              <a:ea typeface="Aptos"/>
              <a:cs typeface="Aptos"/>
              <a:sym typeface="Aptos"/>
            </a:endParaRPr>
          </a:p>
        </p:txBody>
      </p:sp>
      <p:sp>
        <p:nvSpPr>
          <p:cNvPr id="166" name="Google Shape;166;p22"/>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Her duyduğuma hemen inanmak yerine araştırmalıyım.</a:t>
            </a:r>
            <a:endParaRPr sz="1500">
              <a:solidFill>
                <a:srgbClr val="143333"/>
              </a:solidFill>
              <a:latin typeface="Aptos"/>
              <a:ea typeface="Aptos"/>
              <a:cs typeface="Aptos"/>
              <a:sym typeface="Aptos"/>
            </a:endParaRPr>
          </a:p>
        </p:txBody>
      </p:sp>
      <p:sp>
        <p:nvSpPr>
          <p:cNvPr id="167" name="Google Shape;167;p22"/>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Bugün sosyal medyada gördüğün bir bilgiyi paylaşmadan önce doğrula.</a:t>
            </a:r>
            <a:endParaRPr b="1" sz="1200">
              <a:solidFill>
                <a:srgbClr val="FFFFFF"/>
              </a:solidFill>
              <a:latin typeface="Aptos"/>
              <a:ea typeface="Aptos"/>
              <a:cs typeface="Aptos"/>
              <a:sym typeface="Aptos"/>
            </a:endParaRPr>
          </a:p>
        </p:txBody>
      </p:sp>
      <p:sp>
        <p:nvSpPr>
          <p:cNvPr id="168" name="Google Shape;168;p22"/>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Sevgili Peygamberimizin Arkadaşları 3 — Hz. Osman</a:t>
            </a:r>
            <a:endParaRPr sz="700">
              <a:solidFill>
                <a:srgbClr val="737373"/>
              </a:solidFill>
              <a:latin typeface="Aptos"/>
              <a:ea typeface="Aptos"/>
              <a:cs typeface="Aptos"/>
              <a:sym typeface="Apto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3"/>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4" name="Google Shape;174;p23"/>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ORTAOKUL • SAHABE</a:t>
            </a:r>
            <a:endParaRPr b="1" sz="900">
              <a:solidFill>
                <a:srgbClr val="146B66"/>
              </a:solidFill>
              <a:latin typeface="Aptos"/>
              <a:ea typeface="Aptos"/>
              <a:cs typeface="Aptos"/>
              <a:sym typeface="Aptos"/>
            </a:endParaRPr>
          </a:p>
        </p:txBody>
      </p:sp>
      <p:sp>
        <p:nvSpPr>
          <p:cNvPr id="175" name="Google Shape;175;p23"/>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10 · Hz. Osman — Soru Sormaktan Çekinmemek</a:t>
            </a:r>
            <a:endParaRPr b="1" sz="2600">
              <a:solidFill>
                <a:srgbClr val="1F2E33"/>
              </a:solidFill>
              <a:latin typeface="Aptos Display"/>
              <a:ea typeface="Aptos Display"/>
              <a:cs typeface="Aptos Display"/>
              <a:sym typeface="Aptos Display"/>
            </a:endParaRPr>
          </a:p>
        </p:txBody>
      </p:sp>
      <p:sp>
        <p:nvSpPr>
          <p:cNvPr id="176" name="Google Shape;176;p23"/>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177" name="Google Shape;177;p23"/>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Hz. Osman, Hz. Ebû Bekir’in yanına giderek Resûlullah’ın insanları davet ettiği din hakkında konuşmak istediğini söyledi. Aklına takılan soruları tek tek sordu; Hz. Ebû Bekir de bildiklerini anlattı. Konuşmaları devam ederken Resûlullah da yanlarına geldi. Hz. Osman’ın bu görüşmesi, önemli bir konuda bilen birine soru sorarak bilgi edinmenin güzel bir örneğidir.</a:t>
            </a:r>
            <a:endParaRPr sz="1350">
              <a:solidFill>
                <a:srgbClr val="292E30"/>
              </a:solidFill>
              <a:latin typeface="Aptos"/>
              <a:ea typeface="Aptos"/>
              <a:cs typeface="Aptos"/>
              <a:sym typeface="Aptos"/>
            </a:endParaRPr>
          </a:p>
        </p:txBody>
      </p:sp>
      <p:sp>
        <p:nvSpPr>
          <p:cNvPr id="178" name="Google Shape;178;p23"/>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Anlamadığım şeyi sormak ayıp değildir; öğrenmenin yoludur.</a:t>
            </a:r>
            <a:endParaRPr sz="1500">
              <a:solidFill>
                <a:srgbClr val="143333"/>
              </a:solidFill>
              <a:latin typeface="Aptos"/>
              <a:ea typeface="Aptos"/>
              <a:cs typeface="Aptos"/>
              <a:sym typeface="Aptos"/>
            </a:endParaRPr>
          </a:p>
        </p:txBody>
      </p:sp>
      <p:sp>
        <p:nvSpPr>
          <p:cNvPr id="179" name="Google Shape;179;p23"/>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Bugün derste anlamadığın bir noktayı mutlaka sor.</a:t>
            </a:r>
            <a:endParaRPr b="1" sz="1200">
              <a:solidFill>
                <a:srgbClr val="FFFFFF"/>
              </a:solidFill>
              <a:latin typeface="Aptos"/>
              <a:ea typeface="Aptos"/>
              <a:cs typeface="Aptos"/>
              <a:sym typeface="Aptos"/>
            </a:endParaRPr>
          </a:p>
        </p:txBody>
      </p:sp>
      <p:sp>
        <p:nvSpPr>
          <p:cNvPr id="180" name="Google Shape;180;p23"/>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Sevgili Peygamberimizin Arkadaşları 3 — Hz. Osman</a:t>
            </a:r>
            <a:endParaRPr sz="700">
              <a:solidFill>
                <a:srgbClr val="737373"/>
              </a:solidFill>
              <a:latin typeface="Aptos"/>
              <a:ea typeface="Aptos"/>
              <a:cs typeface="Aptos"/>
              <a:sym typeface="Apto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4"/>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6" name="Google Shape;186;p24"/>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ORTAOKUL • SAHABE</a:t>
            </a:r>
            <a:endParaRPr b="1" sz="900">
              <a:solidFill>
                <a:srgbClr val="146B66"/>
              </a:solidFill>
              <a:latin typeface="Aptos"/>
              <a:ea typeface="Aptos"/>
              <a:cs typeface="Aptos"/>
              <a:sym typeface="Aptos"/>
            </a:endParaRPr>
          </a:p>
        </p:txBody>
      </p:sp>
      <p:sp>
        <p:nvSpPr>
          <p:cNvPr id="187" name="Google Shape;187;p24"/>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11 · Hz. Osman — Doğruyu Doğrudan Dinlemek</a:t>
            </a:r>
            <a:endParaRPr b="1" sz="2600">
              <a:solidFill>
                <a:srgbClr val="1F2E33"/>
              </a:solidFill>
              <a:latin typeface="Aptos Display"/>
              <a:ea typeface="Aptos Display"/>
              <a:cs typeface="Aptos Display"/>
              <a:sym typeface="Aptos Display"/>
            </a:endParaRPr>
          </a:p>
        </p:txBody>
      </p:sp>
      <p:sp>
        <p:nvSpPr>
          <p:cNvPr id="188" name="Google Shape;188;p24"/>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189" name="Google Shape;189;p24"/>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Hz. Osman, Hz. Ebû Bekir’le konuşurken Resûlullah yanlarına geldi. Peygamberimiz onu Allah’tan başka ilâh olmadığına iman etmeye ve kendisinin Allah’ın Resûlü olduğunu kabul etmeye davet etti; ardından kelime-i şehadeti öğretti. Hz. Osman bu daveti kabul ederek Müslüman oldu. Böylece İslâm’ın ilk yıllarında iman eden öncü sahabiler arasında yer aldı.</a:t>
            </a:r>
            <a:endParaRPr sz="1350">
              <a:solidFill>
                <a:srgbClr val="292E30"/>
              </a:solidFill>
              <a:latin typeface="Aptos"/>
              <a:ea typeface="Aptos"/>
              <a:cs typeface="Aptos"/>
              <a:sym typeface="Aptos"/>
            </a:endParaRPr>
          </a:p>
        </p:txBody>
      </p:sp>
      <p:sp>
        <p:nvSpPr>
          <p:cNvPr id="190" name="Google Shape;190;p24"/>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Bir insan hakkında başkalarının sözü kadar, onu doğrudan dinlemek de önemlidir.</a:t>
            </a:r>
            <a:endParaRPr sz="1500">
              <a:solidFill>
                <a:srgbClr val="143333"/>
              </a:solidFill>
              <a:latin typeface="Aptos"/>
              <a:ea typeface="Aptos"/>
              <a:cs typeface="Aptos"/>
              <a:sym typeface="Aptos"/>
            </a:endParaRPr>
          </a:p>
        </p:txBody>
      </p:sp>
      <p:sp>
        <p:nvSpPr>
          <p:cNvPr id="191" name="Google Shape;191;p24"/>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Bir arkadaşın hakkında duyduğun sözü ona sormadan doğru kabul etme.</a:t>
            </a:r>
            <a:endParaRPr b="1" sz="1200">
              <a:solidFill>
                <a:srgbClr val="FFFFFF"/>
              </a:solidFill>
              <a:latin typeface="Aptos"/>
              <a:ea typeface="Aptos"/>
              <a:cs typeface="Aptos"/>
              <a:sym typeface="Aptos"/>
            </a:endParaRPr>
          </a:p>
        </p:txBody>
      </p:sp>
      <p:sp>
        <p:nvSpPr>
          <p:cNvPr id="192" name="Google Shape;192;p24"/>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Sevgili Peygamberimizin Arkadaşları 3 — Hz. Osman</a:t>
            </a:r>
            <a:endParaRPr sz="700">
              <a:solidFill>
                <a:srgbClr val="737373"/>
              </a:solidFill>
              <a:latin typeface="Aptos"/>
              <a:ea typeface="Aptos"/>
              <a:cs typeface="Aptos"/>
              <a:sym typeface="Apto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5"/>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8" name="Google Shape;198;p25"/>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ORTAOKUL • SAHABE</a:t>
            </a:r>
            <a:endParaRPr b="1" sz="900">
              <a:solidFill>
                <a:srgbClr val="146B66"/>
              </a:solidFill>
              <a:latin typeface="Aptos"/>
              <a:ea typeface="Aptos"/>
              <a:cs typeface="Aptos"/>
              <a:sym typeface="Aptos"/>
            </a:endParaRPr>
          </a:p>
        </p:txBody>
      </p:sp>
      <p:sp>
        <p:nvSpPr>
          <p:cNvPr id="199" name="Google Shape;199;p25"/>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12 · Hz. Osman — Suyunu Paylaşmak</a:t>
            </a:r>
            <a:endParaRPr b="1" sz="2600">
              <a:solidFill>
                <a:srgbClr val="1F2E33"/>
              </a:solidFill>
              <a:latin typeface="Aptos Display"/>
              <a:ea typeface="Aptos Display"/>
              <a:cs typeface="Aptos Display"/>
              <a:sym typeface="Aptos Display"/>
            </a:endParaRPr>
          </a:p>
        </p:txBody>
      </p:sp>
      <p:sp>
        <p:nvSpPr>
          <p:cNvPr id="200" name="Google Shape;200;p25"/>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201" name="Google Shape;201;p25"/>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Medine’de temiz su kaynakları sınırlıydı ve Rûme Kuyusu önemli su kaynaklarından biriydi. Resûlullah, bu kuyuyu satın alıp Müslümanların faydalanmasına açacak kişiye büyük mükâfat bulunduğunu bildirdi. Hz. Osman kuyuyu satın alarak insanların ücretsiz şekilde yararlanmasına imkân sağladı. Bu hizmet, onun servetini toplumun temel bir ihtiyacını karşılamak için kullandığı en tanınmış cömertlik örneklerinden biri oldu.</a:t>
            </a:r>
            <a:endParaRPr sz="1350">
              <a:solidFill>
                <a:srgbClr val="292E30"/>
              </a:solidFill>
              <a:latin typeface="Aptos"/>
              <a:ea typeface="Aptos"/>
              <a:cs typeface="Aptos"/>
              <a:sym typeface="Aptos"/>
            </a:endParaRPr>
          </a:p>
        </p:txBody>
      </p:sp>
      <p:sp>
        <p:nvSpPr>
          <p:cNvPr id="202" name="Google Shape;202;p25"/>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Sahip olduğum bir imkân, başkasının önemli bir ihtiyacını çözebilir.</a:t>
            </a:r>
            <a:endParaRPr sz="1500">
              <a:solidFill>
                <a:srgbClr val="143333"/>
              </a:solidFill>
              <a:latin typeface="Aptos"/>
              <a:ea typeface="Aptos"/>
              <a:cs typeface="Aptos"/>
              <a:sym typeface="Aptos"/>
            </a:endParaRPr>
          </a:p>
        </p:txBody>
      </p:sp>
      <p:sp>
        <p:nvSpPr>
          <p:cNvPr id="203" name="Google Shape;203;p25"/>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Bugün sahip olduğun bir şeyi birinin işini kolaylaştırmak için paylaş.</a:t>
            </a:r>
            <a:endParaRPr b="1" sz="1200">
              <a:solidFill>
                <a:srgbClr val="FFFFFF"/>
              </a:solidFill>
              <a:latin typeface="Aptos"/>
              <a:ea typeface="Aptos"/>
              <a:cs typeface="Aptos"/>
              <a:sym typeface="Aptos"/>
            </a:endParaRPr>
          </a:p>
        </p:txBody>
      </p:sp>
      <p:sp>
        <p:nvSpPr>
          <p:cNvPr id="204" name="Google Shape;204;p25"/>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Sevgili Peygamberimizin Arkadaşları 3 — Hz. Osman</a:t>
            </a:r>
            <a:endParaRPr sz="700">
              <a:solidFill>
                <a:srgbClr val="737373"/>
              </a:solidFill>
              <a:latin typeface="Aptos"/>
              <a:ea typeface="Aptos"/>
              <a:cs typeface="Aptos"/>
              <a:sym typeface="Apto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6"/>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0" name="Google Shape;210;p26"/>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ORTAOKUL • SAHABE</a:t>
            </a:r>
            <a:endParaRPr b="1" sz="900">
              <a:solidFill>
                <a:srgbClr val="146B66"/>
              </a:solidFill>
              <a:latin typeface="Aptos"/>
              <a:ea typeface="Aptos"/>
              <a:cs typeface="Aptos"/>
              <a:sym typeface="Aptos"/>
            </a:endParaRPr>
          </a:p>
        </p:txBody>
      </p:sp>
      <p:sp>
        <p:nvSpPr>
          <p:cNvPr id="211" name="Google Shape;211;p26"/>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13 · Hz. Osman — Zor Zamanda Vermek</a:t>
            </a:r>
            <a:endParaRPr b="1" sz="2600">
              <a:solidFill>
                <a:srgbClr val="1F2E33"/>
              </a:solidFill>
              <a:latin typeface="Aptos Display"/>
              <a:ea typeface="Aptos Display"/>
              <a:cs typeface="Aptos Display"/>
              <a:sym typeface="Aptos Display"/>
            </a:endParaRPr>
          </a:p>
        </p:txBody>
      </p:sp>
      <p:sp>
        <p:nvSpPr>
          <p:cNvPr id="212" name="Google Shape;212;p26"/>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213" name="Google Shape;213;p26"/>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Tebük Seferi hazırlıkları sırasında Müslümanların bineğe, yiyeceğe ve maddî desteğe büyük ihtiyacı vardı. Hz. Osman bu hazırlıklara çok geniş bir yardımda bulundu; binek hayvanları ve malıyla ordunun donatılmasına katkı sağladı. Resûlullah onun bu fedakârlığından memnuniyetini ifade etti. Hz. Osman’ın bu yardımı, ihtiyaç zamanında cömertliğin en tanınmış örneklerinden biri oldu.</a:t>
            </a:r>
            <a:endParaRPr sz="1350">
              <a:solidFill>
                <a:srgbClr val="292E30"/>
              </a:solidFill>
              <a:latin typeface="Aptos"/>
              <a:ea typeface="Aptos"/>
              <a:cs typeface="Aptos"/>
              <a:sym typeface="Aptos"/>
            </a:endParaRPr>
          </a:p>
        </p:txBody>
      </p:sp>
      <p:sp>
        <p:nvSpPr>
          <p:cNvPr id="214" name="Google Shape;214;p26"/>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Paylaşmanın değeri, ihtiyaç zamanında daha çok ortaya çıkar.</a:t>
            </a:r>
            <a:endParaRPr sz="1500">
              <a:solidFill>
                <a:srgbClr val="143333"/>
              </a:solidFill>
              <a:latin typeface="Aptos"/>
              <a:ea typeface="Aptos"/>
              <a:cs typeface="Aptos"/>
              <a:sym typeface="Aptos"/>
            </a:endParaRPr>
          </a:p>
        </p:txBody>
      </p:sp>
      <p:sp>
        <p:nvSpPr>
          <p:cNvPr id="215" name="Google Shape;215;p26"/>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Harçlığından küçük de olsa bilinçli bir yardım payı ayır.</a:t>
            </a:r>
            <a:endParaRPr b="1" sz="1200">
              <a:solidFill>
                <a:srgbClr val="FFFFFF"/>
              </a:solidFill>
              <a:latin typeface="Aptos"/>
              <a:ea typeface="Aptos"/>
              <a:cs typeface="Aptos"/>
              <a:sym typeface="Aptos"/>
            </a:endParaRPr>
          </a:p>
        </p:txBody>
      </p:sp>
      <p:sp>
        <p:nvSpPr>
          <p:cNvPr id="216" name="Google Shape;216;p26"/>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Sevgili Peygamberimizin Arkadaşları 3 — Hz. Osman</a:t>
            </a:r>
            <a:endParaRPr sz="700">
              <a:solidFill>
                <a:srgbClr val="737373"/>
              </a:solidFill>
              <a:latin typeface="Aptos"/>
              <a:ea typeface="Aptos"/>
              <a:cs typeface="Aptos"/>
              <a:sym typeface="Apto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27"/>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2" name="Google Shape;222;p27"/>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ORTAOKUL • SAHABE</a:t>
            </a:r>
            <a:endParaRPr b="1" sz="900">
              <a:solidFill>
                <a:srgbClr val="146B66"/>
              </a:solidFill>
              <a:latin typeface="Aptos"/>
              <a:ea typeface="Aptos"/>
              <a:cs typeface="Aptos"/>
              <a:sym typeface="Aptos"/>
            </a:endParaRPr>
          </a:p>
        </p:txBody>
      </p:sp>
      <p:sp>
        <p:nvSpPr>
          <p:cNvPr id="223" name="Google Shape;223;p27"/>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14 · Hz. Osman — Kur’an İçin Emek Vermek</a:t>
            </a:r>
            <a:endParaRPr b="1" sz="2600">
              <a:solidFill>
                <a:srgbClr val="1F2E33"/>
              </a:solidFill>
              <a:latin typeface="Aptos Display"/>
              <a:ea typeface="Aptos Display"/>
              <a:cs typeface="Aptos Display"/>
              <a:sym typeface="Aptos Display"/>
            </a:endParaRPr>
          </a:p>
        </p:txBody>
      </p:sp>
      <p:sp>
        <p:nvSpPr>
          <p:cNvPr id="224" name="Google Shape;224;p27"/>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225" name="Google Shape;225;p27"/>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İslâm coğrafyası genişledikçe farklı bölgelerden Müslümanların kıraat farklılıkları üzerinde tartıştıkları görüldü. Huzeyfe b. Yemân durumu Hz. Osman’a bildirdi. Hz. Osman, Hz. Hafsa’nın yanında bulunan sahifeleri esas alarak Zeyd b. Sâbit’in de içinde bulunduğu bir heyete mushaf nüshaları hazırlattı. Hazırlanan nüshaları önemli İslâm merkezlerine gönderdi. Bu çalışma, Kur’an metninin ümmet içinde ortak ve güvenilir biçimde okunmasına hizmet etti.</a:t>
            </a:r>
            <a:endParaRPr sz="1350">
              <a:solidFill>
                <a:srgbClr val="292E30"/>
              </a:solidFill>
              <a:latin typeface="Aptos"/>
              <a:ea typeface="Aptos"/>
              <a:cs typeface="Aptos"/>
              <a:sym typeface="Aptos"/>
            </a:endParaRPr>
          </a:p>
        </p:txBody>
      </p:sp>
      <p:sp>
        <p:nvSpPr>
          <p:cNvPr id="226" name="Google Shape;226;p27"/>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Değerli bir bilgiyi korumak ve doğru aktarmak da hizmettir.</a:t>
            </a:r>
            <a:endParaRPr sz="1500">
              <a:solidFill>
                <a:srgbClr val="143333"/>
              </a:solidFill>
              <a:latin typeface="Aptos"/>
              <a:ea typeface="Aptos"/>
              <a:cs typeface="Aptos"/>
              <a:sym typeface="Aptos"/>
            </a:endParaRPr>
          </a:p>
        </p:txBody>
      </p:sp>
      <p:sp>
        <p:nvSpPr>
          <p:cNvPr id="227" name="Google Shape;227;p27"/>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Bugün öğrendiğin yararlı bir bilgiyi doğru biçimde not al ve sakla.</a:t>
            </a:r>
            <a:endParaRPr b="1" sz="1200">
              <a:solidFill>
                <a:srgbClr val="FFFFFF"/>
              </a:solidFill>
              <a:latin typeface="Aptos"/>
              <a:ea typeface="Aptos"/>
              <a:cs typeface="Aptos"/>
              <a:sym typeface="Aptos"/>
            </a:endParaRPr>
          </a:p>
        </p:txBody>
      </p:sp>
      <p:sp>
        <p:nvSpPr>
          <p:cNvPr id="228" name="Google Shape;228;p27"/>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Buhârî 4987 — Hz. Osman döneminde mushafların çoğaltılması</a:t>
            </a:r>
            <a:endParaRPr sz="700">
              <a:solidFill>
                <a:srgbClr val="737373"/>
              </a:solidFill>
              <a:latin typeface="Aptos"/>
              <a:ea typeface="Aptos"/>
              <a:cs typeface="Aptos"/>
              <a:sym typeface="Apto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28"/>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4" name="Google Shape;234;p28"/>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ORTAOKUL • SAHABE</a:t>
            </a:r>
            <a:endParaRPr b="1" sz="900">
              <a:solidFill>
                <a:srgbClr val="146B66"/>
              </a:solidFill>
              <a:latin typeface="Aptos"/>
              <a:ea typeface="Aptos"/>
              <a:cs typeface="Aptos"/>
              <a:sym typeface="Aptos"/>
            </a:endParaRPr>
          </a:p>
        </p:txBody>
      </p:sp>
      <p:sp>
        <p:nvSpPr>
          <p:cNvPr id="235" name="Google Shape;235;p28"/>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15 · Hz. Ali — Gençken Sorumluluk Almak</a:t>
            </a:r>
            <a:endParaRPr b="1" sz="2600">
              <a:solidFill>
                <a:srgbClr val="1F2E33"/>
              </a:solidFill>
              <a:latin typeface="Aptos Display"/>
              <a:ea typeface="Aptos Display"/>
              <a:cs typeface="Aptos Display"/>
              <a:sym typeface="Aptos Display"/>
            </a:endParaRPr>
          </a:p>
        </p:txBody>
      </p:sp>
      <p:sp>
        <p:nvSpPr>
          <p:cNvPr id="236" name="Google Shape;236;p28"/>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237" name="Google Shape;237;p28"/>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Hz. Ali çok genç yaşta Resûlullah’ın yakınında yetişti ve önemli sorumluluklar üstlendi. İslâm’ın ilk yıllarından itibaren Peygamberimizin yanında bulundu, verilen görevleri yerine getirdi ve birçok önemli hadisede ona destek oldu. Gençliği, Resûlullah’ın kendisine güvenmesine engel olmadı. Hz. Ali’nin hayatı, genç yaşta da güvenilir, sorumlu ve faydalı olunabileceğini gösteren güçlü örneklerle doludur.</a:t>
            </a:r>
            <a:endParaRPr sz="1350">
              <a:solidFill>
                <a:srgbClr val="292E30"/>
              </a:solidFill>
              <a:latin typeface="Aptos"/>
              <a:ea typeface="Aptos"/>
              <a:cs typeface="Aptos"/>
              <a:sym typeface="Aptos"/>
            </a:endParaRPr>
          </a:p>
        </p:txBody>
      </p:sp>
      <p:sp>
        <p:nvSpPr>
          <p:cNvPr id="238" name="Google Shape;238;p28"/>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Yaşım küçük diye faydalı bir görevden kaçmamalıyım.</a:t>
            </a:r>
            <a:endParaRPr sz="1500">
              <a:solidFill>
                <a:srgbClr val="143333"/>
              </a:solidFill>
              <a:latin typeface="Aptos"/>
              <a:ea typeface="Aptos"/>
              <a:cs typeface="Aptos"/>
              <a:sym typeface="Aptos"/>
            </a:endParaRPr>
          </a:p>
        </p:txBody>
      </p:sp>
      <p:sp>
        <p:nvSpPr>
          <p:cNvPr id="239" name="Google Shape;239;p28"/>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Evde ya da okulda sana ait olmayan küçük bir sorumluluğu gönüllü üstlen.</a:t>
            </a:r>
            <a:endParaRPr b="1" sz="1200">
              <a:solidFill>
                <a:srgbClr val="FFFFFF"/>
              </a:solidFill>
              <a:latin typeface="Aptos"/>
              <a:ea typeface="Aptos"/>
              <a:cs typeface="Aptos"/>
              <a:sym typeface="Aptos"/>
            </a:endParaRPr>
          </a:p>
        </p:txBody>
      </p:sp>
      <p:sp>
        <p:nvSpPr>
          <p:cNvPr id="240" name="Google Shape;240;p28"/>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Sevgili Peygamberimizin Arkadaşları 4 — Hz. Ali</a:t>
            </a:r>
            <a:endParaRPr sz="700">
              <a:solidFill>
                <a:srgbClr val="737373"/>
              </a:solidFill>
              <a:latin typeface="Aptos"/>
              <a:ea typeface="Aptos"/>
              <a:cs typeface="Aptos"/>
              <a:sym typeface="Apto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9"/>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6" name="Google Shape;246;p29"/>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ORTAOKUL • SAHABE</a:t>
            </a:r>
            <a:endParaRPr b="1" sz="900">
              <a:solidFill>
                <a:srgbClr val="146B66"/>
              </a:solidFill>
              <a:latin typeface="Aptos"/>
              <a:ea typeface="Aptos"/>
              <a:cs typeface="Aptos"/>
              <a:sym typeface="Aptos"/>
            </a:endParaRPr>
          </a:p>
        </p:txBody>
      </p:sp>
      <p:sp>
        <p:nvSpPr>
          <p:cNvPr id="247" name="Google Shape;247;p29"/>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16 · Hz. Ali — Hicret Gecesi Cesaret</a:t>
            </a:r>
            <a:endParaRPr b="1" sz="2600">
              <a:solidFill>
                <a:srgbClr val="1F2E33"/>
              </a:solidFill>
              <a:latin typeface="Aptos Display"/>
              <a:ea typeface="Aptos Display"/>
              <a:cs typeface="Aptos Display"/>
              <a:sym typeface="Aptos Display"/>
            </a:endParaRPr>
          </a:p>
        </p:txBody>
      </p:sp>
      <p:sp>
        <p:nvSpPr>
          <p:cNvPr id="248" name="Google Shape;248;p29"/>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249" name="Google Shape;249;p29"/>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Hicret gecesi Mekke müşrikleri Peygamberimizin evini kuşatmıştı. Resûlullah Medine’ye doğru yola çıkarken Hz. Ali’ye kendi yatağında kalmasını ve Mekkelilerin bıraktığı emanetleri sahiplerine teslim etmesini söyledi. Hz. Ali bu görevi kabul etti ve geceyi o evde geçirdi. Ardından kendisine bırakılan emanetleri sahiplerine ulaştırdı. Tehlikeli bir gecede verilen vazifeyi yerine getirmesi, onun cesaret ve güvenilirliğinin önemli örneklerinden biri oldu.</a:t>
            </a:r>
            <a:endParaRPr sz="1350">
              <a:solidFill>
                <a:srgbClr val="292E30"/>
              </a:solidFill>
              <a:latin typeface="Aptos"/>
              <a:ea typeface="Aptos"/>
              <a:cs typeface="Aptos"/>
              <a:sym typeface="Aptos"/>
            </a:endParaRPr>
          </a:p>
        </p:txBody>
      </p:sp>
      <p:sp>
        <p:nvSpPr>
          <p:cNvPr id="250" name="Google Shape;250;p29"/>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Cesaret, tehlikeli bir durumda da doğru ve güvenilir davranabilmektir.</a:t>
            </a:r>
            <a:endParaRPr sz="1500">
              <a:solidFill>
                <a:srgbClr val="143333"/>
              </a:solidFill>
              <a:latin typeface="Aptos"/>
              <a:ea typeface="Aptos"/>
              <a:cs typeface="Aptos"/>
              <a:sym typeface="Aptos"/>
            </a:endParaRPr>
          </a:p>
        </p:txBody>
      </p:sp>
      <p:sp>
        <p:nvSpPr>
          <p:cNvPr id="251" name="Google Shape;251;p29"/>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Çekindiğin ama doğru olduğunu bildiğin küçük bir işi bugün yap.</a:t>
            </a:r>
            <a:endParaRPr b="1" sz="1200">
              <a:solidFill>
                <a:srgbClr val="FFFFFF"/>
              </a:solidFill>
              <a:latin typeface="Aptos"/>
              <a:ea typeface="Aptos"/>
              <a:cs typeface="Aptos"/>
              <a:sym typeface="Aptos"/>
            </a:endParaRPr>
          </a:p>
        </p:txBody>
      </p:sp>
      <p:sp>
        <p:nvSpPr>
          <p:cNvPr id="252" name="Google Shape;252;p29"/>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Sevgili Peygamberimizin Arkadaşları 4 — Hz. Ali</a:t>
            </a:r>
            <a:endParaRPr sz="700">
              <a:solidFill>
                <a:srgbClr val="737373"/>
              </a:solidFill>
              <a:latin typeface="Aptos"/>
              <a:ea typeface="Aptos"/>
              <a:cs typeface="Aptos"/>
              <a:sym typeface="Apto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0"/>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8" name="Google Shape;258;p30"/>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ORTAOKUL • SAHABE</a:t>
            </a:r>
            <a:endParaRPr b="1" sz="900">
              <a:solidFill>
                <a:srgbClr val="146B66"/>
              </a:solidFill>
              <a:latin typeface="Aptos"/>
              <a:ea typeface="Aptos"/>
              <a:cs typeface="Aptos"/>
              <a:sym typeface="Aptos"/>
            </a:endParaRPr>
          </a:p>
        </p:txBody>
      </p:sp>
      <p:sp>
        <p:nvSpPr>
          <p:cNvPr id="259" name="Google Shape;259;p30"/>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17 · Hz. Ali — Düşmanının Emanetini Bile Korumak</a:t>
            </a:r>
            <a:endParaRPr b="1" sz="2600">
              <a:solidFill>
                <a:srgbClr val="1F2E33"/>
              </a:solidFill>
              <a:latin typeface="Aptos Display"/>
              <a:ea typeface="Aptos Display"/>
              <a:cs typeface="Aptos Display"/>
              <a:sym typeface="Aptos Display"/>
            </a:endParaRPr>
          </a:p>
        </p:txBody>
      </p:sp>
      <p:sp>
        <p:nvSpPr>
          <p:cNvPr id="260" name="Google Shape;260;p30"/>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261" name="Google Shape;261;p30"/>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Peygamberimize karşı çıkan bazı Mekkeliler bile eşyalarını güvenilir olduğu için ona emanet ediyordu. Hicret zamanı geldiğinde Resûlullah, bu emanetlerin sahiplerine verilmesi görevini Hz. Ali’ye bıraktı. Hz. Ali Mekke’de kalarak eşyaları sahiplerine teslim etti. İnsanların Peygamberimize karşı tutumları ne olursa olsun emanetler eksiksiz biçimde geri verildi. Bu hadise, Hz. Ali’nin emanet görevini nasıl titizlikle yerine getirdiğini gösterir.</a:t>
            </a:r>
            <a:endParaRPr sz="1350">
              <a:solidFill>
                <a:srgbClr val="292E30"/>
              </a:solidFill>
              <a:latin typeface="Aptos"/>
              <a:ea typeface="Aptos"/>
              <a:cs typeface="Aptos"/>
              <a:sym typeface="Aptos"/>
            </a:endParaRPr>
          </a:p>
        </p:txBody>
      </p:sp>
      <p:sp>
        <p:nvSpPr>
          <p:cNvPr id="262" name="Google Shape;262;p30"/>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Biri bana kötü davransa bile onun hakkını yiyemem.</a:t>
            </a:r>
            <a:endParaRPr sz="1500">
              <a:solidFill>
                <a:srgbClr val="143333"/>
              </a:solidFill>
              <a:latin typeface="Aptos"/>
              <a:ea typeface="Aptos"/>
              <a:cs typeface="Aptos"/>
              <a:sym typeface="Aptos"/>
            </a:endParaRPr>
          </a:p>
        </p:txBody>
      </p:sp>
      <p:sp>
        <p:nvSpPr>
          <p:cNvPr id="263" name="Google Shape;263;p30"/>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Sana ait olmayan bir eşyayı bugün sahibine eksiksiz teslim et.</a:t>
            </a:r>
            <a:endParaRPr b="1" sz="1200">
              <a:solidFill>
                <a:srgbClr val="FFFFFF"/>
              </a:solidFill>
              <a:latin typeface="Aptos"/>
              <a:ea typeface="Aptos"/>
              <a:cs typeface="Aptos"/>
              <a:sym typeface="Aptos"/>
            </a:endParaRPr>
          </a:p>
        </p:txBody>
      </p:sp>
      <p:sp>
        <p:nvSpPr>
          <p:cNvPr id="264" name="Google Shape;264;p30"/>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Sevgili Peygamberimizin Arkadaşları 4 — Hz. Ali</a:t>
            </a:r>
            <a:endParaRPr sz="700">
              <a:solidFill>
                <a:srgbClr val="737373"/>
              </a:solidFill>
              <a:latin typeface="Aptos"/>
              <a:ea typeface="Aptos"/>
              <a:cs typeface="Aptos"/>
              <a:sym typeface="Apto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1"/>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0" name="Google Shape;270;p31"/>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ORTAOKUL • SAHABE</a:t>
            </a:r>
            <a:endParaRPr b="1" sz="900">
              <a:solidFill>
                <a:srgbClr val="146B66"/>
              </a:solidFill>
              <a:latin typeface="Aptos"/>
              <a:ea typeface="Aptos"/>
              <a:cs typeface="Aptos"/>
              <a:sym typeface="Aptos"/>
            </a:endParaRPr>
          </a:p>
        </p:txBody>
      </p:sp>
      <p:sp>
        <p:nvSpPr>
          <p:cNvPr id="271" name="Google Shape;271;p31"/>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18 · Hz. Ali — Önce Görev, Sonra Yolculuk</a:t>
            </a:r>
            <a:endParaRPr b="1" sz="2600">
              <a:solidFill>
                <a:srgbClr val="1F2E33"/>
              </a:solidFill>
              <a:latin typeface="Aptos Display"/>
              <a:ea typeface="Aptos Display"/>
              <a:cs typeface="Aptos Display"/>
              <a:sym typeface="Aptos Display"/>
            </a:endParaRPr>
          </a:p>
        </p:txBody>
      </p:sp>
      <p:sp>
        <p:nvSpPr>
          <p:cNvPr id="272" name="Google Shape;272;p31"/>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273" name="Google Shape;273;p31"/>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Hz. Ali hicret gecesinden sonra hemen Medine’ye hareket etmedi. Önce Resûlullah’ın kendisine bıraktığı emanetleri sahiplerine teslim etme görevini tamamladı. Mekke’deki vazifesini bitirdikten sonra yola çıktı ve Medine’ye ulaştı. Böylece kendisine verilen sorumluluğu tamamlamadan görev yerinden ayrılmadı. Bu hadise, bir işi üstlenince onu sonuna kadar yerine getirmenin güzel bir örneğidir.</a:t>
            </a:r>
            <a:endParaRPr sz="1350">
              <a:solidFill>
                <a:srgbClr val="292E30"/>
              </a:solidFill>
              <a:latin typeface="Aptos"/>
              <a:ea typeface="Aptos"/>
              <a:cs typeface="Aptos"/>
              <a:sym typeface="Aptos"/>
            </a:endParaRPr>
          </a:p>
        </p:txBody>
      </p:sp>
      <p:sp>
        <p:nvSpPr>
          <p:cNvPr id="274" name="Google Shape;274;p31"/>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Canımın istediği işi değil, önce üzerimdeki görevi bitirmeliyim.</a:t>
            </a:r>
            <a:endParaRPr sz="1500">
              <a:solidFill>
                <a:srgbClr val="143333"/>
              </a:solidFill>
              <a:latin typeface="Aptos"/>
              <a:ea typeface="Aptos"/>
              <a:cs typeface="Aptos"/>
              <a:sym typeface="Aptos"/>
            </a:endParaRPr>
          </a:p>
        </p:txBody>
      </p:sp>
      <p:sp>
        <p:nvSpPr>
          <p:cNvPr id="275" name="Google Shape;275;p31"/>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Bugün eğlenceden önce yarım bıraktığın bir işi tamamla.</a:t>
            </a:r>
            <a:endParaRPr b="1" sz="1200">
              <a:solidFill>
                <a:srgbClr val="FFFFFF"/>
              </a:solidFill>
              <a:latin typeface="Aptos"/>
              <a:ea typeface="Aptos"/>
              <a:cs typeface="Aptos"/>
              <a:sym typeface="Aptos"/>
            </a:endParaRPr>
          </a:p>
        </p:txBody>
      </p:sp>
      <p:sp>
        <p:nvSpPr>
          <p:cNvPr id="276" name="Google Shape;276;p31"/>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Sevgili Peygamberimizin Arkadaşları 4 — Hz. Ali</a:t>
            </a:r>
            <a:endParaRPr sz="700">
              <a:solidFill>
                <a:srgbClr val="737373"/>
              </a:solidFill>
              <a:latin typeface="Aptos"/>
              <a:ea typeface="Aptos"/>
              <a:cs typeface="Aptos"/>
              <a:sym typeface="Apto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32"/>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2" name="Google Shape;282;p32"/>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ORTAOKUL • SAHABE</a:t>
            </a:r>
            <a:endParaRPr b="1" sz="900">
              <a:solidFill>
                <a:srgbClr val="146B66"/>
              </a:solidFill>
              <a:latin typeface="Aptos"/>
              <a:ea typeface="Aptos"/>
              <a:cs typeface="Aptos"/>
              <a:sym typeface="Aptos"/>
            </a:endParaRPr>
          </a:p>
        </p:txBody>
      </p:sp>
      <p:sp>
        <p:nvSpPr>
          <p:cNvPr id="283" name="Google Shape;283;p32"/>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19 · Hz. Ali — Hayber’de Verilen Göreve Güvenmek</a:t>
            </a:r>
            <a:endParaRPr b="1" sz="2600">
              <a:solidFill>
                <a:srgbClr val="1F2E33"/>
              </a:solidFill>
              <a:latin typeface="Aptos Display"/>
              <a:ea typeface="Aptos Display"/>
              <a:cs typeface="Aptos Display"/>
              <a:sym typeface="Aptos Display"/>
            </a:endParaRPr>
          </a:p>
        </p:txBody>
      </p:sp>
      <p:sp>
        <p:nvSpPr>
          <p:cNvPr id="284" name="Google Shape;284;p32"/>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285" name="Google Shape;285;p32"/>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Hayber günü Resûlullah, sancağı ertesi gün Allah’ı ve Resûlü’nü seven, Allah ve Resûlü tarafından sevilen bir kişiye vereceğini bildirdi. Ertesi gün sancağı Hz. Ali’ye teslim etti. Hz. Ali kendisine verilen vazifeyi üstlendi ve Hayber’in fethinde önemli bir rol oynadı. Bu hadise, Resûlullah’ın Hz. Ali’ye duyduğu güveni ve onun görev karşısındaki kararlılığını gösteren önemli örneklerden biridir.</a:t>
            </a:r>
            <a:endParaRPr sz="1350">
              <a:solidFill>
                <a:srgbClr val="292E30"/>
              </a:solidFill>
              <a:latin typeface="Aptos"/>
              <a:ea typeface="Aptos"/>
              <a:cs typeface="Aptos"/>
              <a:sym typeface="Aptos"/>
            </a:endParaRPr>
          </a:p>
        </p:txBody>
      </p:sp>
      <p:sp>
        <p:nvSpPr>
          <p:cNvPr id="286" name="Google Shape;286;p32"/>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Bana güvenilmişse görevimi ciddiye almalıyım.</a:t>
            </a:r>
            <a:endParaRPr sz="1500">
              <a:solidFill>
                <a:srgbClr val="143333"/>
              </a:solidFill>
              <a:latin typeface="Aptos"/>
              <a:ea typeface="Aptos"/>
              <a:cs typeface="Aptos"/>
              <a:sym typeface="Aptos"/>
            </a:endParaRPr>
          </a:p>
        </p:txBody>
      </p:sp>
      <p:sp>
        <p:nvSpPr>
          <p:cNvPr id="287" name="Google Shape;287;p32"/>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Sana verilen tek bir işi hatırlatılmadan bitir.</a:t>
            </a:r>
            <a:endParaRPr b="1" sz="1200">
              <a:solidFill>
                <a:srgbClr val="FFFFFF"/>
              </a:solidFill>
              <a:latin typeface="Aptos"/>
              <a:ea typeface="Aptos"/>
              <a:cs typeface="Aptos"/>
              <a:sym typeface="Aptos"/>
            </a:endParaRPr>
          </a:p>
        </p:txBody>
      </p:sp>
      <p:sp>
        <p:nvSpPr>
          <p:cNvPr id="288" name="Google Shape;288;p32"/>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Sevgili Peygamberimizin Arkadaşları 4 — Hz. Ali</a:t>
            </a:r>
            <a:endParaRPr sz="700">
              <a:solidFill>
                <a:srgbClr val="737373"/>
              </a:solidFill>
              <a:latin typeface="Aptos"/>
              <a:ea typeface="Aptos"/>
              <a:cs typeface="Aptos"/>
              <a:sym typeface="Apto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33"/>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4" name="Google Shape;294;p33"/>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ORTAOKUL • SAHABE</a:t>
            </a:r>
            <a:endParaRPr b="1" sz="900">
              <a:solidFill>
                <a:srgbClr val="146B66"/>
              </a:solidFill>
              <a:latin typeface="Aptos"/>
              <a:ea typeface="Aptos"/>
              <a:cs typeface="Aptos"/>
              <a:sym typeface="Aptos"/>
            </a:endParaRPr>
          </a:p>
        </p:txBody>
      </p:sp>
      <p:sp>
        <p:nvSpPr>
          <p:cNvPr id="295" name="Google Shape;295;p33"/>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20 · Hz. Ebû Zer — Merakını Araştırmaya Dönüştürmek</a:t>
            </a:r>
            <a:endParaRPr b="1" sz="2600">
              <a:solidFill>
                <a:srgbClr val="1F2E33"/>
              </a:solidFill>
              <a:latin typeface="Aptos Display"/>
              <a:ea typeface="Aptos Display"/>
              <a:cs typeface="Aptos Display"/>
              <a:sym typeface="Aptos Display"/>
            </a:endParaRPr>
          </a:p>
        </p:txBody>
      </p:sp>
      <p:sp>
        <p:nvSpPr>
          <p:cNvPr id="296" name="Google Shape;296;p33"/>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297" name="Google Shape;297;p33"/>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Hz. Ebû Zer, Mekke’de yeni bir peygamberin ortaya çıktığını duyunca bu haberi araştırmak istedi. Önce kardeşini Mekke’ye göndererek Resûlullah hakkında bilgi toplamasını istedi. Kardeşi dönüp gördüklerini anlattı. Hz. Ebû Zer bununla yetinmeyerek daha sonra kendisi Mekke’ye doğru yola çıktı. Bir haberi duyduğunda araştırması ve bizzat öğrenmek için yolculuğa çıkması, onun hakikati öğrenme konusundaki ciddiyetini gösterdi.</a:t>
            </a:r>
            <a:endParaRPr sz="1350">
              <a:solidFill>
                <a:srgbClr val="292E30"/>
              </a:solidFill>
              <a:latin typeface="Aptos"/>
              <a:ea typeface="Aptos"/>
              <a:cs typeface="Aptos"/>
              <a:sym typeface="Aptos"/>
            </a:endParaRPr>
          </a:p>
        </p:txBody>
      </p:sp>
      <p:sp>
        <p:nvSpPr>
          <p:cNvPr id="298" name="Google Shape;298;p33"/>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Merak ettiğim şeyi araştırabilirim.</a:t>
            </a:r>
            <a:endParaRPr sz="1500">
              <a:solidFill>
                <a:srgbClr val="143333"/>
              </a:solidFill>
              <a:latin typeface="Aptos"/>
              <a:ea typeface="Aptos"/>
              <a:cs typeface="Aptos"/>
              <a:sym typeface="Aptos"/>
            </a:endParaRPr>
          </a:p>
        </p:txBody>
      </p:sp>
      <p:sp>
        <p:nvSpPr>
          <p:cNvPr id="299" name="Google Shape;299;p33"/>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Bugün merak ettiğin bir sorunun cevabını güvenilir bir kaynaktan bul.</a:t>
            </a:r>
            <a:endParaRPr b="1" sz="1200">
              <a:solidFill>
                <a:srgbClr val="FFFFFF"/>
              </a:solidFill>
              <a:latin typeface="Aptos"/>
              <a:ea typeface="Aptos"/>
              <a:cs typeface="Aptos"/>
              <a:sym typeface="Aptos"/>
            </a:endParaRPr>
          </a:p>
        </p:txBody>
      </p:sp>
      <p:sp>
        <p:nvSpPr>
          <p:cNvPr id="300" name="Google Shape;300;p33"/>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Sevgili Peygamberimizin Arkadaşları 5 — Hz. Ebû Zer</a:t>
            </a:r>
            <a:endParaRPr sz="700">
              <a:solidFill>
                <a:srgbClr val="737373"/>
              </a:solidFill>
              <a:latin typeface="Aptos"/>
              <a:ea typeface="Aptos"/>
              <a:cs typeface="Aptos"/>
              <a:sym typeface="Apto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34"/>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6" name="Google Shape;306;p34"/>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ORTAOKUL • SAHABE</a:t>
            </a:r>
            <a:endParaRPr b="1" sz="900">
              <a:solidFill>
                <a:srgbClr val="146B66"/>
              </a:solidFill>
              <a:latin typeface="Aptos"/>
              <a:ea typeface="Aptos"/>
              <a:cs typeface="Aptos"/>
              <a:sym typeface="Aptos"/>
            </a:endParaRPr>
          </a:p>
        </p:txBody>
      </p:sp>
      <p:sp>
        <p:nvSpPr>
          <p:cNvPr id="307" name="Google Shape;307;p34"/>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21 · Hz. Ebû Zer — İkinci El Bilgiyle Yetinmemek</a:t>
            </a:r>
            <a:endParaRPr b="1" sz="2600">
              <a:solidFill>
                <a:srgbClr val="1F2E33"/>
              </a:solidFill>
              <a:latin typeface="Aptos Display"/>
              <a:ea typeface="Aptos Display"/>
              <a:cs typeface="Aptos Display"/>
              <a:sym typeface="Aptos Display"/>
            </a:endParaRPr>
          </a:p>
        </p:txBody>
      </p:sp>
      <p:sp>
        <p:nvSpPr>
          <p:cNvPr id="308" name="Google Shape;308;p34"/>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309" name="Google Shape;309;p34"/>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Hz. Ebû Zer önce kardeşi Üneys’i Mekke’ye göndererek Resûlullah hakkında bilgi toplamasını istedi. Üneys dönüp gördüklerini anlattıktan sonra Hz. Ebû Zer bu kez kendisi Mekke’ye gitmeye karar verdi. Uzun yolu aşarak şehre ulaştı ve Resûlullah’ı buluncaya kadar arayışını sürdürdü. Onun bu yolculuğu, önemli bir konuda doğrudan bilgi edinmek için gösterdiği gayretin güzel bir örneğidir.</a:t>
            </a:r>
            <a:endParaRPr sz="1350">
              <a:solidFill>
                <a:srgbClr val="292E30"/>
              </a:solidFill>
              <a:latin typeface="Aptos"/>
              <a:ea typeface="Aptos"/>
              <a:cs typeface="Aptos"/>
              <a:sym typeface="Aptos"/>
            </a:endParaRPr>
          </a:p>
        </p:txBody>
      </p:sp>
      <p:sp>
        <p:nvSpPr>
          <p:cNvPr id="310" name="Google Shape;310;p34"/>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Önemli konularda asıl kaynağa ulaşmaya çalışmalıyım.</a:t>
            </a:r>
            <a:endParaRPr sz="1500">
              <a:solidFill>
                <a:srgbClr val="143333"/>
              </a:solidFill>
              <a:latin typeface="Aptos"/>
              <a:ea typeface="Aptos"/>
              <a:cs typeface="Aptos"/>
              <a:sym typeface="Aptos"/>
            </a:endParaRPr>
          </a:p>
        </p:txBody>
      </p:sp>
      <p:sp>
        <p:nvSpPr>
          <p:cNvPr id="311" name="Google Shape;311;p34"/>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Bir konuda başkasının özetinden önce asıl metne bak.</a:t>
            </a:r>
            <a:endParaRPr b="1" sz="1200">
              <a:solidFill>
                <a:srgbClr val="FFFFFF"/>
              </a:solidFill>
              <a:latin typeface="Aptos"/>
              <a:ea typeface="Aptos"/>
              <a:cs typeface="Aptos"/>
              <a:sym typeface="Aptos"/>
            </a:endParaRPr>
          </a:p>
        </p:txBody>
      </p:sp>
      <p:sp>
        <p:nvSpPr>
          <p:cNvPr id="312" name="Google Shape;312;p34"/>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Sevgili Peygamberimizin Arkadaşları 5 — Hz. Ebû Zer</a:t>
            </a:r>
            <a:endParaRPr sz="700">
              <a:solidFill>
                <a:srgbClr val="737373"/>
              </a:solidFill>
              <a:latin typeface="Aptos"/>
              <a:ea typeface="Aptos"/>
              <a:cs typeface="Aptos"/>
              <a:sym typeface="Apto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35"/>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8" name="Google Shape;318;p35"/>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ORTAOKUL • SAHABE</a:t>
            </a:r>
            <a:endParaRPr b="1" sz="900">
              <a:solidFill>
                <a:srgbClr val="146B66"/>
              </a:solidFill>
              <a:latin typeface="Aptos"/>
              <a:ea typeface="Aptos"/>
              <a:cs typeface="Aptos"/>
              <a:sym typeface="Aptos"/>
            </a:endParaRPr>
          </a:p>
        </p:txBody>
      </p:sp>
      <p:sp>
        <p:nvSpPr>
          <p:cNvPr id="319" name="Google Shape;319;p35"/>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22 · Hz. Ali — Tanımadığın Birine Misafirperverlik</a:t>
            </a:r>
            <a:endParaRPr b="1" sz="2600">
              <a:solidFill>
                <a:srgbClr val="1F2E33"/>
              </a:solidFill>
              <a:latin typeface="Aptos Display"/>
              <a:ea typeface="Aptos Display"/>
              <a:cs typeface="Aptos Display"/>
              <a:sym typeface="Aptos Display"/>
            </a:endParaRPr>
          </a:p>
        </p:txBody>
      </p:sp>
      <p:sp>
        <p:nvSpPr>
          <p:cNvPr id="320" name="Google Shape;320;p35"/>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321" name="Google Shape;321;p35"/>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Hz. Ebû Zer Mekke’ye geldiğinde Resûlullah’ın yerini hemen öğrenemedi. Bu sırada Hz. Ali onu gördü ve geceyi geçirmesi için evine götürdü. İlk gece neden geldiğini sormadan onu misafir etti. Daha sonra Hz. Ebû Zer geliş sebebini açıklayınca Hz. Ali onu Resûlullah’ın bulunduğu yere götürdü. Bu hadise, Hz. Ali’nin yabancı bir yolcuya gösterdiği misafirperverliğin güzel bir örneğidir.</a:t>
            </a:r>
            <a:endParaRPr sz="1350">
              <a:solidFill>
                <a:srgbClr val="292E30"/>
              </a:solidFill>
              <a:latin typeface="Aptos"/>
              <a:ea typeface="Aptos"/>
              <a:cs typeface="Aptos"/>
              <a:sym typeface="Aptos"/>
            </a:endParaRPr>
          </a:p>
        </p:txBody>
      </p:sp>
      <p:sp>
        <p:nvSpPr>
          <p:cNvPr id="322" name="Google Shape;322;p35"/>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Yardım etmek için karşımdakini çok iyi tanımam şart değildir.</a:t>
            </a:r>
            <a:endParaRPr sz="1500">
              <a:solidFill>
                <a:srgbClr val="143333"/>
              </a:solidFill>
              <a:latin typeface="Aptos"/>
              <a:ea typeface="Aptos"/>
              <a:cs typeface="Aptos"/>
              <a:sym typeface="Aptos"/>
            </a:endParaRPr>
          </a:p>
        </p:txBody>
      </p:sp>
      <p:sp>
        <p:nvSpPr>
          <p:cNvPr id="323" name="Google Shape;323;p35"/>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Bugün yeni ya da yalnız duran birine selam verip yer aç.</a:t>
            </a:r>
            <a:endParaRPr b="1" sz="1200">
              <a:solidFill>
                <a:srgbClr val="FFFFFF"/>
              </a:solidFill>
              <a:latin typeface="Aptos"/>
              <a:ea typeface="Aptos"/>
              <a:cs typeface="Aptos"/>
              <a:sym typeface="Aptos"/>
            </a:endParaRPr>
          </a:p>
        </p:txBody>
      </p:sp>
      <p:sp>
        <p:nvSpPr>
          <p:cNvPr id="324" name="Google Shape;324;p35"/>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Sevgili Peygamberimizin Arkadaşları 5 — Hz. Ebû Zer</a:t>
            </a:r>
            <a:endParaRPr sz="700">
              <a:solidFill>
                <a:srgbClr val="737373"/>
              </a:solidFill>
              <a:latin typeface="Aptos"/>
              <a:ea typeface="Aptos"/>
              <a:cs typeface="Aptos"/>
              <a:sym typeface="Apto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36"/>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0" name="Google Shape;330;p36"/>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ORTAOKUL • SAHABE</a:t>
            </a:r>
            <a:endParaRPr b="1" sz="900">
              <a:solidFill>
                <a:srgbClr val="146B66"/>
              </a:solidFill>
              <a:latin typeface="Aptos"/>
              <a:ea typeface="Aptos"/>
              <a:cs typeface="Aptos"/>
              <a:sym typeface="Aptos"/>
            </a:endParaRPr>
          </a:p>
        </p:txBody>
      </p:sp>
      <p:sp>
        <p:nvSpPr>
          <p:cNvPr id="331" name="Google Shape;331;p36"/>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23 · Hz. Ebû Zer — Merakı Uğruna Sabretmek</a:t>
            </a:r>
            <a:endParaRPr b="1" sz="2600">
              <a:solidFill>
                <a:srgbClr val="1F2E33"/>
              </a:solidFill>
              <a:latin typeface="Aptos Display"/>
              <a:ea typeface="Aptos Display"/>
              <a:cs typeface="Aptos Display"/>
              <a:sym typeface="Aptos Display"/>
            </a:endParaRPr>
          </a:p>
        </p:txBody>
      </p:sp>
      <p:sp>
        <p:nvSpPr>
          <p:cNvPr id="332" name="Google Shape;332;p36"/>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333" name="Google Shape;333;p36"/>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Hz. Ebû Zer Mekke’ye vardığında Resûlullah’ın yerini doğrudan soramadı ve bir süre Kâbe çevresinde kaldı. Mekke’de yabancıydı ve aradığı kişiye nasıl ulaşacağını bilmiyordu. Hz. Ali onu fark ederek evinde misafir etti. Hz. Ebû Zer geliş sebebini açıkladığında Hz. Ali ertesi gün ona yol gösterdi ve Resûlullah’ın yanına ulaşmasını sağladı. Uzun yoldan gelip arayışını sürdürmesi, öğrenmek istediği hakikat konusunda gösterdiği kararlılığı ortaya koydu.</a:t>
            </a:r>
            <a:endParaRPr sz="1350">
              <a:solidFill>
                <a:srgbClr val="292E30"/>
              </a:solidFill>
              <a:latin typeface="Aptos"/>
              <a:ea typeface="Aptos"/>
              <a:cs typeface="Aptos"/>
              <a:sym typeface="Aptos"/>
            </a:endParaRPr>
          </a:p>
        </p:txBody>
      </p:sp>
      <p:sp>
        <p:nvSpPr>
          <p:cNvPr id="334" name="Google Shape;334;p36"/>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Önemli bir hedef için hemen vazgeçmemeliyim.</a:t>
            </a:r>
            <a:endParaRPr sz="1500">
              <a:solidFill>
                <a:srgbClr val="143333"/>
              </a:solidFill>
              <a:latin typeface="Aptos"/>
              <a:ea typeface="Aptos"/>
              <a:cs typeface="Aptos"/>
              <a:sym typeface="Aptos"/>
            </a:endParaRPr>
          </a:p>
        </p:txBody>
      </p:sp>
      <p:sp>
        <p:nvSpPr>
          <p:cNvPr id="335" name="Google Shape;335;p36"/>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Bugün zorlandığın bir işi beş dakika daha sürdür.</a:t>
            </a:r>
            <a:endParaRPr b="1" sz="1200">
              <a:solidFill>
                <a:srgbClr val="FFFFFF"/>
              </a:solidFill>
              <a:latin typeface="Aptos"/>
              <a:ea typeface="Aptos"/>
              <a:cs typeface="Aptos"/>
              <a:sym typeface="Aptos"/>
            </a:endParaRPr>
          </a:p>
        </p:txBody>
      </p:sp>
      <p:sp>
        <p:nvSpPr>
          <p:cNvPr id="336" name="Google Shape;336;p36"/>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Sevgili Peygamberimizin Arkadaşları 5 — Hz. Ebû Zer</a:t>
            </a:r>
            <a:endParaRPr sz="700">
              <a:solidFill>
                <a:srgbClr val="737373"/>
              </a:solidFill>
              <a:latin typeface="Aptos"/>
              <a:ea typeface="Aptos"/>
              <a:cs typeface="Aptos"/>
              <a:sym typeface="Apto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37"/>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2" name="Google Shape;342;p37"/>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ORTAOKUL • SAHABE</a:t>
            </a:r>
            <a:endParaRPr b="1" sz="900">
              <a:solidFill>
                <a:srgbClr val="146B66"/>
              </a:solidFill>
              <a:latin typeface="Aptos"/>
              <a:ea typeface="Aptos"/>
              <a:cs typeface="Aptos"/>
              <a:sym typeface="Aptos"/>
            </a:endParaRPr>
          </a:p>
        </p:txBody>
      </p:sp>
      <p:sp>
        <p:nvSpPr>
          <p:cNvPr id="343" name="Google Shape;343;p37"/>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24 · Hz. Ebû Zer — İnandığını Saklamamak</a:t>
            </a:r>
            <a:endParaRPr b="1" sz="2600">
              <a:solidFill>
                <a:srgbClr val="1F2E33"/>
              </a:solidFill>
              <a:latin typeface="Aptos Display"/>
              <a:ea typeface="Aptos Display"/>
              <a:cs typeface="Aptos Display"/>
              <a:sym typeface="Aptos Display"/>
            </a:endParaRPr>
          </a:p>
        </p:txBody>
      </p:sp>
      <p:sp>
        <p:nvSpPr>
          <p:cNvPr id="344" name="Google Shape;344;p37"/>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345" name="Google Shape;345;p37"/>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Hz. Ebû Zer, Resûlullah’ın huzurunda Müslüman olduktan sonra Kâbe’ye giderek kelime-i şehadeti açıkça söyledi. Kureyşliler bunun üzerine ona saldırdı ve ağır şekilde dövdü. Hz. Abbas araya girerek onun Gıfâr kabilesinden olduğunu ve Şam ticaret yolunun onların bölgesinden geçtiğini hatırlatınca saldırı sona erdi. Hz. Ebû Zer’in Mekke’de imanını açıkça ilân etmesi, cesaretinin dikkat çekici örneklerinden biridir.</a:t>
            </a:r>
            <a:endParaRPr sz="1350">
              <a:solidFill>
                <a:srgbClr val="292E30"/>
              </a:solidFill>
              <a:latin typeface="Aptos"/>
              <a:ea typeface="Aptos"/>
              <a:cs typeface="Aptos"/>
              <a:sym typeface="Aptos"/>
            </a:endParaRPr>
          </a:p>
        </p:txBody>
      </p:sp>
      <p:sp>
        <p:nvSpPr>
          <p:cNvPr id="346" name="Google Shape;346;p37"/>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Doğru olduğuna inandığım bir değeri baskı karşısında da korumaya çalışmalıyım.</a:t>
            </a:r>
            <a:endParaRPr sz="1500">
              <a:solidFill>
                <a:srgbClr val="143333"/>
              </a:solidFill>
              <a:latin typeface="Aptos"/>
              <a:ea typeface="Aptos"/>
              <a:cs typeface="Aptos"/>
              <a:sym typeface="Aptos"/>
            </a:endParaRPr>
          </a:p>
        </p:txBody>
      </p:sp>
      <p:sp>
        <p:nvSpPr>
          <p:cNvPr id="347" name="Google Shape;347;p37"/>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Bugün doğru bulduğun bir konuda kalabalığa uymadan nazikçe fikrini söyle.</a:t>
            </a:r>
            <a:endParaRPr b="1" sz="1200">
              <a:solidFill>
                <a:srgbClr val="FFFFFF"/>
              </a:solidFill>
              <a:latin typeface="Aptos"/>
              <a:ea typeface="Aptos"/>
              <a:cs typeface="Aptos"/>
              <a:sym typeface="Aptos"/>
            </a:endParaRPr>
          </a:p>
        </p:txBody>
      </p:sp>
      <p:sp>
        <p:nvSpPr>
          <p:cNvPr id="348" name="Google Shape;348;p37"/>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Sevgili Peygamberimizin Arkadaşları 5 — Hz. Ebû Zer</a:t>
            </a:r>
            <a:endParaRPr sz="700">
              <a:solidFill>
                <a:srgbClr val="737373"/>
              </a:solidFill>
              <a:latin typeface="Aptos"/>
              <a:ea typeface="Aptos"/>
              <a:cs typeface="Aptos"/>
              <a:sym typeface="Apto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38"/>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4" name="Google Shape;354;p38"/>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ORTAOKUL • SAHABE</a:t>
            </a:r>
            <a:endParaRPr b="1" sz="900">
              <a:solidFill>
                <a:srgbClr val="146B66"/>
              </a:solidFill>
              <a:latin typeface="Aptos"/>
              <a:ea typeface="Aptos"/>
              <a:cs typeface="Aptos"/>
              <a:sym typeface="Aptos"/>
            </a:endParaRPr>
          </a:p>
        </p:txBody>
      </p:sp>
      <p:sp>
        <p:nvSpPr>
          <p:cNvPr id="355" name="Google Shape;355;p38"/>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25 · Hz. Ebû Zer — Öğrendiğini Çevresine Taşımak</a:t>
            </a:r>
            <a:endParaRPr b="1" sz="2600">
              <a:solidFill>
                <a:srgbClr val="1F2E33"/>
              </a:solidFill>
              <a:latin typeface="Aptos Display"/>
              <a:ea typeface="Aptos Display"/>
              <a:cs typeface="Aptos Display"/>
              <a:sym typeface="Aptos Display"/>
            </a:endParaRPr>
          </a:p>
        </p:txBody>
      </p:sp>
      <p:sp>
        <p:nvSpPr>
          <p:cNvPr id="356" name="Google Shape;356;p38"/>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357" name="Google Shape;357;p38"/>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Resûlullah, Hz. Ebû Zer’e kavmine dönmesini ve İslâm’ı onlara anlatmasını söyledi. Hz. Ebû Zer memleketine dönerek önce ailesine, ardından kabilesindeki insanlara İslâm’ı tebliğ etti. Onun davetiyle yakınlarından ve kavminden birçok kişi Müslüman oldu. Daha sonra bu topluluktan önemli bir grup Medine’ye gelerek Resûlullah’a katıldı. Hz. Ebû Zer öğrendiği hakikati çevresine ulaştırma görevini yerine getirdi.</a:t>
            </a:r>
            <a:endParaRPr sz="1350">
              <a:solidFill>
                <a:srgbClr val="292E30"/>
              </a:solidFill>
              <a:latin typeface="Aptos"/>
              <a:ea typeface="Aptos"/>
              <a:cs typeface="Aptos"/>
              <a:sym typeface="Aptos"/>
            </a:endParaRPr>
          </a:p>
        </p:txBody>
      </p:sp>
      <p:sp>
        <p:nvSpPr>
          <p:cNvPr id="358" name="Google Shape;358;p38"/>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Öğrendiğim güzellik yalnız bende kalmamalı.</a:t>
            </a:r>
            <a:endParaRPr sz="1500">
              <a:solidFill>
                <a:srgbClr val="143333"/>
              </a:solidFill>
              <a:latin typeface="Aptos"/>
              <a:ea typeface="Aptos"/>
              <a:cs typeface="Aptos"/>
              <a:sym typeface="Aptos"/>
            </a:endParaRPr>
          </a:p>
        </p:txBody>
      </p:sp>
      <p:sp>
        <p:nvSpPr>
          <p:cNvPr id="359" name="Google Shape;359;p38"/>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Bugün öğrendiğin faydalı bir bilgiyi ailenden biriyle paylaş.</a:t>
            </a:r>
            <a:endParaRPr b="1" sz="1200">
              <a:solidFill>
                <a:srgbClr val="FFFFFF"/>
              </a:solidFill>
              <a:latin typeface="Aptos"/>
              <a:ea typeface="Aptos"/>
              <a:cs typeface="Aptos"/>
              <a:sym typeface="Aptos"/>
            </a:endParaRPr>
          </a:p>
        </p:txBody>
      </p:sp>
      <p:sp>
        <p:nvSpPr>
          <p:cNvPr id="360" name="Google Shape;360;p38"/>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Sevgili Peygamberimizin Arkadaşları 5 — Hz. Ebû Zer</a:t>
            </a:r>
            <a:endParaRPr sz="700">
              <a:solidFill>
                <a:srgbClr val="737373"/>
              </a:solidFill>
              <a:latin typeface="Aptos"/>
              <a:ea typeface="Aptos"/>
              <a:cs typeface="Aptos"/>
              <a:sym typeface="Apto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39"/>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6" name="Google Shape;366;p39"/>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ORTAOKUL • SAHABE</a:t>
            </a:r>
            <a:endParaRPr b="1" sz="900">
              <a:solidFill>
                <a:srgbClr val="146B66"/>
              </a:solidFill>
              <a:latin typeface="Aptos"/>
              <a:ea typeface="Aptos"/>
              <a:cs typeface="Aptos"/>
              <a:sym typeface="Aptos"/>
            </a:endParaRPr>
          </a:p>
        </p:txBody>
      </p:sp>
      <p:sp>
        <p:nvSpPr>
          <p:cNvPr id="367" name="Google Shape;367;p39"/>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26 · Mus’ab b. Umeyr — Genç Bir Öğretmen</a:t>
            </a:r>
            <a:endParaRPr b="1" sz="2600">
              <a:solidFill>
                <a:srgbClr val="1F2E33"/>
              </a:solidFill>
              <a:latin typeface="Aptos Display"/>
              <a:ea typeface="Aptos Display"/>
              <a:cs typeface="Aptos Display"/>
              <a:sym typeface="Aptos Display"/>
            </a:endParaRPr>
          </a:p>
        </p:txBody>
      </p:sp>
      <p:sp>
        <p:nvSpPr>
          <p:cNvPr id="368" name="Google Shape;368;p39"/>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369" name="Google Shape;369;p39"/>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Birinci Akabe Biatı’ndan sonra Medineli Müslümanlar kendilerine Kur’an’ı ve İslâm’ı öğretecek birini istediler. Resûlullah bu önemli görev için genç Mus’ab b. Umeyr’i gönderdi. Mus’ab Medine’de Es‘ad b. Zürâre’nin yanında kaldı, insanlara Kur’an okudu ve İslâm’ı anlattı. Onun çalışmalarıyla birçok Medineli İslâm’ı tanıdı. Genç yaşta böyle önemli bir öğretmenlik görevinin kendisine verilmesi, Resûlullah’ın ona duyduğu güveni gösterir.</a:t>
            </a:r>
            <a:endParaRPr sz="1350">
              <a:solidFill>
                <a:srgbClr val="292E30"/>
              </a:solidFill>
              <a:latin typeface="Aptos"/>
              <a:ea typeface="Aptos"/>
              <a:cs typeface="Aptos"/>
              <a:sym typeface="Aptos"/>
            </a:endParaRPr>
          </a:p>
        </p:txBody>
      </p:sp>
      <p:sp>
        <p:nvSpPr>
          <p:cNvPr id="370" name="Google Shape;370;p39"/>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Genç olmak faydalı bir iş yapmaya engel değildir.</a:t>
            </a:r>
            <a:endParaRPr sz="1500">
              <a:solidFill>
                <a:srgbClr val="143333"/>
              </a:solidFill>
              <a:latin typeface="Aptos"/>
              <a:ea typeface="Aptos"/>
              <a:cs typeface="Aptos"/>
              <a:sym typeface="Aptos"/>
            </a:endParaRPr>
          </a:p>
        </p:txBody>
      </p:sp>
      <p:sp>
        <p:nvSpPr>
          <p:cNvPr id="371" name="Google Shape;371;p39"/>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İyi bildiğin bir konuda senden küçük birine yardımcı ol.</a:t>
            </a:r>
            <a:endParaRPr b="1" sz="1200">
              <a:solidFill>
                <a:srgbClr val="FFFFFF"/>
              </a:solidFill>
              <a:latin typeface="Aptos"/>
              <a:ea typeface="Aptos"/>
              <a:cs typeface="Aptos"/>
              <a:sym typeface="Aptos"/>
            </a:endParaRPr>
          </a:p>
        </p:txBody>
      </p:sp>
      <p:sp>
        <p:nvSpPr>
          <p:cNvPr id="372" name="Google Shape;372;p39"/>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Sevgili Peygamberimizin Arkadaşları 6 — Mus’ab b. Umeyr</a:t>
            </a:r>
            <a:endParaRPr sz="700">
              <a:solidFill>
                <a:srgbClr val="737373"/>
              </a:solidFill>
              <a:latin typeface="Aptos"/>
              <a:ea typeface="Aptos"/>
              <a:cs typeface="Aptos"/>
              <a:sym typeface="Apto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40"/>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8" name="Google Shape;378;p40"/>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ORTAOKUL • SAHABE</a:t>
            </a:r>
            <a:endParaRPr b="1" sz="900">
              <a:solidFill>
                <a:srgbClr val="146B66"/>
              </a:solidFill>
              <a:latin typeface="Aptos"/>
              <a:ea typeface="Aptos"/>
              <a:cs typeface="Aptos"/>
              <a:sym typeface="Aptos"/>
            </a:endParaRPr>
          </a:p>
        </p:txBody>
      </p:sp>
      <p:sp>
        <p:nvSpPr>
          <p:cNvPr id="379" name="Google Shape;379;p40"/>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27 · Mus’ab — Medine’de Kur’an Öğretmek</a:t>
            </a:r>
            <a:endParaRPr b="1" sz="2600">
              <a:solidFill>
                <a:srgbClr val="1F2E33"/>
              </a:solidFill>
              <a:latin typeface="Aptos Display"/>
              <a:ea typeface="Aptos Display"/>
              <a:cs typeface="Aptos Display"/>
              <a:sym typeface="Aptos Display"/>
            </a:endParaRPr>
          </a:p>
        </p:txBody>
      </p:sp>
      <p:sp>
        <p:nvSpPr>
          <p:cNvPr id="380" name="Google Shape;380;p40"/>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381" name="Google Shape;381;p40"/>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Mus’ab b. Umeyr Medine’de insanlara Kur’an ayetlerini okuyor ve İslâm’ın esaslarını anlatıyordu. Kur’an’ı iyi bilmesi ve etkili konuşması, insanların onu dikkatle dinlemesine vesile oldu. Es‘ad b. Zürâre ile birlikte farklı evlere ve topluluklara ulaştı. Onun bu öğretmenlik ve tebliğ faaliyeti, Medine’de İslâm’ın yayılmasında çok önemli bir rol oynadı. Mus’ab, bildiği hakikati güzel bir anlatımla başkalarına ulaştıran ilk İslâm muallimlerinden biri oldu.</a:t>
            </a:r>
            <a:endParaRPr sz="1350">
              <a:solidFill>
                <a:srgbClr val="292E30"/>
              </a:solidFill>
              <a:latin typeface="Aptos"/>
              <a:ea typeface="Aptos"/>
              <a:cs typeface="Aptos"/>
              <a:sym typeface="Aptos"/>
            </a:endParaRPr>
          </a:p>
        </p:txBody>
      </p:sp>
      <p:sp>
        <p:nvSpPr>
          <p:cNvPr id="382" name="Google Shape;382;p40"/>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Bir bilgiyi güzel ve anlaşılır biçimde anlatmak da önemli bir beceridir.</a:t>
            </a:r>
            <a:endParaRPr sz="1500">
              <a:solidFill>
                <a:srgbClr val="143333"/>
              </a:solidFill>
              <a:latin typeface="Aptos"/>
              <a:ea typeface="Aptos"/>
              <a:cs typeface="Aptos"/>
              <a:sym typeface="Aptos"/>
            </a:endParaRPr>
          </a:p>
        </p:txBody>
      </p:sp>
      <p:sp>
        <p:nvSpPr>
          <p:cNvPr id="383" name="Google Shape;383;p40"/>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Bugün bir konuyu anlatırken kısa ve sakin cümleler kullan.</a:t>
            </a:r>
            <a:endParaRPr b="1" sz="1200">
              <a:solidFill>
                <a:srgbClr val="FFFFFF"/>
              </a:solidFill>
              <a:latin typeface="Aptos"/>
              <a:ea typeface="Aptos"/>
              <a:cs typeface="Aptos"/>
              <a:sym typeface="Aptos"/>
            </a:endParaRPr>
          </a:p>
        </p:txBody>
      </p:sp>
      <p:sp>
        <p:nvSpPr>
          <p:cNvPr id="384" name="Google Shape;384;p40"/>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Sevgili Peygamberimizin Arkadaşları 6 — Mus’ab b. Umeyr</a:t>
            </a:r>
            <a:endParaRPr sz="700">
              <a:solidFill>
                <a:srgbClr val="737373"/>
              </a:solidFill>
              <a:latin typeface="Aptos"/>
              <a:ea typeface="Aptos"/>
              <a:cs typeface="Aptos"/>
              <a:sym typeface="Apto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41"/>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0" name="Google Shape;390;p41"/>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ORTAOKUL • SAHABE</a:t>
            </a:r>
            <a:endParaRPr b="1" sz="900">
              <a:solidFill>
                <a:srgbClr val="146B66"/>
              </a:solidFill>
              <a:latin typeface="Aptos"/>
              <a:ea typeface="Aptos"/>
              <a:cs typeface="Aptos"/>
              <a:sym typeface="Aptos"/>
            </a:endParaRPr>
          </a:p>
        </p:txBody>
      </p:sp>
      <p:sp>
        <p:nvSpPr>
          <p:cNvPr id="391" name="Google Shape;391;p41"/>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28 · Mus’ab — Üseyd’e Sakinlikle Kur’an Anlatmak</a:t>
            </a:r>
            <a:endParaRPr b="1" sz="2600">
              <a:solidFill>
                <a:srgbClr val="1F2E33"/>
              </a:solidFill>
              <a:latin typeface="Aptos Display"/>
              <a:ea typeface="Aptos Display"/>
              <a:cs typeface="Aptos Display"/>
              <a:sym typeface="Aptos Display"/>
            </a:endParaRPr>
          </a:p>
        </p:txBody>
      </p:sp>
      <p:sp>
        <p:nvSpPr>
          <p:cNvPr id="392" name="Google Shape;392;p41"/>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393" name="Google Shape;393;p41"/>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Üseyd b. Hudayr, Mus’ab’ın Medine’deki faaliyetlerinden rahatsız olarak onun yanına geldi ve bulunduğu yerden ayrılmasını istedi. Mus’ab ona önce kendisini dinlemesini teklif etti. Üseyd bunu kabul edince Mus’ab Kur’an okudu ve İslâm’ı anlattı. Üseyd, Mus’ab’ın Kur’an okuyuşunu ve sözlerini dinledikten sonra İslâm’ı kabul etti. Bu hadise, Mus’ab’ın zor bir görüşmede bile Kur’an’ı ve güzel anlatımı merkeze aldığını gösterir.</a:t>
            </a:r>
            <a:endParaRPr sz="1350">
              <a:solidFill>
                <a:srgbClr val="292E30"/>
              </a:solidFill>
              <a:latin typeface="Aptos"/>
              <a:ea typeface="Aptos"/>
              <a:cs typeface="Aptos"/>
              <a:sym typeface="Aptos"/>
            </a:endParaRPr>
          </a:p>
        </p:txBody>
      </p:sp>
      <p:sp>
        <p:nvSpPr>
          <p:cNvPr id="394" name="Google Shape;394;p41"/>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Zor bir konuşmada sakin kalıp karşılıklı dinlemeye fırsat vermek önemlidir.</a:t>
            </a:r>
            <a:endParaRPr sz="1500">
              <a:solidFill>
                <a:srgbClr val="143333"/>
              </a:solidFill>
              <a:latin typeface="Aptos"/>
              <a:ea typeface="Aptos"/>
              <a:cs typeface="Aptos"/>
              <a:sym typeface="Aptos"/>
            </a:endParaRPr>
          </a:p>
        </p:txBody>
      </p:sp>
      <p:sp>
        <p:nvSpPr>
          <p:cNvPr id="395" name="Google Shape;395;p41"/>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Bugün bir konuşmada karşı tarafın sözünü hiç kesmeden dinle.</a:t>
            </a:r>
            <a:endParaRPr b="1" sz="1200">
              <a:solidFill>
                <a:srgbClr val="FFFFFF"/>
              </a:solidFill>
              <a:latin typeface="Aptos"/>
              <a:ea typeface="Aptos"/>
              <a:cs typeface="Aptos"/>
              <a:sym typeface="Aptos"/>
            </a:endParaRPr>
          </a:p>
        </p:txBody>
      </p:sp>
      <p:sp>
        <p:nvSpPr>
          <p:cNvPr id="396" name="Google Shape;396;p41"/>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Sevgili Peygamberimizin Arkadaşları 6 — Mus’ab b. Umeyr</a:t>
            </a:r>
            <a:endParaRPr sz="700">
              <a:solidFill>
                <a:srgbClr val="737373"/>
              </a:solidFill>
              <a:latin typeface="Aptos"/>
              <a:ea typeface="Aptos"/>
              <a:cs typeface="Aptos"/>
              <a:sym typeface="Apto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42"/>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2" name="Google Shape;402;p42"/>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ORTAOKUL • SAHABE</a:t>
            </a:r>
            <a:endParaRPr b="1" sz="900">
              <a:solidFill>
                <a:srgbClr val="146B66"/>
              </a:solidFill>
              <a:latin typeface="Aptos"/>
              <a:ea typeface="Aptos"/>
              <a:cs typeface="Aptos"/>
              <a:sym typeface="Aptos"/>
            </a:endParaRPr>
          </a:p>
        </p:txBody>
      </p:sp>
      <p:sp>
        <p:nvSpPr>
          <p:cNvPr id="403" name="Google Shape;403;p42"/>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29 · Mus’ab — Önce Dinle, Sonra Karar Ver</a:t>
            </a:r>
            <a:endParaRPr b="1" sz="2600">
              <a:solidFill>
                <a:srgbClr val="1F2E33"/>
              </a:solidFill>
              <a:latin typeface="Aptos Display"/>
              <a:ea typeface="Aptos Display"/>
              <a:cs typeface="Aptos Display"/>
              <a:sym typeface="Aptos Display"/>
            </a:endParaRPr>
          </a:p>
        </p:txBody>
      </p:sp>
      <p:sp>
        <p:nvSpPr>
          <p:cNvPr id="404" name="Google Shape;404;p42"/>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405" name="Google Shape;405;p42"/>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Üseyd b. Hudayr, Mus’ab’ı uzaklaştırmak amacıyla geldiğinde Mus’ab ona konuşmasını dinlemesini teklif etti. Beğenmezse istediği şekilde ayrılabileceklerini söyledi. Üseyd bu teklifi kabul ederek oturdu. Mus’ab ona Kur’an’dan ayetler okudu ve İslâm’ı anlattı. Üseyd dinledikten sonra İslâm’ı kabul etti. Olay, bir konuda karar vermeden önce onu gerçekten dinlemenin ne kadar önemli olabileceğini gösterir.</a:t>
            </a:r>
            <a:endParaRPr sz="1350">
              <a:solidFill>
                <a:srgbClr val="292E30"/>
              </a:solidFill>
              <a:latin typeface="Aptos"/>
              <a:ea typeface="Aptos"/>
              <a:cs typeface="Aptos"/>
              <a:sym typeface="Aptos"/>
            </a:endParaRPr>
          </a:p>
        </p:txBody>
      </p:sp>
      <p:sp>
        <p:nvSpPr>
          <p:cNvPr id="406" name="Google Shape;406;p42"/>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Bir konuda karar vermeden önce onu dikkatle dinlemek gerekir.</a:t>
            </a:r>
            <a:endParaRPr sz="1500">
              <a:solidFill>
                <a:srgbClr val="143333"/>
              </a:solidFill>
              <a:latin typeface="Aptos"/>
              <a:ea typeface="Aptos"/>
              <a:cs typeface="Aptos"/>
              <a:sym typeface="Aptos"/>
            </a:endParaRPr>
          </a:p>
        </p:txBody>
      </p:sp>
      <p:sp>
        <p:nvSpPr>
          <p:cNvPr id="407" name="Google Shape;407;p42"/>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Bir tartışmada “Önce seni dinleyeyim” cümlesini kullan.</a:t>
            </a:r>
            <a:endParaRPr b="1" sz="1200">
              <a:solidFill>
                <a:srgbClr val="FFFFFF"/>
              </a:solidFill>
              <a:latin typeface="Aptos"/>
              <a:ea typeface="Aptos"/>
              <a:cs typeface="Aptos"/>
              <a:sym typeface="Aptos"/>
            </a:endParaRPr>
          </a:p>
        </p:txBody>
      </p:sp>
      <p:sp>
        <p:nvSpPr>
          <p:cNvPr id="408" name="Google Shape;408;p42"/>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Sevgili Peygamberimizin Arkadaşları 6 — Mus’ab b. Umeyr</a:t>
            </a:r>
            <a:endParaRPr sz="700">
              <a:solidFill>
                <a:srgbClr val="737373"/>
              </a:solidFill>
              <a:latin typeface="Aptos"/>
              <a:ea typeface="Aptos"/>
              <a:cs typeface="Aptos"/>
              <a:sym typeface="Aptos"/>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43"/>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4" name="Google Shape;414;p43"/>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ORTAOKUL • SAHABE</a:t>
            </a:r>
            <a:endParaRPr b="1" sz="900">
              <a:solidFill>
                <a:srgbClr val="146B66"/>
              </a:solidFill>
              <a:latin typeface="Aptos"/>
              <a:ea typeface="Aptos"/>
              <a:cs typeface="Aptos"/>
              <a:sym typeface="Aptos"/>
            </a:endParaRPr>
          </a:p>
        </p:txBody>
      </p:sp>
      <p:sp>
        <p:nvSpPr>
          <p:cNvPr id="415" name="Google Shape;415;p43"/>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30 · Mus’ab — Kur’an’la Cevap Vermek</a:t>
            </a:r>
            <a:endParaRPr b="1" sz="2600">
              <a:solidFill>
                <a:srgbClr val="1F2E33"/>
              </a:solidFill>
              <a:latin typeface="Aptos Display"/>
              <a:ea typeface="Aptos Display"/>
              <a:cs typeface="Aptos Display"/>
              <a:sym typeface="Aptos Display"/>
            </a:endParaRPr>
          </a:p>
        </p:txBody>
      </p:sp>
      <p:sp>
        <p:nvSpPr>
          <p:cNvPr id="416" name="Google Shape;416;p43"/>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417" name="Google Shape;417;p43"/>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Mus’ab, Üseyd b. Hudayr kendisini dinlemeyi kabul edince ona Kur’an’dan ayetler okudu ve İslâm’ı anlattı. Üseyd, Kur’an’ın okuyuşundan ve Mus’ab’ın anlattıklarından etkilendi; ardından nasıl Müslüman olunacağını sordu ve İslâm’ı kabul etti. Daha sonra Sa‘d b. Muâz da Mus’ab’ı dinleyerek Müslüman oldu. Mus’ab’ın Kur’an bilgisi ve etkili anlatımı, Medine’de çok sayıda insanın İslâm’la tanışmasına vesile oldu.</a:t>
            </a:r>
            <a:endParaRPr sz="1350">
              <a:solidFill>
                <a:srgbClr val="292E30"/>
              </a:solidFill>
              <a:latin typeface="Aptos"/>
              <a:ea typeface="Aptos"/>
              <a:cs typeface="Aptos"/>
              <a:sym typeface="Aptos"/>
            </a:endParaRPr>
          </a:p>
        </p:txBody>
      </p:sp>
      <p:sp>
        <p:nvSpPr>
          <p:cNvPr id="418" name="Google Shape;418;p43"/>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Hakikati anlatırken güzel üslup ve sağlam bilgi birlikte önemlidir.</a:t>
            </a:r>
            <a:endParaRPr sz="1500">
              <a:solidFill>
                <a:srgbClr val="143333"/>
              </a:solidFill>
              <a:latin typeface="Aptos"/>
              <a:ea typeface="Aptos"/>
              <a:cs typeface="Aptos"/>
              <a:sym typeface="Aptos"/>
            </a:endParaRPr>
          </a:p>
        </p:txBody>
      </p:sp>
      <p:sp>
        <p:nvSpPr>
          <p:cNvPr id="419" name="Google Shape;419;p43"/>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Bugün haklı olduğun bir konuda sesini yükseltmeden konuş.</a:t>
            </a:r>
            <a:endParaRPr b="1" sz="1200">
              <a:solidFill>
                <a:srgbClr val="FFFFFF"/>
              </a:solidFill>
              <a:latin typeface="Aptos"/>
              <a:ea typeface="Aptos"/>
              <a:cs typeface="Aptos"/>
              <a:sym typeface="Aptos"/>
            </a:endParaRPr>
          </a:p>
        </p:txBody>
      </p:sp>
      <p:sp>
        <p:nvSpPr>
          <p:cNvPr id="420" name="Google Shape;420;p43"/>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Sevgili Peygamberimizin Arkadaşları 6 — Mus’ab b. Umeyr</a:t>
            </a:r>
            <a:endParaRPr sz="700">
              <a:solidFill>
                <a:srgbClr val="737373"/>
              </a:solidFill>
              <a:latin typeface="Aptos"/>
              <a:ea typeface="Aptos"/>
              <a:cs typeface="Aptos"/>
              <a:sym typeface="Aptos"/>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44"/>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6" name="Google Shape;426;p44"/>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ORTAOKUL • SAHABE</a:t>
            </a:r>
            <a:endParaRPr b="1" sz="900">
              <a:solidFill>
                <a:srgbClr val="146B66"/>
              </a:solidFill>
              <a:latin typeface="Aptos"/>
              <a:ea typeface="Aptos"/>
              <a:cs typeface="Aptos"/>
              <a:sym typeface="Aptos"/>
            </a:endParaRPr>
          </a:p>
        </p:txBody>
      </p:sp>
      <p:sp>
        <p:nvSpPr>
          <p:cNvPr id="427" name="Google Shape;427;p44"/>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31 · Mus’ab — Bir Kişi Değişince Çevresi de Değişebilir</a:t>
            </a:r>
            <a:endParaRPr b="1" sz="2600">
              <a:solidFill>
                <a:srgbClr val="1F2E33"/>
              </a:solidFill>
              <a:latin typeface="Aptos Display"/>
              <a:ea typeface="Aptos Display"/>
              <a:cs typeface="Aptos Display"/>
              <a:sym typeface="Aptos Display"/>
            </a:endParaRPr>
          </a:p>
        </p:txBody>
      </p:sp>
      <p:sp>
        <p:nvSpPr>
          <p:cNvPr id="428" name="Google Shape;428;p44"/>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429" name="Google Shape;429;p44"/>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Üseyd b. Hudayr’ın ardından Sa‘d b. Muâz da Mus’ab’ı dinledi ve İslâm’ı kabul etti. Sa‘d, kabilesinin önde gelen isimlerinden biriydi. Onun Müslüman oluşunun ardından Abdüleşheloğulları arasında İslâm hızla yayıldı. Mus’ab’ın Medine’deki öğretmenlik ve tebliğ faaliyeti kısa sürede birçok eve ulaştı. Bir insanın öğrendiği hakikati güzel biçimde başkasına ulaştırması, geniş bir çevrede hayırlı sonuçlara vesile olabildi.</a:t>
            </a:r>
            <a:endParaRPr sz="1350">
              <a:solidFill>
                <a:srgbClr val="292E30"/>
              </a:solidFill>
              <a:latin typeface="Aptos"/>
              <a:ea typeface="Aptos"/>
              <a:cs typeface="Aptos"/>
              <a:sym typeface="Aptos"/>
            </a:endParaRPr>
          </a:p>
        </p:txBody>
      </p:sp>
      <p:sp>
        <p:nvSpPr>
          <p:cNvPr id="430" name="Google Shape;430;p44"/>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Benim güzel davranışım arkadaş çevremi etkileyebilir.</a:t>
            </a:r>
            <a:endParaRPr sz="1500">
              <a:solidFill>
                <a:srgbClr val="143333"/>
              </a:solidFill>
              <a:latin typeface="Aptos"/>
              <a:ea typeface="Aptos"/>
              <a:cs typeface="Aptos"/>
              <a:sym typeface="Aptos"/>
            </a:endParaRPr>
          </a:p>
        </p:txBody>
      </p:sp>
      <p:sp>
        <p:nvSpPr>
          <p:cNvPr id="431" name="Google Shape;431;p44"/>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Bugün arkadaş grubunda iyi bir davranışı ilk başlatan sen ol.</a:t>
            </a:r>
            <a:endParaRPr b="1" sz="1200">
              <a:solidFill>
                <a:srgbClr val="FFFFFF"/>
              </a:solidFill>
              <a:latin typeface="Aptos"/>
              <a:ea typeface="Aptos"/>
              <a:cs typeface="Aptos"/>
              <a:sym typeface="Aptos"/>
            </a:endParaRPr>
          </a:p>
        </p:txBody>
      </p:sp>
      <p:sp>
        <p:nvSpPr>
          <p:cNvPr id="432" name="Google Shape;432;p44"/>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Sevgili Peygamberimizin Arkadaşları 6 — Mus’ab b. Umeyr</a:t>
            </a:r>
            <a:endParaRPr sz="700">
              <a:solidFill>
                <a:srgbClr val="737373"/>
              </a:solidFill>
              <a:latin typeface="Aptos"/>
              <a:ea typeface="Aptos"/>
              <a:cs typeface="Aptos"/>
              <a:sym typeface="Aptos"/>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45"/>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8" name="Google Shape;438;p45"/>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ORTAOKUL • SAHABE</a:t>
            </a:r>
            <a:endParaRPr b="1" sz="900">
              <a:solidFill>
                <a:srgbClr val="146B66"/>
              </a:solidFill>
              <a:latin typeface="Aptos"/>
              <a:ea typeface="Aptos"/>
              <a:cs typeface="Aptos"/>
              <a:sym typeface="Aptos"/>
            </a:endParaRPr>
          </a:p>
        </p:txBody>
      </p:sp>
      <p:sp>
        <p:nvSpPr>
          <p:cNvPr id="439" name="Google Shape;439;p45"/>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32 · Mus’ab — Verilen Sancağı Bırakmamak</a:t>
            </a:r>
            <a:endParaRPr b="1" sz="2600">
              <a:solidFill>
                <a:srgbClr val="1F2E33"/>
              </a:solidFill>
              <a:latin typeface="Aptos Display"/>
              <a:ea typeface="Aptos Display"/>
              <a:cs typeface="Aptos Display"/>
              <a:sym typeface="Aptos Display"/>
            </a:endParaRPr>
          </a:p>
        </p:txBody>
      </p:sp>
      <p:sp>
        <p:nvSpPr>
          <p:cNvPr id="440" name="Google Shape;440;p45"/>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441" name="Google Shape;441;p45"/>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Uhud’da Mus’ab’a sancağı taşıma görevi verildi. Bu görev, savaş boyunca bulunduğu yerde durmasını ve topluluğun işaretini ayakta tutmasını gerektiriyordu. Savaşın en zor anlarında çevredeki düzen bozuldu ve şartlar çok ağırlaştı. Mus’ab buna rağmen görev yerini terk etmedi. Yaralansa da sancağın düşmemesi için bütün gücüyle direndi. Kolay zamanda kabul ettiği sorumluluğu, zor zamanda da taşımaya devam etti. Onun davranışı, bir görevin değerinin çoğu zaman şartlar zorlaştığında ortaya çıktığını gösterdi.</a:t>
            </a:r>
            <a:endParaRPr sz="1350">
              <a:solidFill>
                <a:srgbClr val="292E30"/>
              </a:solidFill>
              <a:latin typeface="Aptos"/>
              <a:ea typeface="Aptos"/>
              <a:cs typeface="Aptos"/>
              <a:sym typeface="Aptos"/>
            </a:endParaRPr>
          </a:p>
        </p:txBody>
      </p:sp>
      <p:sp>
        <p:nvSpPr>
          <p:cNvPr id="442" name="Google Shape;442;p45"/>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Bir işi kabul etmişsem zorlaşınca hemen bırakmamalıyım.</a:t>
            </a:r>
            <a:endParaRPr sz="1500">
              <a:solidFill>
                <a:srgbClr val="143333"/>
              </a:solidFill>
              <a:latin typeface="Aptos"/>
              <a:ea typeface="Aptos"/>
              <a:cs typeface="Aptos"/>
              <a:sym typeface="Aptos"/>
            </a:endParaRPr>
          </a:p>
        </p:txBody>
      </p:sp>
      <p:sp>
        <p:nvSpPr>
          <p:cNvPr id="443" name="Google Shape;443;p45"/>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Bugün yarım bıraktığın bir görevi yeniden ele al.</a:t>
            </a:r>
            <a:endParaRPr b="1" sz="1200">
              <a:solidFill>
                <a:srgbClr val="FFFFFF"/>
              </a:solidFill>
              <a:latin typeface="Aptos"/>
              <a:ea typeface="Aptos"/>
              <a:cs typeface="Aptos"/>
              <a:sym typeface="Aptos"/>
            </a:endParaRPr>
          </a:p>
        </p:txBody>
      </p:sp>
      <p:sp>
        <p:nvSpPr>
          <p:cNvPr id="444" name="Google Shape;444;p45"/>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Sevgili Peygamberimizin Arkadaşları 6 — Mus’ab b. Umeyr</a:t>
            </a:r>
            <a:endParaRPr sz="700">
              <a:solidFill>
                <a:srgbClr val="737373"/>
              </a:solidFill>
              <a:latin typeface="Aptos"/>
              <a:ea typeface="Aptos"/>
              <a:cs typeface="Aptos"/>
              <a:sym typeface="Aptos"/>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46"/>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0" name="Google Shape;450;p46"/>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ORTAOKUL • SAHABE</a:t>
            </a:r>
            <a:endParaRPr b="1" sz="900">
              <a:solidFill>
                <a:srgbClr val="146B66"/>
              </a:solidFill>
              <a:latin typeface="Aptos"/>
              <a:ea typeface="Aptos"/>
              <a:cs typeface="Aptos"/>
              <a:sym typeface="Aptos"/>
            </a:endParaRPr>
          </a:p>
        </p:txBody>
      </p:sp>
      <p:sp>
        <p:nvSpPr>
          <p:cNvPr id="451" name="Google Shape;451;p46"/>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33 · Mus’ab — Şıklıktan Bir Parça Kumaşa</a:t>
            </a:r>
            <a:endParaRPr b="1" sz="2600">
              <a:solidFill>
                <a:srgbClr val="1F2E33"/>
              </a:solidFill>
              <a:latin typeface="Aptos Display"/>
              <a:ea typeface="Aptos Display"/>
              <a:cs typeface="Aptos Display"/>
              <a:sym typeface="Aptos Display"/>
            </a:endParaRPr>
          </a:p>
        </p:txBody>
      </p:sp>
      <p:sp>
        <p:nvSpPr>
          <p:cNvPr id="452" name="Google Shape;452;p46"/>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453" name="Google Shape;453;p46"/>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Mus’ab bir zamanlar Mekke’nin en şık giyinen, güzel kokular kullanan ve rahat yaşayan gençlerinden biri olarak tanınıyordu. İnsanlar onu görünüşünden hemen fark ederdi. İman ettikten sonra hayatındaki imkânların önemli bir kısmını geride bıraktı ve çok daha sade yaşamaya başladı. Yıllar sonra Uhud’da vefat ettiğinde bedenini tamamen örtecek kadar uzun bir kumaş bile bulunamadı. Hayatındaki bu büyük değişim, onun değerini azaltmadı. Tam tersine insanların onu kıyafetinden veya zenginliğinden değil, yaptığı tercihlerden hatırlamasına sebep oldu. İnsan değerinin marka ve gösterişten daha büyük olduğunu gösterdi.</a:t>
            </a:r>
            <a:endParaRPr sz="1350">
              <a:solidFill>
                <a:srgbClr val="292E30"/>
              </a:solidFill>
              <a:latin typeface="Aptos"/>
              <a:ea typeface="Aptos"/>
              <a:cs typeface="Aptos"/>
              <a:sym typeface="Aptos"/>
            </a:endParaRPr>
          </a:p>
        </p:txBody>
      </p:sp>
      <p:sp>
        <p:nvSpPr>
          <p:cNvPr id="454" name="Google Shape;454;p46"/>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İnsan değerini kıyafet, marka ve gösteriş belirlemez.</a:t>
            </a:r>
            <a:endParaRPr sz="1500">
              <a:solidFill>
                <a:srgbClr val="143333"/>
              </a:solidFill>
              <a:latin typeface="Aptos"/>
              <a:ea typeface="Aptos"/>
              <a:cs typeface="Aptos"/>
              <a:sym typeface="Aptos"/>
            </a:endParaRPr>
          </a:p>
        </p:txBody>
      </p:sp>
      <p:sp>
        <p:nvSpPr>
          <p:cNvPr id="455" name="Google Shape;455;p46"/>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Bugün birini görünüşüyle değerlendirmemeye özellikle dikkat et.</a:t>
            </a:r>
            <a:endParaRPr b="1" sz="1200">
              <a:solidFill>
                <a:srgbClr val="FFFFFF"/>
              </a:solidFill>
              <a:latin typeface="Aptos"/>
              <a:ea typeface="Aptos"/>
              <a:cs typeface="Aptos"/>
              <a:sym typeface="Aptos"/>
            </a:endParaRPr>
          </a:p>
        </p:txBody>
      </p:sp>
      <p:sp>
        <p:nvSpPr>
          <p:cNvPr id="456" name="Google Shape;456;p46"/>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Sevgili Peygamberimizin Arkadaşları 6 — Mus’ab b. Umeyr</a:t>
            </a:r>
            <a:endParaRPr sz="700">
              <a:solidFill>
                <a:srgbClr val="737373"/>
              </a:solidFill>
              <a:latin typeface="Aptos"/>
              <a:ea typeface="Aptos"/>
              <a:cs typeface="Aptos"/>
              <a:sym typeface="Aptos"/>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47"/>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2" name="Google Shape;462;p47"/>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ORTAOKUL • SAHABE</a:t>
            </a:r>
            <a:endParaRPr b="1" sz="900">
              <a:solidFill>
                <a:srgbClr val="146B66"/>
              </a:solidFill>
              <a:latin typeface="Aptos"/>
              <a:ea typeface="Aptos"/>
              <a:cs typeface="Aptos"/>
              <a:sym typeface="Aptos"/>
            </a:endParaRPr>
          </a:p>
        </p:txBody>
      </p:sp>
      <p:sp>
        <p:nvSpPr>
          <p:cNvPr id="463" name="Google Shape;463;p47"/>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34 · Hz. Hasan — Güzel Bir İsimle Başlamak</a:t>
            </a:r>
            <a:endParaRPr b="1" sz="2600">
              <a:solidFill>
                <a:srgbClr val="1F2E33"/>
              </a:solidFill>
              <a:latin typeface="Aptos Display"/>
              <a:ea typeface="Aptos Display"/>
              <a:cs typeface="Aptos Display"/>
              <a:sym typeface="Aptos Display"/>
            </a:endParaRPr>
          </a:p>
        </p:txBody>
      </p:sp>
      <p:sp>
        <p:nvSpPr>
          <p:cNvPr id="464" name="Google Shape;464;p47"/>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465" name="Google Shape;465;p47"/>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Hz. Hasan dünyaya geldiğinde Peygamberimiz onu büyük bir sevinç ve şefkatle karşıladı. Torununa güzel bir isim verdi, onu kucağına aldı ve yakınlık gösterdi. Daha küçücük bir bebeğin bile sevgiyle karşılanması onun için önemliydi. Çocuk henüz konuşamıyor veya sevgiyi cümlelerle anlatamıyor olsa da sıcak bir dokunuşu ve ilgiyi hissedebilirdi. Hz. Hasan böyle bir ilginin içinde büyümeye başladı. Bu davranış, çocuklara verilen değerin büyüyünce değil, hayatlarının ilk anlarından itibaren başlaması gerektiğini gösterdi.</a:t>
            </a:r>
            <a:endParaRPr sz="1350">
              <a:solidFill>
                <a:srgbClr val="292E30"/>
              </a:solidFill>
              <a:latin typeface="Aptos"/>
              <a:ea typeface="Aptos"/>
              <a:cs typeface="Aptos"/>
              <a:sym typeface="Aptos"/>
            </a:endParaRPr>
          </a:p>
        </p:txBody>
      </p:sp>
      <p:sp>
        <p:nvSpPr>
          <p:cNvPr id="466" name="Google Shape;466;p47"/>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Bir insana güzel sözle ve sevgiyle yaklaşmak, ilişkinin başlangıcını güzelleştirir.</a:t>
            </a:r>
            <a:endParaRPr sz="1500">
              <a:solidFill>
                <a:srgbClr val="143333"/>
              </a:solidFill>
              <a:latin typeface="Aptos"/>
              <a:ea typeface="Aptos"/>
              <a:cs typeface="Aptos"/>
              <a:sym typeface="Aptos"/>
            </a:endParaRPr>
          </a:p>
        </p:txBody>
      </p:sp>
      <p:sp>
        <p:nvSpPr>
          <p:cNvPr id="467" name="Google Shape;467;p47"/>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Bugün birine içten bir güzel söz söyle.</a:t>
            </a:r>
            <a:endParaRPr b="1" sz="1200">
              <a:solidFill>
                <a:srgbClr val="FFFFFF"/>
              </a:solidFill>
              <a:latin typeface="Aptos"/>
              <a:ea typeface="Aptos"/>
              <a:cs typeface="Aptos"/>
              <a:sym typeface="Aptos"/>
            </a:endParaRPr>
          </a:p>
        </p:txBody>
      </p:sp>
      <p:sp>
        <p:nvSpPr>
          <p:cNvPr id="468" name="Google Shape;468;p47"/>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Sevgili Peygamberimizin Arkadaşları 7 — Hz. Hasan ve Hz. Hüseyin</a:t>
            </a:r>
            <a:endParaRPr sz="700">
              <a:solidFill>
                <a:srgbClr val="737373"/>
              </a:solidFill>
              <a:latin typeface="Aptos"/>
              <a:ea typeface="Aptos"/>
              <a:cs typeface="Aptos"/>
              <a:sym typeface="Aptos"/>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48"/>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4" name="Google Shape;474;p48"/>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ORTAOKUL • SAHABE</a:t>
            </a:r>
            <a:endParaRPr b="1" sz="900">
              <a:solidFill>
                <a:srgbClr val="146B66"/>
              </a:solidFill>
              <a:latin typeface="Aptos"/>
              <a:ea typeface="Aptos"/>
              <a:cs typeface="Aptos"/>
              <a:sym typeface="Aptos"/>
            </a:endParaRPr>
          </a:p>
        </p:txBody>
      </p:sp>
      <p:sp>
        <p:nvSpPr>
          <p:cNvPr id="475" name="Google Shape;475;p48"/>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35 · Hz. Hasan ve Hüseyin — Dedelerine Koşmaları</a:t>
            </a:r>
            <a:endParaRPr b="1" sz="2600">
              <a:solidFill>
                <a:srgbClr val="1F2E33"/>
              </a:solidFill>
              <a:latin typeface="Aptos Display"/>
              <a:ea typeface="Aptos Display"/>
              <a:cs typeface="Aptos Display"/>
              <a:sym typeface="Aptos Display"/>
            </a:endParaRPr>
          </a:p>
        </p:txBody>
      </p:sp>
      <p:sp>
        <p:nvSpPr>
          <p:cNvPr id="476" name="Google Shape;476;p48"/>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477" name="Google Shape;477;p48"/>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Hz. Hasan ve Hz. Hüseyin Resûlullah’ın çok sevdiği torunlarıydı. Peygamberimiz onları gördüğünde kucağına alır, öper ve sevgisini açıkça gösterirdi. Onları omuzlarına aldığı, birlikte yürüdüğü ve torunları için dua ettiği birçok sahih rivayette nakledilir. Resûlullah’ın Hz. Hasan ve Hz. Hüseyin’e gösterdiği bu sevgi, çocuklara merhamet ve yakınlığın en güzel örneklerinden biri olarak hatırlanır.</a:t>
            </a:r>
            <a:endParaRPr sz="1350">
              <a:solidFill>
                <a:srgbClr val="292E30"/>
              </a:solidFill>
              <a:latin typeface="Aptos"/>
              <a:ea typeface="Aptos"/>
              <a:cs typeface="Aptos"/>
              <a:sym typeface="Aptos"/>
            </a:endParaRPr>
          </a:p>
        </p:txBody>
      </p:sp>
      <p:sp>
        <p:nvSpPr>
          <p:cNvPr id="478" name="Google Shape;478;p48"/>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Sevdiğim insanlara sevgimi göstermekten çekinmemeliyim.</a:t>
            </a:r>
            <a:endParaRPr sz="1500">
              <a:solidFill>
                <a:srgbClr val="143333"/>
              </a:solidFill>
              <a:latin typeface="Aptos"/>
              <a:ea typeface="Aptos"/>
              <a:cs typeface="Aptos"/>
              <a:sym typeface="Aptos"/>
            </a:endParaRPr>
          </a:p>
        </p:txBody>
      </p:sp>
      <p:sp>
        <p:nvSpPr>
          <p:cNvPr id="479" name="Google Shape;479;p48"/>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Bugün ailenden birine sevgini açıkça ifade et.</a:t>
            </a:r>
            <a:endParaRPr b="1" sz="1200">
              <a:solidFill>
                <a:srgbClr val="FFFFFF"/>
              </a:solidFill>
              <a:latin typeface="Aptos"/>
              <a:ea typeface="Aptos"/>
              <a:cs typeface="Aptos"/>
              <a:sym typeface="Aptos"/>
            </a:endParaRPr>
          </a:p>
        </p:txBody>
      </p:sp>
      <p:sp>
        <p:nvSpPr>
          <p:cNvPr id="480" name="Google Shape;480;p48"/>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Sevgili Peygamberimizin Arkadaşları 7 — Hz. Hasan ve Hz. Hüseyin</a:t>
            </a:r>
            <a:endParaRPr sz="700">
              <a:solidFill>
                <a:srgbClr val="737373"/>
              </a:solidFill>
              <a:latin typeface="Aptos"/>
              <a:ea typeface="Aptos"/>
              <a:cs typeface="Aptos"/>
              <a:sym typeface="Aptos"/>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49"/>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6" name="Google Shape;486;p49"/>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ORTAOKUL • SAHABE</a:t>
            </a:r>
            <a:endParaRPr b="1" sz="900">
              <a:solidFill>
                <a:srgbClr val="146B66"/>
              </a:solidFill>
              <a:latin typeface="Aptos"/>
              <a:ea typeface="Aptos"/>
              <a:cs typeface="Aptos"/>
              <a:sym typeface="Aptos"/>
            </a:endParaRPr>
          </a:p>
        </p:txBody>
      </p:sp>
      <p:sp>
        <p:nvSpPr>
          <p:cNvPr id="487" name="Google Shape;487;p49"/>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36 · Hz. Hasan ve Hüseyin — Oyun da Sevgidir</a:t>
            </a:r>
            <a:endParaRPr b="1" sz="2600">
              <a:solidFill>
                <a:srgbClr val="1F2E33"/>
              </a:solidFill>
              <a:latin typeface="Aptos Display"/>
              <a:ea typeface="Aptos Display"/>
              <a:cs typeface="Aptos Display"/>
              <a:sym typeface="Aptos Display"/>
            </a:endParaRPr>
          </a:p>
        </p:txBody>
      </p:sp>
      <p:sp>
        <p:nvSpPr>
          <p:cNvPr id="488" name="Google Shape;488;p49"/>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489" name="Google Shape;489;p49"/>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Resûlullah Hz. Hasan ve Hz. Hüseyin’le yakından ilgilenir, onları kucağına ve omuzlarına alırdı. Torunları onun yanında oyun oynar, bazen sırtına çıkar ve onunla neşeli vakit geçirirdi. Peygamberimiz çocukların bu davranışlarına şefkatle karşılık verirdi. Bu hatıralar, çocuklarla vakit geçirmenin ve onlara sevgiyi davranışla göstermenin sünnetteki güzel örneklerindendir.</a:t>
            </a:r>
            <a:endParaRPr sz="1350">
              <a:solidFill>
                <a:srgbClr val="292E30"/>
              </a:solidFill>
              <a:latin typeface="Aptos"/>
              <a:ea typeface="Aptos"/>
              <a:cs typeface="Aptos"/>
              <a:sym typeface="Aptos"/>
            </a:endParaRPr>
          </a:p>
        </p:txBody>
      </p:sp>
      <p:sp>
        <p:nvSpPr>
          <p:cNvPr id="490" name="Google Shape;490;p49"/>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Küçüklerle vakit geçirmek değersiz bir iş değildir.</a:t>
            </a:r>
            <a:endParaRPr sz="1500">
              <a:solidFill>
                <a:srgbClr val="143333"/>
              </a:solidFill>
              <a:latin typeface="Aptos"/>
              <a:ea typeface="Aptos"/>
              <a:cs typeface="Aptos"/>
              <a:sym typeface="Aptos"/>
            </a:endParaRPr>
          </a:p>
        </p:txBody>
      </p:sp>
      <p:sp>
        <p:nvSpPr>
          <p:cNvPr id="491" name="Google Shape;491;p49"/>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Bugün senden küçük biriyle on dakika gerçekten ilgilen.</a:t>
            </a:r>
            <a:endParaRPr b="1" sz="1200">
              <a:solidFill>
                <a:srgbClr val="FFFFFF"/>
              </a:solidFill>
              <a:latin typeface="Aptos"/>
              <a:ea typeface="Aptos"/>
              <a:cs typeface="Aptos"/>
              <a:sym typeface="Aptos"/>
            </a:endParaRPr>
          </a:p>
        </p:txBody>
      </p:sp>
      <p:sp>
        <p:nvSpPr>
          <p:cNvPr id="492" name="Google Shape;492;p49"/>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Sevgili Peygamberimizin Arkadaşları 7 — Hz. Hasan ve Hz. Hüseyin</a:t>
            </a:r>
            <a:endParaRPr sz="700">
              <a:solidFill>
                <a:srgbClr val="737373"/>
              </a:solidFill>
              <a:latin typeface="Aptos"/>
              <a:ea typeface="Aptos"/>
              <a:cs typeface="Aptos"/>
              <a:sym typeface="Aptos"/>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50"/>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8" name="Google Shape;498;p50"/>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ORTAOKUL • SAHABE</a:t>
            </a:r>
            <a:endParaRPr b="1" sz="900">
              <a:solidFill>
                <a:srgbClr val="146B66"/>
              </a:solidFill>
              <a:latin typeface="Aptos"/>
              <a:ea typeface="Aptos"/>
              <a:cs typeface="Aptos"/>
              <a:sym typeface="Aptos"/>
            </a:endParaRPr>
          </a:p>
        </p:txBody>
      </p:sp>
      <p:sp>
        <p:nvSpPr>
          <p:cNvPr id="499" name="Google Shape;499;p50"/>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37 · Hz. Hasan ve Hüseyin — Namazda Çocuklara Sabır</a:t>
            </a:r>
            <a:endParaRPr b="1" sz="2600">
              <a:solidFill>
                <a:srgbClr val="1F2E33"/>
              </a:solidFill>
              <a:latin typeface="Aptos Display"/>
              <a:ea typeface="Aptos Display"/>
              <a:cs typeface="Aptos Display"/>
              <a:sym typeface="Aptos Display"/>
            </a:endParaRPr>
          </a:p>
        </p:txBody>
      </p:sp>
      <p:sp>
        <p:nvSpPr>
          <p:cNvPr id="500" name="Google Shape;500;p50"/>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501" name="Google Shape;501;p50"/>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Hz. Hasan veya Hz. Hüseyin küçük yaşlardayken bazen Peygamberimiz namazda secdedeyken onun sırtına çıkardı. Bir yetişkin için bu durum namazın ortasında beklenmedik bir hareket olabilirdi. Peygamberimiz çocuğu korkutarak veya sertçe indirerek tepki vermezdi. Secdesini biraz uzatır ve çocuğun kendiliğinden inmesini beklerdi. Sonra namazına devam ederdi. Böylece ibadetin ciddiyetini korurken çocuğun kalbini de kırmamış olurdu. Bu olay, önemli bir işle meşgulken bile merhametin unutulmaması gerektiğini gösterdi.</a:t>
            </a:r>
            <a:endParaRPr sz="1350">
              <a:solidFill>
                <a:srgbClr val="292E30"/>
              </a:solidFill>
              <a:latin typeface="Aptos"/>
              <a:ea typeface="Aptos"/>
              <a:cs typeface="Aptos"/>
              <a:sym typeface="Aptos"/>
            </a:endParaRPr>
          </a:p>
        </p:txBody>
      </p:sp>
      <p:sp>
        <p:nvSpPr>
          <p:cNvPr id="502" name="Google Shape;502;p50"/>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İbadet ederken bile başkasına kırıcı davranmamalıyım.</a:t>
            </a:r>
            <a:endParaRPr sz="1500">
              <a:solidFill>
                <a:srgbClr val="143333"/>
              </a:solidFill>
              <a:latin typeface="Aptos"/>
              <a:ea typeface="Aptos"/>
              <a:cs typeface="Aptos"/>
              <a:sym typeface="Aptos"/>
            </a:endParaRPr>
          </a:p>
        </p:txBody>
      </p:sp>
      <p:sp>
        <p:nvSpPr>
          <p:cNvPr id="503" name="Google Shape;503;p50"/>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Bugün seni bölen birine sert çıkmadan cevap vermeyi dene.</a:t>
            </a:r>
            <a:endParaRPr b="1" sz="1200">
              <a:solidFill>
                <a:srgbClr val="FFFFFF"/>
              </a:solidFill>
              <a:latin typeface="Aptos"/>
              <a:ea typeface="Aptos"/>
              <a:cs typeface="Aptos"/>
              <a:sym typeface="Aptos"/>
            </a:endParaRPr>
          </a:p>
        </p:txBody>
      </p:sp>
      <p:sp>
        <p:nvSpPr>
          <p:cNvPr id="504" name="Google Shape;504;p50"/>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Sevgili Peygamberimizin Arkadaşları 7 — Hz. Hasan ve Hz. Hüseyin</a:t>
            </a:r>
            <a:endParaRPr sz="700">
              <a:solidFill>
                <a:srgbClr val="737373"/>
              </a:solidFill>
              <a:latin typeface="Aptos"/>
              <a:ea typeface="Aptos"/>
              <a:cs typeface="Aptos"/>
              <a:sym typeface="Aptos"/>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51"/>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0" name="Google Shape;510;p51"/>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ORTAOKUL • SAHABE</a:t>
            </a:r>
            <a:endParaRPr b="1" sz="900">
              <a:solidFill>
                <a:srgbClr val="146B66"/>
              </a:solidFill>
              <a:latin typeface="Aptos"/>
              <a:ea typeface="Aptos"/>
              <a:cs typeface="Aptos"/>
              <a:sym typeface="Aptos"/>
            </a:endParaRPr>
          </a:p>
        </p:txBody>
      </p:sp>
      <p:sp>
        <p:nvSpPr>
          <p:cNvPr id="511" name="Google Shape;511;p51"/>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38 · Hz. Hasan ve Hüseyin — Hutbeye Ara Veren Dede</a:t>
            </a:r>
            <a:endParaRPr b="1" sz="2600">
              <a:solidFill>
                <a:srgbClr val="1F2E33"/>
              </a:solidFill>
              <a:latin typeface="Aptos Display"/>
              <a:ea typeface="Aptos Display"/>
              <a:cs typeface="Aptos Display"/>
              <a:sym typeface="Aptos Display"/>
            </a:endParaRPr>
          </a:p>
        </p:txBody>
      </p:sp>
      <p:sp>
        <p:nvSpPr>
          <p:cNvPr id="512" name="Google Shape;512;p51"/>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513" name="Google Shape;513;p51"/>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Peygamberimiz minberde kalabalığa hitap ederken küçük torunlarının düşe kalka yürüdüğünü gördü. Herkes onu dinliyordu ve konuşma önemliydi. Fakat çocukların zorlandığını fark edince gözünü onlardan çevirmedi. Sözünü kısa süre durdurdu, aşağı indi ve ikisini kucağına aldı. Ardından onlarla birlikte yerine dönerek konuşmasına devam etti. Kalabalığın önünde olmak, çocukların ihtiyacını görmezden gelmesine sebep olmadı. Böylece önemli işler yaparken bile yakınımızdaki küçük bir ihtiyacı fark etmenin değerini gösterdi.</a:t>
            </a:r>
            <a:endParaRPr sz="1350">
              <a:solidFill>
                <a:srgbClr val="292E30"/>
              </a:solidFill>
              <a:latin typeface="Aptos"/>
              <a:ea typeface="Aptos"/>
              <a:cs typeface="Aptos"/>
              <a:sym typeface="Aptos"/>
            </a:endParaRPr>
          </a:p>
        </p:txBody>
      </p:sp>
      <p:sp>
        <p:nvSpPr>
          <p:cNvPr id="514" name="Google Shape;514;p51"/>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Önemli işler, sevgi ve merhameti unutmamı gerektirmez.</a:t>
            </a:r>
            <a:endParaRPr sz="1500">
              <a:solidFill>
                <a:srgbClr val="143333"/>
              </a:solidFill>
              <a:latin typeface="Aptos"/>
              <a:ea typeface="Aptos"/>
              <a:cs typeface="Aptos"/>
              <a:sym typeface="Aptos"/>
            </a:endParaRPr>
          </a:p>
        </p:txBody>
      </p:sp>
      <p:sp>
        <p:nvSpPr>
          <p:cNvPr id="515" name="Google Shape;515;p51"/>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Yoğun olduğun bir anda senden ilgi bekleyen birine vakit ayır.</a:t>
            </a:r>
            <a:endParaRPr b="1" sz="1200">
              <a:solidFill>
                <a:srgbClr val="FFFFFF"/>
              </a:solidFill>
              <a:latin typeface="Aptos"/>
              <a:ea typeface="Aptos"/>
              <a:cs typeface="Aptos"/>
              <a:sym typeface="Aptos"/>
            </a:endParaRPr>
          </a:p>
        </p:txBody>
      </p:sp>
      <p:sp>
        <p:nvSpPr>
          <p:cNvPr id="516" name="Google Shape;516;p51"/>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Sevgili Peygamberimizin Arkadaşları 7 — Hz. Hasan ve Hz. Hüseyin</a:t>
            </a:r>
            <a:endParaRPr sz="700">
              <a:solidFill>
                <a:srgbClr val="737373"/>
              </a:solidFill>
              <a:latin typeface="Aptos"/>
              <a:ea typeface="Aptos"/>
              <a:cs typeface="Aptos"/>
              <a:sym typeface="Aptos"/>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52"/>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2" name="Google Shape;522;p52"/>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ORTAOKUL • SAHABE</a:t>
            </a:r>
            <a:endParaRPr b="1" sz="900">
              <a:solidFill>
                <a:srgbClr val="146B66"/>
              </a:solidFill>
              <a:latin typeface="Aptos"/>
              <a:ea typeface="Aptos"/>
              <a:cs typeface="Aptos"/>
              <a:sym typeface="Aptos"/>
            </a:endParaRPr>
          </a:p>
        </p:txBody>
      </p:sp>
      <p:sp>
        <p:nvSpPr>
          <p:cNvPr id="523" name="Google Shape;523;p52"/>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39 · Hz. Hasan — Dedemden Öğrendiğim Dua</a:t>
            </a:r>
            <a:endParaRPr b="1" sz="2600">
              <a:solidFill>
                <a:srgbClr val="1F2E33"/>
              </a:solidFill>
              <a:latin typeface="Aptos Display"/>
              <a:ea typeface="Aptos Display"/>
              <a:cs typeface="Aptos Display"/>
              <a:sym typeface="Aptos Display"/>
            </a:endParaRPr>
          </a:p>
        </p:txBody>
      </p:sp>
      <p:sp>
        <p:nvSpPr>
          <p:cNvPr id="524" name="Google Shape;524;p52"/>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525" name="Google Shape;525;p52"/>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Hz. Hasan, Resûlullah’ın kendisine vitir namazında okuyabileceği bir dua öğrettiğini anlatır. Peygamberimiz ona Allah’tan hidayet, afiyet, bereket ve korunma istemeyi öğreten güzel dua cümleleri söyledi. Hz. Hasan bu duayı ezberledi ve sonraki nesillere aktardı. Böylece dedesinden küçük yaşta öğrendiği bir dua, bugün de Müslümanların okuduğu dualardan biri olarak yaşamaya devam etti.</a:t>
            </a:r>
            <a:endParaRPr sz="1350">
              <a:solidFill>
                <a:srgbClr val="292E30"/>
              </a:solidFill>
              <a:latin typeface="Aptos"/>
              <a:ea typeface="Aptos"/>
              <a:cs typeface="Aptos"/>
              <a:sym typeface="Aptos"/>
            </a:endParaRPr>
          </a:p>
        </p:txBody>
      </p:sp>
      <p:sp>
        <p:nvSpPr>
          <p:cNvPr id="526" name="Google Shape;526;p52"/>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Güzel bir duayı öğrenip anlamını bilerek okumak değerli bir alışkanlıktır.</a:t>
            </a:r>
            <a:endParaRPr sz="1500">
              <a:solidFill>
                <a:srgbClr val="143333"/>
              </a:solidFill>
              <a:latin typeface="Aptos"/>
              <a:ea typeface="Aptos"/>
              <a:cs typeface="Aptos"/>
              <a:sym typeface="Aptos"/>
            </a:endParaRPr>
          </a:p>
        </p:txBody>
      </p:sp>
      <p:sp>
        <p:nvSpPr>
          <p:cNvPr id="527" name="Google Shape;527;p52"/>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Bu hafta vitir duasının Türkçe anlamını öğren ve bir bölümünü ezberlemeye çalış.</a:t>
            </a:r>
            <a:endParaRPr b="1" sz="1200">
              <a:solidFill>
                <a:srgbClr val="FFFFFF"/>
              </a:solidFill>
              <a:latin typeface="Aptos"/>
              <a:ea typeface="Aptos"/>
              <a:cs typeface="Aptos"/>
              <a:sym typeface="Aptos"/>
            </a:endParaRPr>
          </a:p>
        </p:txBody>
      </p:sp>
      <p:sp>
        <p:nvSpPr>
          <p:cNvPr id="528" name="Google Shape;528;p52"/>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Tirmizî 464; Nesâî 1746 — Hz. Hasan’a öğretilen vitir duası</a:t>
            </a:r>
            <a:endParaRPr sz="700">
              <a:solidFill>
                <a:srgbClr val="737373"/>
              </a:solidFill>
              <a:latin typeface="Aptos"/>
              <a:ea typeface="Aptos"/>
              <a:cs typeface="Aptos"/>
              <a:sym typeface="Aptos"/>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53"/>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4" name="Google Shape;534;p53"/>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ORTAOKUL • SAHABE</a:t>
            </a:r>
            <a:endParaRPr b="1" sz="900">
              <a:solidFill>
                <a:srgbClr val="146B66"/>
              </a:solidFill>
              <a:latin typeface="Aptos"/>
              <a:ea typeface="Aptos"/>
              <a:cs typeface="Aptos"/>
              <a:sym typeface="Aptos"/>
            </a:endParaRPr>
          </a:p>
        </p:txBody>
      </p:sp>
      <p:sp>
        <p:nvSpPr>
          <p:cNvPr id="535" name="Google Shape;535;p53"/>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40 · Hz. Hasan — Küçük Yaşta Helâl Hassasiyeti</a:t>
            </a:r>
            <a:endParaRPr b="1" sz="2600">
              <a:solidFill>
                <a:srgbClr val="1F2E33"/>
              </a:solidFill>
              <a:latin typeface="Aptos Display"/>
              <a:ea typeface="Aptos Display"/>
              <a:cs typeface="Aptos Display"/>
              <a:sym typeface="Aptos Display"/>
            </a:endParaRPr>
          </a:p>
        </p:txBody>
      </p:sp>
      <p:sp>
        <p:nvSpPr>
          <p:cNvPr id="536" name="Google Shape;536;p53"/>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537" name="Google Shape;537;p53"/>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Hz. Hasan henüz küçük bir çocukken sadaka olarak getirilen hurmalardan birini alıp ağzına koydu. Resûlullah bunu görünce hurmayı ağzından çıkarmasını istedi ve kendi ailesinin sadaka malından yemediğini ona öğretti. Hz. Hasan böylece küçük yaşta helâl-haram sınırlarından birini doğrudan Peygamberimizden öğrenmiş oldu. Bu sahih rivayet, çocuklara dinî hassasiyetlerin sevgiyle ve açık biçimde öğretilebileceğini gösteren güzel bir hatıradır.</a:t>
            </a:r>
            <a:endParaRPr sz="1350">
              <a:solidFill>
                <a:srgbClr val="292E30"/>
              </a:solidFill>
              <a:latin typeface="Aptos"/>
              <a:ea typeface="Aptos"/>
              <a:cs typeface="Aptos"/>
              <a:sym typeface="Aptos"/>
            </a:endParaRPr>
          </a:p>
        </p:txBody>
      </p:sp>
      <p:sp>
        <p:nvSpPr>
          <p:cNvPr id="538" name="Google Shape;538;p53"/>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Doğru ve yanlış konusunda küçük yaşta öğrendiğim ölçülere dikkat etmeliyim.</a:t>
            </a:r>
            <a:endParaRPr sz="1500">
              <a:solidFill>
                <a:srgbClr val="143333"/>
              </a:solidFill>
              <a:latin typeface="Aptos"/>
              <a:ea typeface="Aptos"/>
              <a:cs typeface="Aptos"/>
              <a:sym typeface="Aptos"/>
            </a:endParaRPr>
          </a:p>
        </p:txBody>
      </p:sp>
      <p:sp>
        <p:nvSpPr>
          <p:cNvPr id="539" name="Google Shape;539;p53"/>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Bugün yediğin veya kullandığın bir şeyin helâl ve doğru olup olmadığına dikkat et.</a:t>
            </a:r>
            <a:endParaRPr b="1" sz="1200">
              <a:solidFill>
                <a:srgbClr val="FFFFFF"/>
              </a:solidFill>
              <a:latin typeface="Aptos"/>
              <a:ea typeface="Aptos"/>
              <a:cs typeface="Aptos"/>
              <a:sym typeface="Aptos"/>
            </a:endParaRPr>
          </a:p>
        </p:txBody>
      </p:sp>
      <p:sp>
        <p:nvSpPr>
          <p:cNvPr id="540" name="Google Shape;540;p53"/>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Buhârî 1491; Müslim 1069 — Hz. Hasan’ın sadaka hurması</a:t>
            </a:r>
            <a:endParaRPr sz="700">
              <a:solidFill>
                <a:srgbClr val="737373"/>
              </a:solidFill>
              <a:latin typeface="Aptos"/>
              <a:ea typeface="Aptos"/>
              <a:cs typeface="Aptos"/>
              <a:sym typeface="Aptos"/>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54"/>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6" name="Google Shape;546;p54"/>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ORTAOKUL • SAHABE</a:t>
            </a:r>
            <a:endParaRPr b="1" sz="900">
              <a:solidFill>
                <a:srgbClr val="146B66"/>
              </a:solidFill>
              <a:latin typeface="Aptos"/>
              <a:ea typeface="Aptos"/>
              <a:cs typeface="Aptos"/>
              <a:sym typeface="Aptos"/>
            </a:endParaRPr>
          </a:p>
        </p:txBody>
      </p:sp>
      <p:sp>
        <p:nvSpPr>
          <p:cNvPr id="547" name="Google Shape;547;p54"/>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41 · Hz. Hamza — Sevdiğini Savunmak</a:t>
            </a:r>
            <a:endParaRPr b="1" sz="2600">
              <a:solidFill>
                <a:srgbClr val="1F2E33"/>
              </a:solidFill>
              <a:latin typeface="Aptos Display"/>
              <a:ea typeface="Aptos Display"/>
              <a:cs typeface="Aptos Display"/>
              <a:sym typeface="Aptos Display"/>
            </a:endParaRPr>
          </a:p>
        </p:txBody>
      </p:sp>
      <p:sp>
        <p:nvSpPr>
          <p:cNvPr id="548" name="Google Shape;548;p54"/>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549" name="Google Shape;549;p54"/>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Hz. Hamza avdan döndüğünde Ebû Cehil’in Resûlullah’a ağır hakaret ettiğini öğrendi. Doğruca Kâbe’ye giderek Ebû Cehil’e karşı çıktı ve yayıyla ona vurdu. Ardından açıkça Resûlullah’ın dinini benimsediğini söyledi. Bu olaydan sonra Hz. Hamza’nın Müslüman oluşu Mekke’de duyuldu. Onun İslâm’a katılması, Resûlullah’a ve ilk Müslümanlara önemli bir güç ve koruma sağladı.</a:t>
            </a:r>
            <a:endParaRPr sz="1350">
              <a:solidFill>
                <a:srgbClr val="292E30"/>
              </a:solidFill>
              <a:latin typeface="Aptos"/>
              <a:ea typeface="Aptos"/>
              <a:cs typeface="Aptos"/>
              <a:sym typeface="Aptos"/>
            </a:endParaRPr>
          </a:p>
        </p:txBody>
      </p:sp>
      <p:sp>
        <p:nvSpPr>
          <p:cNvPr id="550" name="Google Shape;550;p54"/>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Arkadaşım haksızlığa uğradığında seyirci olmamalıyım.</a:t>
            </a:r>
            <a:endParaRPr sz="1500">
              <a:solidFill>
                <a:srgbClr val="143333"/>
              </a:solidFill>
              <a:latin typeface="Aptos"/>
              <a:ea typeface="Aptos"/>
              <a:cs typeface="Aptos"/>
              <a:sym typeface="Aptos"/>
            </a:endParaRPr>
          </a:p>
        </p:txBody>
      </p:sp>
      <p:sp>
        <p:nvSpPr>
          <p:cNvPr id="551" name="Google Shape;551;p54"/>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Bugün alay edilen birinin yanında dur.</a:t>
            </a:r>
            <a:endParaRPr b="1" sz="1200">
              <a:solidFill>
                <a:srgbClr val="FFFFFF"/>
              </a:solidFill>
              <a:latin typeface="Aptos"/>
              <a:ea typeface="Aptos"/>
              <a:cs typeface="Aptos"/>
              <a:sym typeface="Aptos"/>
            </a:endParaRPr>
          </a:p>
        </p:txBody>
      </p:sp>
      <p:sp>
        <p:nvSpPr>
          <p:cNvPr id="552" name="Google Shape;552;p54"/>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Sevgili Peygamberimizin Arkadaşları 8 — Hz. Hamza</a:t>
            </a:r>
            <a:endParaRPr sz="700">
              <a:solidFill>
                <a:srgbClr val="737373"/>
              </a:solidFill>
              <a:latin typeface="Aptos"/>
              <a:ea typeface="Aptos"/>
              <a:cs typeface="Aptos"/>
              <a:sym typeface="Aptos"/>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55"/>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8" name="Google Shape;558;p55"/>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ORTAOKUL • SAHABE</a:t>
            </a:r>
            <a:endParaRPr b="1" sz="900">
              <a:solidFill>
                <a:srgbClr val="146B66"/>
              </a:solidFill>
              <a:latin typeface="Aptos"/>
              <a:ea typeface="Aptos"/>
              <a:cs typeface="Aptos"/>
              <a:sym typeface="Aptos"/>
            </a:endParaRPr>
          </a:p>
        </p:txBody>
      </p:sp>
      <p:sp>
        <p:nvSpPr>
          <p:cNvPr id="559" name="Google Shape;559;p55"/>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42 · Hz. Hamza — İmanını Bilinçle Benimsemek</a:t>
            </a:r>
            <a:endParaRPr b="1" sz="2600">
              <a:solidFill>
                <a:srgbClr val="1F2E33"/>
              </a:solidFill>
              <a:latin typeface="Aptos Display"/>
              <a:ea typeface="Aptos Display"/>
              <a:cs typeface="Aptos Display"/>
              <a:sym typeface="Aptos Display"/>
            </a:endParaRPr>
          </a:p>
        </p:txBody>
      </p:sp>
      <p:sp>
        <p:nvSpPr>
          <p:cNvPr id="560" name="Google Shape;560;p55"/>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561" name="Google Shape;561;p55"/>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Siyer kaynaklarında, Hz. Hamza’nın Ebû Cehil hadisesinden sonra söylediği söz üzerinde ciddi biçimde düşündüğü ve Allah’tan kendisine doğruyu göstermesini dilediği nakledilir. Daha sonra Resûlullah’ın yanına gidip onunla konuştu ve İslâm’a bağlılığını kesin biçimde ortaya koydu. Bundan sonraki hayatında Resûlullah’ın yanında yer aldı ve İslâm uğrunda büyük fedakârlıklar gösterdi. Böylece ilk anda gerçekleşen hadise, kalıcı ve güçlü bir iman hayatıyla devam etti.</a:t>
            </a:r>
            <a:endParaRPr sz="1350">
              <a:solidFill>
                <a:srgbClr val="292E30"/>
              </a:solidFill>
              <a:latin typeface="Aptos"/>
              <a:ea typeface="Aptos"/>
              <a:cs typeface="Aptos"/>
              <a:sym typeface="Aptos"/>
            </a:endParaRPr>
          </a:p>
        </p:txBody>
      </p:sp>
      <p:sp>
        <p:nvSpPr>
          <p:cNvPr id="562" name="Google Shape;562;p55"/>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Önemli bir karar verirken hakikati düşünüp bilinçli biçimde benimsemek değerlidir.</a:t>
            </a:r>
            <a:endParaRPr sz="1500">
              <a:solidFill>
                <a:srgbClr val="143333"/>
              </a:solidFill>
              <a:latin typeface="Aptos"/>
              <a:ea typeface="Aptos"/>
              <a:cs typeface="Aptos"/>
              <a:sym typeface="Aptos"/>
            </a:endParaRPr>
          </a:p>
        </p:txBody>
      </p:sp>
      <p:sp>
        <p:nvSpPr>
          <p:cNvPr id="563" name="Google Shape;563;p55"/>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Bugün kızdığın bir konuda “Doğru olan ne?” diye kendine sor.</a:t>
            </a:r>
            <a:endParaRPr b="1" sz="1200">
              <a:solidFill>
                <a:srgbClr val="FFFFFF"/>
              </a:solidFill>
              <a:latin typeface="Aptos"/>
              <a:ea typeface="Aptos"/>
              <a:cs typeface="Aptos"/>
              <a:sym typeface="Aptos"/>
            </a:endParaRPr>
          </a:p>
        </p:txBody>
      </p:sp>
      <p:sp>
        <p:nvSpPr>
          <p:cNvPr id="564" name="Google Shape;564;p55"/>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Sevgili Peygamberimizin Arkadaşları 8 — Hz. Hamza</a:t>
            </a:r>
            <a:endParaRPr sz="700">
              <a:solidFill>
                <a:srgbClr val="737373"/>
              </a:solidFill>
              <a:latin typeface="Aptos"/>
              <a:ea typeface="Aptos"/>
              <a:cs typeface="Aptos"/>
              <a:sym typeface="Aptos"/>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56"/>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0" name="Google Shape;570;p56"/>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ORTAOKUL • SAHABE</a:t>
            </a:r>
            <a:endParaRPr b="1" sz="900">
              <a:solidFill>
                <a:srgbClr val="146B66"/>
              </a:solidFill>
              <a:latin typeface="Aptos"/>
              <a:ea typeface="Aptos"/>
              <a:cs typeface="Aptos"/>
              <a:sym typeface="Aptos"/>
            </a:endParaRPr>
          </a:p>
        </p:txBody>
      </p:sp>
      <p:sp>
        <p:nvSpPr>
          <p:cNvPr id="571" name="Google Shape;571;p56"/>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43 · Hz. Hamza — Gücünü Korumaya Çevirmek</a:t>
            </a:r>
            <a:endParaRPr b="1" sz="2600">
              <a:solidFill>
                <a:srgbClr val="1F2E33"/>
              </a:solidFill>
              <a:latin typeface="Aptos Display"/>
              <a:ea typeface="Aptos Display"/>
              <a:cs typeface="Aptos Display"/>
              <a:sym typeface="Aptos Display"/>
            </a:endParaRPr>
          </a:p>
        </p:txBody>
      </p:sp>
      <p:sp>
        <p:nvSpPr>
          <p:cNvPr id="572" name="Google Shape;572;p56"/>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573" name="Google Shape;573;p56"/>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Hz. Hamza cesareti ve kuvvetiyle tanınan biriydi. Müslüman olduktan sonra Resûlullah’ın ve ilk Müslümanların yanında açıkça yer aldı. Kureyş, onun İslâm’a katılmasından sonra Resûlullah’a karşı davranışlarında daha temkinli olmak zorunda kaldı. Hz. Hamza daha sonra Medine’de de İslâm toplumunun önemli isimlerinden ve kumandanlarından biri oldu. Onun cesareti, müminlere güven veren güçlü bir destek hâline geldi.</a:t>
            </a:r>
            <a:endParaRPr sz="1350">
              <a:solidFill>
                <a:srgbClr val="292E30"/>
              </a:solidFill>
              <a:latin typeface="Aptos"/>
              <a:ea typeface="Aptos"/>
              <a:cs typeface="Aptos"/>
              <a:sym typeface="Aptos"/>
            </a:endParaRPr>
          </a:p>
        </p:txBody>
      </p:sp>
      <p:sp>
        <p:nvSpPr>
          <p:cNvPr id="574" name="Google Shape;574;p56"/>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Yeteneklerimi iyi amaçlar için kullanmalıyım.</a:t>
            </a:r>
            <a:endParaRPr sz="1500">
              <a:solidFill>
                <a:srgbClr val="143333"/>
              </a:solidFill>
              <a:latin typeface="Aptos"/>
              <a:ea typeface="Aptos"/>
              <a:cs typeface="Aptos"/>
              <a:sym typeface="Aptos"/>
            </a:endParaRPr>
          </a:p>
        </p:txBody>
      </p:sp>
      <p:sp>
        <p:nvSpPr>
          <p:cNvPr id="575" name="Google Shape;575;p56"/>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En güçlü olduğun yönünü bugün birine fayda sağlamak için kullan.</a:t>
            </a:r>
            <a:endParaRPr b="1" sz="1200">
              <a:solidFill>
                <a:srgbClr val="FFFFFF"/>
              </a:solidFill>
              <a:latin typeface="Aptos"/>
              <a:ea typeface="Aptos"/>
              <a:cs typeface="Aptos"/>
              <a:sym typeface="Aptos"/>
            </a:endParaRPr>
          </a:p>
        </p:txBody>
      </p:sp>
      <p:sp>
        <p:nvSpPr>
          <p:cNvPr id="576" name="Google Shape;576;p56"/>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Sevgili Peygamberimizin Arkadaşları 8 — Hz. Hamza</a:t>
            </a:r>
            <a:endParaRPr sz="700">
              <a:solidFill>
                <a:srgbClr val="737373"/>
              </a:solidFill>
              <a:latin typeface="Aptos"/>
              <a:ea typeface="Aptos"/>
              <a:cs typeface="Aptos"/>
              <a:sym typeface="Aptos"/>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57"/>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2" name="Google Shape;582;p57"/>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ORTAOKUL • SAHABE</a:t>
            </a:r>
            <a:endParaRPr b="1" sz="900">
              <a:solidFill>
                <a:srgbClr val="146B66"/>
              </a:solidFill>
              <a:latin typeface="Aptos"/>
              <a:ea typeface="Aptos"/>
              <a:cs typeface="Aptos"/>
              <a:sym typeface="Aptos"/>
            </a:endParaRPr>
          </a:p>
        </p:txBody>
      </p:sp>
      <p:sp>
        <p:nvSpPr>
          <p:cNvPr id="583" name="Google Shape;583;p57"/>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44 · Hz. Hamza — Uhud’a Kadar Sadakat</a:t>
            </a:r>
            <a:endParaRPr b="1" sz="2600">
              <a:solidFill>
                <a:srgbClr val="1F2E33"/>
              </a:solidFill>
              <a:latin typeface="Aptos Display"/>
              <a:ea typeface="Aptos Display"/>
              <a:cs typeface="Aptos Display"/>
              <a:sym typeface="Aptos Display"/>
            </a:endParaRPr>
          </a:p>
        </p:txBody>
      </p:sp>
      <p:sp>
        <p:nvSpPr>
          <p:cNvPr id="584" name="Google Shape;584;p57"/>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585" name="Google Shape;585;p57"/>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Hz. Hamza Uhud Gazvesi’nde Müslüman ordusunun en cesur savaşçılarından biri olarak mücadele etti. Savaş sırasında Vahşî’nin attığı mızrakla şehid oldu. Resûlullah amcasının şehadetine çok üzüldü. Hz. Hamza, İslâm’ı kabul ettiği günden Uhud’daki şehadetine kadar Resûlullah’ın yanında gösterdiği cesaret ve sadakatle “şehidlerin efendisi” olarak anılan büyük sahabilerden biri oldu.</a:t>
            </a:r>
            <a:endParaRPr sz="1350">
              <a:solidFill>
                <a:srgbClr val="292E30"/>
              </a:solidFill>
              <a:latin typeface="Aptos"/>
              <a:ea typeface="Aptos"/>
              <a:cs typeface="Aptos"/>
              <a:sym typeface="Aptos"/>
            </a:endParaRPr>
          </a:p>
        </p:txBody>
      </p:sp>
      <p:sp>
        <p:nvSpPr>
          <p:cNvPr id="586" name="Google Shape;586;p57"/>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Bir değeri benimsemek yalnız konuşmak değildir.</a:t>
            </a:r>
            <a:endParaRPr sz="1500">
              <a:solidFill>
                <a:srgbClr val="143333"/>
              </a:solidFill>
              <a:latin typeface="Aptos"/>
              <a:ea typeface="Aptos"/>
              <a:cs typeface="Aptos"/>
              <a:sym typeface="Aptos"/>
            </a:endParaRPr>
          </a:p>
        </p:txBody>
      </p:sp>
      <p:sp>
        <p:nvSpPr>
          <p:cNvPr id="587" name="Google Shape;587;p57"/>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Bugün savunduğun bir değeri küçük bir davranışla göster.</a:t>
            </a:r>
            <a:endParaRPr b="1" sz="1200">
              <a:solidFill>
                <a:srgbClr val="FFFFFF"/>
              </a:solidFill>
              <a:latin typeface="Aptos"/>
              <a:ea typeface="Aptos"/>
              <a:cs typeface="Aptos"/>
              <a:sym typeface="Aptos"/>
            </a:endParaRPr>
          </a:p>
        </p:txBody>
      </p:sp>
      <p:sp>
        <p:nvSpPr>
          <p:cNvPr id="588" name="Google Shape;588;p57"/>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Sevgili Peygamberimizin Arkadaşları 8 — Hz. Hamza</a:t>
            </a:r>
            <a:endParaRPr sz="700">
              <a:solidFill>
                <a:srgbClr val="737373"/>
              </a:solidFill>
              <a:latin typeface="Aptos"/>
              <a:ea typeface="Aptos"/>
              <a:cs typeface="Aptos"/>
              <a:sym typeface="Aptos"/>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58"/>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4" name="Google Shape;594;p58"/>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ORTAOKUL • SAHABE</a:t>
            </a:r>
            <a:endParaRPr b="1" sz="900">
              <a:solidFill>
                <a:srgbClr val="146B66"/>
              </a:solidFill>
              <a:latin typeface="Aptos"/>
              <a:ea typeface="Aptos"/>
              <a:cs typeface="Aptos"/>
              <a:sym typeface="Aptos"/>
            </a:endParaRPr>
          </a:p>
        </p:txBody>
      </p:sp>
      <p:sp>
        <p:nvSpPr>
          <p:cNvPr id="595" name="Google Shape;595;p58"/>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45 · Hz. Hâlid — Uzaktan Namazı İzlemek</a:t>
            </a:r>
            <a:endParaRPr b="1" sz="2600">
              <a:solidFill>
                <a:srgbClr val="1F2E33"/>
              </a:solidFill>
              <a:latin typeface="Aptos Display"/>
              <a:ea typeface="Aptos Display"/>
              <a:cs typeface="Aptos Display"/>
              <a:sym typeface="Aptos Display"/>
            </a:endParaRPr>
          </a:p>
        </p:txBody>
      </p:sp>
      <p:sp>
        <p:nvSpPr>
          <p:cNvPr id="596" name="Google Shape;596;p58"/>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597" name="Google Shape;597;p58"/>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Hz. Hâlid henüz Müslüman değilken Hudeybiye yolunda Kureyş süvarilerinin başında bulunuyordu. Müslümanları gözetlerken onların öğle namazını topluca kıldıklarını gördü. İkindi vaktinde saldırmayı düşündüklerinde Resûlullah ashâbına korku namazını kıldırdı ve Müslümanlar tedbirli biçimde namazlarını tamamladı. Kaynaklarda bu hadisenin Hz. Hâlid üzerinde güçlü bir iz bıraktığı ve onun İslâm’a yaklaşma sürecindeki önemli olaylardan biri olduğu anlatılır.</a:t>
            </a:r>
            <a:endParaRPr sz="1350">
              <a:solidFill>
                <a:srgbClr val="292E30"/>
              </a:solidFill>
              <a:latin typeface="Aptos"/>
              <a:ea typeface="Aptos"/>
              <a:cs typeface="Aptos"/>
              <a:sym typeface="Aptos"/>
            </a:endParaRPr>
          </a:p>
        </p:txBody>
      </p:sp>
      <p:sp>
        <p:nvSpPr>
          <p:cNvPr id="598" name="Google Shape;598;p58"/>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Başkasını tanımadan önce onu gerçekten gözlemlemeliyim.</a:t>
            </a:r>
            <a:endParaRPr sz="1500">
              <a:solidFill>
                <a:srgbClr val="143333"/>
              </a:solidFill>
              <a:latin typeface="Aptos"/>
              <a:ea typeface="Aptos"/>
              <a:cs typeface="Aptos"/>
              <a:sym typeface="Aptos"/>
            </a:endParaRPr>
          </a:p>
        </p:txBody>
      </p:sp>
      <p:sp>
        <p:nvSpPr>
          <p:cNvPr id="599" name="Google Shape;599;p58"/>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Bugün hakkında önyargılı olduğun birini sadece gözlemle; yorumunu ertele.</a:t>
            </a:r>
            <a:endParaRPr b="1" sz="1200">
              <a:solidFill>
                <a:srgbClr val="FFFFFF"/>
              </a:solidFill>
              <a:latin typeface="Aptos"/>
              <a:ea typeface="Aptos"/>
              <a:cs typeface="Aptos"/>
              <a:sym typeface="Aptos"/>
            </a:endParaRPr>
          </a:p>
        </p:txBody>
      </p:sp>
      <p:sp>
        <p:nvSpPr>
          <p:cNvPr id="600" name="Google Shape;600;p58"/>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Sevgili Peygamberimizin Arkadaşları 9 — Hz. Hâlid b. Velîd</a:t>
            </a:r>
            <a:endParaRPr sz="700">
              <a:solidFill>
                <a:srgbClr val="737373"/>
              </a:solidFill>
              <a:latin typeface="Aptos"/>
              <a:ea typeface="Aptos"/>
              <a:cs typeface="Aptos"/>
              <a:sym typeface="Aptos"/>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p59"/>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6" name="Google Shape;606;p59"/>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ORTAOKUL • SAHABE</a:t>
            </a:r>
            <a:endParaRPr b="1" sz="900">
              <a:solidFill>
                <a:srgbClr val="146B66"/>
              </a:solidFill>
              <a:latin typeface="Aptos"/>
              <a:ea typeface="Aptos"/>
              <a:cs typeface="Aptos"/>
              <a:sym typeface="Aptos"/>
            </a:endParaRPr>
          </a:p>
        </p:txBody>
      </p:sp>
      <p:sp>
        <p:nvSpPr>
          <p:cNvPr id="607" name="Google Shape;607;p59"/>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46 · Hz. Hâlid — Hudeybiye’den Sonra İslâm’a Yaklaşmak</a:t>
            </a:r>
            <a:endParaRPr b="1" sz="2600">
              <a:solidFill>
                <a:srgbClr val="1F2E33"/>
              </a:solidFill>
              <a:latin typeface="Aptos Display"/>
              <a:ea typeface="Aptos Display"/>
              <a:cs typeface="Aptos Display"/>
              <a:sym typeface="Aptos Display"/>
            </a:endParaRPr>
          </a:p>
        </p:txBody>
      </p:sp>
      <p:sp>
        <p:nvSpPr>
          <p:cNvPr id="608" name="Google Shape;608;p59"/>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609" name="Google Shape;609;p59"/>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Hudeybiye’de ve daha sonraki gelişmelerde Hz. Hâlid, Resûlullah’ın ve Müslümanların durumunu yakından görme fırsatı buldu. Siyer kaynaklarında, bu dönemde İslâm’a karşı tutumunun değişmeye başladığı ve kalbinde İslâm’a karşı bir yakınlık oluştuğu nakledilir. Umretü’l-kazâ sırasında Resûlullah’ın Mekke’ye gelişinden sonra da bu süreç devam etti. Kısa süre sonra kardeşinden gelen mektup, onun Medine’ye gitme kararını hızlandırdı.</a:t>
            </a:r>
            <a:endParaRPr sz="1350">
              <a:solidFill>
                <a:srgbClr val="292E30"/>
              </a:solidFill>
              <a:latin typeface="Aptos"/>
              <a:ea typeface="Aptos"/>
              <a:cs typeface="Aptos"/>
              <a:sym typeface="Aptos"/>
            </a:endParaRPr>
          </a:p>
        </p:txBody>
      </p:sp>
      <p:sp>
        <p:nvSpPr>
          <p:cNvPr id="610" name="Google Shape;610;p59"/>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Fikrimi değiştirmek zayıflık değildir.</a:t>
            </a:r>
            <a:endParaRPr sz="1500">
              <a:solidFill>
                <a:srgbClr val="143333"/>
              </a:solidFill>
              <a:latin typeface="Aptos"/>
              <a:ea typeface="Aptos"/>
              <a:cs typeface="Aptos"/>
              <a:sym typeface="Aptos"/>
            </a:endParaRPr>
          </a:p>
        </p:txBody>
      </p:sp>
      <p:sp>
        <p:nvSpPr>
          <p:cNvPr id="611" name="Google Shape;611;p59"/>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Bugün uzun süredir savunduğun bir düşüncenin karşı görüşünü oku.</a:t>
            </a:r>
            <a:endParaRPr b="1" sz="1200">
              <a:solidFill>
                <a:srgbClr val="FFFFFF"/>
              </a:solidFill>
              <a:latin typeface="Aptos"/>
              <a:ea typeface="Aptos"/>
              <a:cs typeface="Aptos"/>
              <a:sym typeface="Aptos"/>
            </a:endParaRPr>
          </a:p>
        </p:txBody>
      </p:sp>
      <p:sp>
        <p:nvSpPr>
          <p:cNvPr id="612" name="Google Shape;612;p59"/>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Sevgili Peygamberimizin Arkadaşları 9 — Hz. Hâlid b. Velîd</a:t>
            </a:r>
            <a:endParaRPr sz="700">
              <a:solidFill>
                <a:srgbClr val="737373"/>
              </a:solidFill>
              <a:latin typeface="Aptos"/>
              <a:ea typeface="Aptos"/>
              <a:cs typeface="Aptos"/>
              <a:sym typeface="Aptos"/>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p60"/>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8" name="Google Shape;618;p60"/>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ORTAOKUL • SAHABE</a:t>
            </a:r>
            <a:endParaRPr b="1" sz="900">
              <a:solidFill>
                <a:srgbClr val="146B66"/>
              </a:solidFill>
              <a:latin typeface="Aptos"/>
              <a:ea typeface="Aptos"/>
              <a:cs typeface="Aptos"/>
              <a:sym typeface="Aptos"/>
            </a:endParaRPr>
          </a:p>
        </p:txBody>
      </p:sp>
      <p:sp>
        <p:nvSpPr>
          <p:cNvPr id="619" name="Google Shape;619;p60"/>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47 · Hz. Hâlid — Kardeşten Gelen Mektup</a:t>
            </a:r>
            <a:endParaRPr b="1" sz="2600">
              <a:solidFill>
                <a:srgbClr val="1F2E33"/>
              </a:solidFill>
              <a:latin typeface="Aptos Display"/>
              <a:ea typeface="Aptos Display"/>
              <a:cs typeface="Aptos Display"/>
              <a:sym typeface="Aptos Display"/>
            </a:endParaRPr>
          </a:p>
        </p:txBody>
      </p:sp>
      <p:sp>
        <p:nvSpPr>
          <p:cNvPr id="620" name="Google Shape;620;p60"/>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621" name="Google Shape;621;p60"/>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Hz. Hâlid’in Müslüman olan kardeşi Velîd ona bir mektup bıraktı. Mektupta Resûlullah’ın Hz. Hâlid’i sorduğunu, onun akıl ve kabiliyetini takdir ettiğini ve böyle bir kişinin İslâm’ı tanımamasını hayretle karşıladığını bildirdi. Kardeşinden gelen bu haber Hz. Hâlid’in İslâm’a yönelme sürecini hızlandırdı. Hz. Hâlid daha sonra Medine’ye doğru yola çıktı ve Resûlullah’ın huzurunda Müslüman oldu.</a:t>
            </a:r>
            <a:endParaRPr sz="1350">
              <a:solidFill>
                <a:srgbClr val="292E30"/>
              </a:solidFill>
              <a:latin typeface="Aptos"/>
              <a:ea typeface="Aptos"/>
              <a:cs typeface="Aptos"/>
              <a:sym typeface="Aptos"/>
            </a:endParaRPr>
          </a:p>
        </p:txBody>
      </p:sp>
      <p:sp>
        <p:nvSpPr>
          <p:cNvPr id="622" name="Google Shape;622;p60"/>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İyi bir kardeş veya arkadaş, doğru zamanda güzel bir hatırlatma yapabilir.</a:t>
            </a:r>
            <a:endParaRPr sz="1500">
              <a:solidFill>
                <a:srgbClr val="143333"/>
              </a:solidFill>
              <a:latin typeface="Aptos"/>
              <a:ea typeface="Aptos"/>
              <a:cs typeface="Aptos"/>
              <a:sym typeface="Aptos"/>
            </a:endParaRPr>
          </a:p>
        </p:txBody>
      </p:sp>
      <p:sp>
        <p:nvSpPr>
          <p:cNvPr id="623" name="Google Shape;623;p60"/>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Bugün bir arkadaşına kırmadan faydalı bir hatırlatma yap.</a:t>
            </a:r>
            <a:endParaRPr b="1" sz="1200">
              <a:solidFill>
                <a:srgbClr val="FFFFFF"/>
              </a:solidFill>
              <a:latin typeface="Aptos"/>
              <a:ea typeface="Aptos"/>
              <a:cs typeface="Aptos"/>
              <a:sym typeface="Aptos"/>
            </a:endParaRPr>
          </a:p>
        </p:txBody>
      </p:sp>
      <p:sp>
        <p:nvSpPr>
          <p:cNvPr id="624" name="Google Shape;624;p60"/>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Sevgili Peygamberimizin Arkadaşları 9 — Hz. Hâlid b. Velîd</a:t>
            </a:r>
            <a:endParaRPr sz="700">
              <a:solidFill>
                <a:srgbClr val="737373"/>
              </a:solidFill>
              <a:latin typeface="Aptos"/>
              <a:ea typeface="Aptos"/>
              <a:cs typeface="Aptos"/>
              <a:sym typeface="Aptos"/>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8" name="Shape 628"/>
        <p:cNvGrpSpPr/>
        <p:nvPr/>
      </p:nvGrpSpPr>
      <p:grpSpPr>
        <a:xfrm>
          <a:off x="0" y="0"/>
          <a:ext cx="0" cy="0"/>
          <a:chOff x="0" y="0"/>
          <a:chExt cx="0" cy="0"/>
        </a:xfrm>
      </p:grpSpPr>
      <p:sp>
        <p:nvSpPr>
          <p:cNvPr id="629" name="Google Shape;629;p61"/>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0" name="Google Shape;630;p61"/>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ORTAOKUL • SAHABE</a:t>
            </a:r>
            <a:endParaRPr b="1" sz="900">
              <a:solidFill>
                <a:srgbClr val="146B66"/>
              </a:solidFill>
              <a:latin typeface="Aptos"/>
              <a:ea typeface="Aptos"/>
              <a:cs typeface="Aptos"/>
              <a:sym typeface="Aptos"/>
            </a:endParaRPr>
          </a:p>
        </p:txBody>
      </p:sp>
      <p:sp>
        <p:nvSpPr>
          <p:cNvPr id="631" name="Google Shape;631;p61"/>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48 · Hz. Hâlid — Medine’ye Gidip İslâm’ı Kabul Etmek</a:t>
            </a:r>
            <a:endParaRPr b="1" sz="2600">
              <a:solidFill>
                <a:srgbClr val="1F2E33"/>
              </a:solidFill>
              <a:latin typeface="Aptos Display"/>
              <a:ea typeface="Aptos Display"/>
              <a:cs typeface="Aptos Display"/>
              <a:sym typeface="Aptos Display"/>
            </a:endParaRPr>
          </a:p>
        </p:txBody>
      </p:sp>
      <p:sp>
        <p:nvSpPr>
          <p:cNvPr id="632" name="Google Shape;632;p61"/>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633" name="Google Shape;633;p61"/>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Hz. Hâlid, kardeşi Velîd’in mektubunu aldıktan sonra Medine’ye gitmeye karar verdi. Yolda Amr b. Âs ve Osman b. Talha ile buluştu; onlar da aynı amaçla Medine’ye gidiyordu. Üçü birlikte Resûlullah’ın huzuruna çıktılar ve İslâm’ı kabul ettiler. Resûlullah Hz. Hâlid’in gelişine sevindi. Bundan sonra Hz. Hâlid hayatını İslâm toplumunun hizmetinde sürdürdü ve önemli görevler üstlendi.</a:t>
            </a:r>
            <a:endParaRPr sz="1350">
              <a:solidFill>
                <a:srgbClr val="292E30"/>
              </a:solidFill>
              <a:latin typeface="Aptos"/>
              <a:ea typeface="Aptos"/>
              <a:cs typeface="Aptos"/>
              <a:sym typeface="Aptos"/>
            </a:endParaRPr>
          </a:p>
        </p:txBody>
      </p:sp>
      <p:sp>
        <p:nvSpPr>
          <p:cNvPr id="634" name="Google Shape;634;p61"/>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Doğruyu tanıdığımda onu kabul etmek için kararlı bir adım atabilirim.</a:t>
            </a:r>
            <a:endParaRPr sz="1500">
              <a:solidFill>
                <a:srgbClr val="143333"/>
              </a:solidFill>
              <a:latin typeface="Aptos"/>
              <a:ea typeface="Aptos"/>
              <a:cs typeface="Aptos"/>
              <a:sym typeface="Aptos"/>
            </a:endParaRPr>
          </a:p>
        </p:txBody>
      </p:sp>
      <p:sp>
        <p:nvSpPr>
          <p:cNvPr id="635" name="Google Shape;635;p61"/>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Doğru olduğunu bildiğin bir konuda ertelediğin güzel bir adımı bugün at.</a:t>
            </a:r>
            <a:endParaRPr b="1" sz="1200">
              <a:solidFill>
                <a:srgbClr val="FFFFFF"/>
              </a:solidFill>
              <a:latin typeface="Aptos"/>
              <a:ea typeface="Aptos"/>
              <a:cs typeface="Aptos"/>
              <a:sym typeface="Aptos"/>
            </a:endParaRPr>
          </a:p>
        </p:txBody>
      </p:sp>
      <p:sp>
        <p:nvSpPr>
          <p:cNvPr id="636" name="Google Shape;636;p61"/>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Sevgili Peygamberimizin Arkadaşları 9 — Hz. Hâlid b. Velîd</a:t>
            </a:r>
            <a:endParaRPr sz="700">
              <a:solidFill>
                <a:srgbClr val="737373"/>
              </a:solidFill>
              <a:latin typeface="Aptos"/>
              <a:ea typeface="Aptos"/>
              <a:cs typeface="Aptos"/>
              <a:sym typeface="Aptos"/>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sp>
        <p:nvSpPr>
          <p:cNvPr id="641" name="Google Shape;641;p62"/>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2" name="Google Shape;642;p62"/>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ORTAOKUL • SAHABE</a:t>
            </a:r>
            <a:endParaRPr b="1" sz="900">
              <a:solidFill>
                <a:srgbClr val="146B66"/>
              </a:solidFill>
              <a:latin typeface="Aptos"/>
              <a:ea typeface="Aptos"/>
              <a:cs typeface="Aptos"/>
              <a:sym typeface="Aptos"/>
            </a:endParaRPr>
          </a:p>
        </p:txBody>
      </p:sp>
      <p:sp>
        <p:nvSpPr>
          <p:cNvPr id="643" name="Google Shape;643;p62"/>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49 · Hz. Hâlid — Yeni Bir Başlangıç</a:t>
            </a:r>
            <a:endParaRPr b="1" sz="2600">
              <a:solidFill>
                <a:srgbClr val="1F2E33"/>
              </a:solidFill>
              <a:latin typeface="Aptos Display"/>
              <a:ea typeface="Aptos Display"/>
              <a:cs typeface="Aptos Display"/>
              <a:sym typeface="Aptos Display"/>
            </a:endParaRPr>
          </a:p>
        </p:txBody>
      </p:sp>
      <p:sp>
        <p:nvSpPr>
          <p:cNvPr id="644" name="Google Shape;644;p62"/>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645" name="Google Shape;645;p62"/>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Hz. Hâlid, İslâm’ı kabul ettikten sonra askerlik tecrübesi, cesareti ve kumandanlık kabiliyetiyle Müslümanlara önemli hizmetlerde bulundu. Mûte’den başlayarak birçok seferde görev aldı. Resûlullah onun savaş alanındaki başarısını takdir etti ve ona “Allah’ın kılıçlarından bir kılıç” anlamındaki Seyfullah unvanını verdi. Hz. Hâlid sahip olduğu kabiliyetleri bundan sonra İslâm toplumunun hizmetinde kullandı.</a:t>
            </a:r>
            <a:endParaRPr sz="1350">
              <a:solidFill>
                <a:srgbClr val="292E30"/>
              </a:solidFill>
              <a:latin typeface="Aptos"/>
              <a:ea typeface="Aptos"/>
              <a:cs typeface="Aptos"/>
              <a:sym typeface="Aptos"/>
            </a:endParaRPr>
          </a:p>
        </p:txBody>
      </p:sp>
      <p:sp>
        <p:nvSpPr>
          <p:cNvPr id="646" name="Google Shape;646;p62"/>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Sahip olduğum yetenekleri faydalı ve hayırlı işler için kullanabilirim.</a:t>
            </a:r>
            <a:endParaRPr sz="1500">
              <a:solidFill>
                <a:srgbClr val="143333"/>
              </a:solidFill>
              <a:latin typeface="Aptos"/>
              <a:ea typeface="Aptos"/>
              <a:cs typeface="Aptos"/>
              <a:sym typeface="Aptos"/>
            </a:endParaRPr>
          </a:p>
        </p:txBody>
      </p:sp>
      <p:sp>
        <p:nvSpPr>
          <p:cNvPr id="647" name="Google Shape;647;p62"/>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Bir yeteneğini bugün daha faydalı bir işte kullan.</a:t>
            </a:r>
            <a:endParaRPr b="1" sz="1200">
              <a:solidFill>
                <a:srgbClr val="FFFFFF"/>
              </a:solidFill>
              <a:latin typeface="Aptos"/>
              <a:ea typeface="Aptos"/>
              <a:cs typeface="Aptos"/>
              <a:sym typeface="Aptos"/>
            </a:endParaRPr>
          </a:p>
        </p:txBody>
      </p:sp>
      <p:sp>
        <p:nvSpPr>
          <p:cNvPr id="648" name="Google Shape;648;p62"/>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Sevgili Peygamberimizin Arkadaşları 9 — Hz. Hâlid b. Velîd</a:t>
            </a:r>
            <a:endParaRPr sz="700">
              <a:solidFill>
                <a:srgbClr val="737373"/>
              </a:solidFill>
              <a:latin typeface="Aptos"/>
              <a:ea typeface="Aptos"/>
              <a:cs typeface="Aptos"/>
              <a:sym typeface="Aptos"/>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p63"/>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4" name="Google Shape;654;p63"/>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ORTAOKUL • SAHABE</a:t>
            </a:r>
            <a:endParaRPr b="1" sz="900">
              <a:solidFill>
                <a:srgbClr val="146B66"/>
              </a:solidFill>
              <a:latin typeface="Aptos"/>
              <a:ea typeface="Aptos"/>
              <a:cs typeface="Aptos"/>
              <a:sym typeface="Aptos"/>
            </a:endParaRPr>
          </a:p>
        </p:txBody>
      </p:sp>
      <p:sp>
        <p:nvSpPr>
          <p:cNvPr id="655" name="Google Shape;655;p63"/>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50 · Hz. Hâlid — Mûte’de Sorumluluğu Devralmak</a:t>
            </a:r>
            <a:endParaRPr b="1" sz="2600">
              <a:solidFill>
                <a:srgbClr val="1F2E33"/>
              </a:solidFill>
              <a:latin typeface="Aptos Display"/>
              <a:ea typeface="Aptos Display"/>
              <a:cs typeface="Aptos Display"/>
              <a:sym typeface="Aptos Display"/>
            </a:endParaRPr>
          </a:p>
        </p:txBody>
      </p:sp>
      <p:sp>
        <p:nvSpPr>
          <p:cNvPr id="656" name="Google Shape;656;p63"/>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657" name="Google Shape;657;p63"/>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Mûte’de Resûlullah’ın sırayla görevlendirdiği Zeyd b. Hârise, Ca‘fer b. Ebû Tâlib ve Abdullah b. Revâha şehid olunca sancak Hz. Hâlid b. Velîd’e geçti. Hz. Hâlid komutayı devralarak orduyu yeniden düzenledi ve Müslümanların büyük bölümünün güvenli biçimde Medine’ye dönmesini sağladı. Resûlullah, Mûte’deki gelişmeleri Medine’de anlatırken sancağı daha sonra “Allah’ın kılıçlarından bir kılıcın” aldığını bildirdi.</a:t>
            </a:r>
            <a:endParaRPr sz="1350">
              <a:solidFill>
                <a:srgbClr val="292E30"/>
              </a:solidFill>
              <a:latin typeface="Aptos"/>
              <a:ea typeface="Aptos"/>
              <a:cs typeface="Aptos"/>
              <a:sym typeface="Aptos"/>
            </a:endParaRPr>
          </a:p>
        </p:txBody>
      </p:sp>
      <p:sp>
        <p:nvSpPr>
          <p:cNvPr id="658" name="Google Shape;658;p63"/>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Zor anda “Biri yapsın” demek yerine sorumluluk alabilirim.</a:t>
            </a:r>
            <a:endParaRPr sz="1500">
              <a:solidFill>
                <a:srgbClr val="143333"/>
              </a:solidFill>
              <a:latin typeface="Aptos"/>
              <a:ea typeface="Aptos"/>
              <a:cs typeface="Aptos"/>
              <a:sym typeface="Aptos"/>
            </a:endParaRPr>
          </a:p>
        </p:txBody>
      </p:sp>
      <p:sp>
        <p:nvSpPr>
          <p:cNvPr id="659" name="Google Shape;659;p63"/>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Bir grupta kimsenin üstlenmediği küçük bir işi bugün sen üstlen.</a:t>
            </a:r>
            <a:endParaRPr b="1" sz="1200">
              <a:solidFill>
                <a:srgbClr val="FFFFFF"/>
              </a:solidFill>
              <a:latin typeface="Aptos"/>
              <a:ea typeface="Aptos"/>
              <a:cs typeface="Aptos"/>
              <a:sym typeface="Aptos"/>
            </a:endParaRPr>
          </a:p>
        </p:txBody>
      </p:sp>
      <p:sp>
        <p:nvSpPr>
          <p:cNvPr id="660" name="Google Shape;660;p63"/>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Sevgili Peygamberimizin Arkadaşları 9 — Hz. Hâlid b. Velîd</a:t>
            </a:r>
            <a:endParaRPr sz="700">
              <a:solidFill>
                <a:srgbClr val="737373"/>
              </a:solidFill>
              <a:latin typeface="Aptos"/>
              <a:ea typeface="Aptos"/>
              <a:cs typeface="Aptos"/>
              <a:sym typeface="Aptos"/>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sp>
        <p:nvSpPr>
          <p:cNvPr id="665" name="Google Shape;665;p64"/>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6" name="Google Shape;666;p64"/>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ORTAOKUL • SAHABE</a:t>
            </a:r>
            <a:endParaRPr b="1" sz="900">
              <a:solidFill>
                <a:srgbClr val="146B66"/>
              </a:solidFill>
              <a:latin typeface="Aptos"/>
              <a:ea typeface="Aptos"/>
              <a:cs typeface="Aptos"/>
              <a:sym typeface="Aptos"/>
            </a:endParaRPr>
          </a:p>
        </p:txBody>
      </p:sp>
      <p:sp>
        <p:nvSpPr>
          <p:cNvPr id="667" name="Google Shape;667;p64"/>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51 · Hz. Hâlid — Kırılan Kılıçlara Rağmen</a:t>
            </a:r>
            <a:endParaRPr b="1" sz="2600">
              <a:solidFill>
                <a:srgbClr val="1F2E33"/>
              </a:solidFill>
              <a:latin typeface="Aptos Display"/>
              <a:ea typeface="Aptos Display"/>
              <a:cs typeface="Aptos Display"/>
              <a:sym typeface="Aptos Display"/>
            </a:endParaRPr>
          </a:p>
        </p:txBody>
      </p:sp>
      <p:sp>
        <p:nvSpPr>
          <p:cNvPr id="668" name="Google Shape;668;p64"/>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669" name="Google Shape;669;p64"/>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Mûte savaşı çok çetin geçti. Hz. Hâlid daha sonra o gün elinde dokuz kılıcın kırıldığını, elinde yalnız Yemen yapımı geniş bir kılıcın kaldığını anlatmıştır. Komutayı devraldıktan sonra ordunun düzenini yeniden kurdu ve Müslüman askerlerin büyük bölümünü güvenli biçimde geri getirdi. Resûlullah da Mûte’deki bu vazifesinden sonra onu öven sözler söyledi. Hz. Hâlid’in bu hadisedeki soğukkanlılığı ve dayanıklılığı, zor şartlarda görevi sürdürebilmenin güçlü bir örneğidir.</a:t>
            </a:r>
            <a:endParaRPr sz="1350">
              <a:solidFill>
                <a:srgbClr val="292E30"/>
              </a:solidFill>
              <a:latin typeface="Aptos"/>
              <a:ea typeface="Aptos"/>
              <a:cs typeface="Aptos"/>
              <a:sym typeface="Aptos"/>
            </a:endParaRPr>
          </a:p>
        </p:txBody>
      </p:sp>
      <p:sp>
        <p:nvSpPr>
          <p:cNvPr id="670" name="Google Shape;670;p64"/>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Bir yol kapanınca hemen pes etmek zorunda değilim.</a:t>
            </a:r>
            <a:endParaRPr sz="1500">
              <a:solidFill>
                <a:srgbClr val="143333"/>
              </a:solidFill>
              <a:latin typeface="Aptos"/>
              <a:ea typeface="Aptos"/>
              <a:cs typeface="Aptos"/>
              <a:sym typeface="Aptos"/>
            </a:endParaRPr>
          </a:p>
        </p:txBody>
      </p:sp>
      <p:sp>
        <p:nvSpPr>
          <p:cNvPr id="671" name="Google Shape;671;p64"/>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Bir çözüm işe yaramazsa aynı hedef için ikinci bir yol dene.</a:t>
            </a:r>
            <a:endParaRPr b="1" sz="1200">
              <a:solidFill>
                <a:srgbClr val="FFFFFF"/>
              </a:solidFill>
              <a:latin typeface="Aptos"/>
              <a:ea typeface="Aptos"/>
              <a:cs typeface="Aptos"/>
              <a:sym typeface="Aptos"/>
            </a:endParaRPr>
          </a:p>
        </p:txBody>
      </p:sp>
      <p:sp>
        <p:nvSpPr>
          <p:cNvPr id="672" name="Google Shape;672;p64"/>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Sevgili Peygamberimizin Arkadaşları 9 — Hz. Hâlid b. Velîd</a:t>
            </a:r>
            <a:endParaRPr sz="700">
              <a:solidFill>
                <a:srgbClr val="737373"/>
              </a:solidFill>
              <a:latin typeface="Aptos"/>
              <a:ea typeface="Aptos"/>
              <a:cs typeface="Aptos"/>
              <a:sym typeface="Aptos"/>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sp>
        <p:nvSpPr>
          <p:cNvPr id="677" name="Google Shape;677;p65"/>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8" name="Google Shape;678;p65"/>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ORTAOKUL • SAHABE</a:t>
            </a:r>
            <a:endParaRPr b="1" sz="900">
              <a:solidFill>
                <a:srgbClr val="146B66"/>
              </a:solidFill>
              <a:latin typeface="Aptos"/>
              <a:ea typeface="Aptos"/>
              <a:cs typeface="Aptos"/>
              <a:sym typeface="Aptos"/>
            </a:endParaRPr>
          </a:p>
        </p:txBody>
      </p:sp>
      <p:sp>
        <p:nvSpPr>
          <p:cNvPr id="679" name="Google Shape;679;p65"/>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52 · Ebû Eyyûb el-Ensârî — Resûlullah’ı Evinde Ağırlamak</a:t>
            </a:r>
            <a:endParaRPr b="1" sz="2600">
              <a:solidFill>
                <a:srgbClr val="1F2E33"/>
              </a:solidFill>
              <a:latin typeface="Aptos Display"/>
              <a:ea typeface="Aptos Display"/>
              <a:cs typeface="Aptos Display"/>
              <a:sym typeface="Aptos Display"/>
            </a:endParaRPr>
          </a:p>
        </p:txBody>
      </p:sp>
      <p:sp>
        <p:nvSpPr>
          <p:cNvPr id="680" name="Google Shape;680;p65"/>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681" name="Google Shape;681;p65"/>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Resûlullah Medine’ye ulaştığında ensardan birçok kişi onu evinde misafir etmek istedi. Devesi Ebû Eyyûb el-Ensârî’nin evinin yakınına çökünce Resûlullah onun evinde kalmaya karar verdi. Ebû Eyyûb ve ailesi bu misafirlikten büyük sevinç duydu ve evlerini Resûlullah’a açtı. Ellerindeki imkânlarla onun rahat etmesi için özen gösterdiler. Bu hadise, Ebû Eyyûb’un adıyla birlikte hatırlanan büyük misafirperverliğin başlangıcı oldu.</a:t>
            </a:r>
            <a:endParaRPr sz="1350">
              <a:solidFill>
                <a:srgbClr val="292E30"/>
              </a:solidFill>
              <a:latin typeface="Aptos"/>
              <a:ea typeface="Aptos"/>
              <a:cs typeface="Aptos"/>
              <a:sym typeface="Aptos"/>
            </a:endParaRPr>
          </a:p>
        </p:txBody>
      </p:sp>
      <p:sp>
        <p:nvSpPr>
          <p:cNvPr id="682" name="Google Shape;682;p65"/>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Misafire değer vermek pahalı eşya değil, özen göstermektir.</a:t>
            </a:r>
            <a:endParaRPr sz="1500">
              <a:solidFill>
                <a:srgbClr val="143333"/>
              </a:solidFill>
              <a:latin typeface="Aptos"/>
              <a:ea typeface="Aptos"/>
              <a:cs typeface="Aptos"/>
              <a:sym typeface="Aptos"/>
            </a:endParaRPr>
          </a:p>
        </p:txBody>
      </p:sp>
      <p:sp>
        <p:nvSpPr>
          <p:cNvPr id="683" name="Google Shape;683;p65"/>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Eve gelecek biri için küçük bir hazırlığı bugün sen yap.</a:t>
            </a:r>
            <a:endParaRPr b="1" sz="1200">
              <a:solidFill>
                <a:srgbClr val="FFFFFF"/>
              </a:solidFill>
              <a:latin typeface="Aptos"/>
              <a:ea typeface="Aptos"/>
              <a:cs typeface="Aptos"/>
              <a:sym typeface="Aptos"/>
            </a:endParaRPr>
          </a:p>
        </p:txBody>
      </p:sp>
      <p:sp>
        <p:nvSpPr>
          <p:cNvPr id="684" name="Google Shape;684;p65"/>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Sevgili Peygamberimizin Arkadaşları 10 — Ebû Eyyûb el-Ensârî</a:t>
            </a:r>
            <a:endParaRPr sz="700">
              <a:solidFill>
                <a:srgbClr val="737373"/>
              </a:solidFill>
              <a:latin typeface="Aptos"/>
              <a:ea typeface="Aptos"/>
              <a:cs typeface="Aptos"/>
              <a:sym typeface="Aptos"/>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8" name="Shape 688"/>
        <p:cNvGrpSpPr/>
        <p:nvPr/>
      </p:nvGrpSpPr>
      <p:grpSpPr>
        <a:xfrm>
          <a:off x="0" y="0"/>
          <a:ext cx="0" cy="0"/>
          <a:chOff x="0" y="0"/>
          <a:chExt cx="0" cy="0"/>
        </a:xfrm>
      </p:grpSpPr>
      <p:sp>
        <p:nvSpPr>
          <p:cNvPr id="689" name="Google Shape;689;p66"/>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0" name="Google Shape;690;p66"/>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ORTAOKUL • SAHABE</a:t>
            </a:r>
            <a:endParaRPr b="1" sz="900">
              <a:solidFill>
                <a:srgbClr val="146B66"/>
              </a:solidFill>
              <a:latin typeface="Aptos"/>
              <a:ea typeface="Aptos"/>
              <a:cs typeface="Aptos"/>
              <a:sym typeface="Aptos"/>
            </a:endParaRPr>
          </a:p>
        </p:txBody>
      </p:sp>
      <p:sp>
        <p:nvSpPr>
          <p:cNvPr id="691" name="Google Shape;691;p66"/>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53 · Ebû Eyyûb — Evini Açmak</a:t>
            </a:r>
            <a:endParaRPr b="1" sz="2600">
              <a:solidFill>
                <a:srgbClr val="1F2E33"/>
              </a:solidFill>
              <a:latin typeface="Aptos Display"/>
              <a:ea typeface="Aptos Display"/>
              <a:cs typeface="Aptos Display"/>
              <a:sym typeface="Aptos Display"/>
            </a:endParaRPr>
          </a:p>
        </p:txBody>
      </p:sp>
      <p:sp>
        <p:nvSpPr>
          <p:cNvPr id="692" name="Google Shape;692;p66"/>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693" name="Google Shape;693;p66"/>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Resûlullah Medine’ye geldiğinde Ebû Eyyûb el-Ensârî’nin evinde misafir oldu. Ebû Eyyûb ve eşi, evlerinin imkânlarını Resûlullah’ın hizmetine sundular ve onun ihtiyaçlarıyla yakından ilgilendiler. Resûlullah Mescid-i Nebevî ve kendi odaları hazırlanıncaya kadar bir süre bu evde kaldı. Ebû Eyyûb’un evi böylece hicret sonrasında Medine’de Resûlullah’ın ilk kaldığı yerlerden biri olarak tarihe geçti.</a:t>
            </a:r>
            <a:endParaRPr sz="1350">
              <a:solidFill>
                <a:srgbClr val="292E30"/>
              </a:solidFill>
              <a:latin typeface="Aptos"/>
              <a:ea typeface="Aptos"/>
              <a:cs typeface="Aptos"/>
              <a:sym typeface="Aptos"/>
            </a:endParaRPr>
          </a:p>
        </p:txBody>
      </p:sp>
      <p:sp>
        <p:nvSpPr>
          <p:cNvPr id="694" name="Google Shape;694;p66"/>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Evimde ve hayatımda başkası için yer açabilirim.</a:t>
            </a:r>
            <a:endParaRPr sz="1500">
              <a:solidFill>
                <a:srgbClr val="143333"/>
              </a:solidFill>
              <a:latin typeface="Aptos"/>
              <a:ea typeface="Aptos"/>
              <a:cs typeface="Aptos"/>
              <a:sym typeface="Aptos"/>
            </a:endParaRPr>
          </a:p>
        </p:txBody>
      </p:sp>
      <p:sp>
        <p:nvSpPr>
          <p:cNvPr id="695" name="Google Shape;695;p66"/>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Bugün ortak kullandığın bir alanı başkası için düzenle.</a:t>
            </a:r>
            <a:endParaRPr b="1" sz="1200">
              <a:solidFill>
                <a:srgbClr val="FFFFFF"/>
              </a:solidFill>
              <a:latin typeface="Aptos"/>
              <a:ea typeface="Aptos"/>
              <a:cs typeface="Aptos"/>
              <a:sym typeface="Aptos"/>
            </a:endParaRPr>
          </a:p>
        </p:txBody>
      </p:sp>
      <p:sp>
        <p:nvSpPr>
          <p:cNvPr id="696" name="Google Shape;696;p66"/>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Sevgili Peygamberimizin Arkadaşları 10 — Ebû Eyyûb el-Ensârî</a:t>
            </a:r>
            <a:endParaRPr sz="700">
              <a:solidFill>
                <a:srgbClr val="737373"/>
              </a:solidFill>
              <a:latin typeface="Aptos"/>
              <a:ea typeface="Aptos"/>
              <a:cs typeface="Aptos"/>
              <a:sym typeface="Aptos"/>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0" name="Shape 700"/>
        <p:cNvGrpSpPr/>
        <p:nvPr/>
      </p:nvGrpSpPr>
      <p:grpSpPr>
        <a:xfrm>
          <a:off x="0" y="0"/>
          <a:ext cx="0" cy="0"/>
          <a:chOff x="0" y="0"/>
          <a:chExt cx="0" cy="0"/>
        </a:xfrm>
      </p:grpSpPr>
      <p:sp>
        <p:nvSpPr>
          <p:cNvPr id="701" name="Google Shape;701;p67"/>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02" name="Google Shape;702;p67"/>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ORTAOKUL • SAHABE</a:t>
            </a:r>
            <a:endParaRPr b="1" sz="900">
              <a:solidFill>
                <a:srgbClr val="146B66"/>
              </a:solidFill>
              <a:latin typeface="Aptos"/>
              <a:ea typeface="Aptos"/>
              <a:cs typeface="Aptos"/>
              <a:sym typeface="Aptos"/>
            </a:endParaRPr>
          </a:p>
        </p:txBody>
      </p:sp>
      <p:sp>
        <p:nvSpPr>
          <p:cNvPr id="703" name="Google Shape;703;p67"/>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54 · Ebû Eyyûb — Misafirin Rahatını Düşünmek</a:t>
            </a:r>
            <a:endParaRPr b="1" sz="2600">
              <a:solidFill>
                <a:srgbClr val="1F2E33"/>
              </a:solidFill>
              <a:latin typeface="Aptos Display"/>
              <a:ea typeface="Aptos Display"/>
              <a:cs typeface="Aptos Display"/>
              <a:sym typeface="Aptos Display"/>
            </a:endParaRPr>
          </a:p>
        </p:txBody>
      </p:sp>
      <p:sp>
        <p:nvSpPr>
          <p:cNvPr id="704" name="Google Shape;704;p67"/>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705" name="Google Shape;705;p67"/>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Resûlullah, ziyaretçilerin kendisine kolay ulaşabilmesi için başlangıçta evin alt katında kalmayı tercih etti; Ebû Eyyûb ile eşi üst katta kaldılar. Ebû Eyyûb, Resûlullah’ın üstünde bulunmaktan duyduğu rahatsızlığı ona anlattı ve üst kata geçmesini rica etti. Daha sonra Resûlullah üst katta kaldı. Bu hadise, Ebû Eyyûb’un misafirine karşı gösterdiği büyük saygı ve hassasiyetin örneklerinden biri olarak nakledilir.</a:t>
            </a:r>
            <a:endParaRPr sz="1350">
              <a:solidFill>
                <a:srgbClr val="292E30"/>
              </a:solidFill>
              <a:latin typeface="Aptos"/>
              <a:ea typeface="Aptos"/>
              <a:cs typeface="Aptos"/>
              <a:sym typeface="Aptos"/>
            </a:endParaRPr>
          </a:p>
        </p:txBody>
      </p:sp>
      <p:sp>
        <p:nvSpPr>
          <p:cNvPr id="706" name="Google Shape;706;p67"/>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Misafirlikte önce kendi rahatımı değil karşımdakini düşünmeliyim.</a:t>
            </a:r>
            <a:endParaRPr sz="1500">
              <a:solidFill>
                <a:srgbClr val="143333"/>
              </a:solidFill>
              <a:latin typeface="Aptos"/>
              <a:ea typeface="Aptos"/>
              <a:cs typeface="Aptos"/>
              <a:sym typeface="Aptos"/>
            </a:endParaRPr>
          </a:p>
        </p:txBody>
      </p:sp>
      <p:sp>
        <p:nvSpPr>
          <p:cNvPr id="707" name="Google Shape;707;p67"/>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Bugün bir misafirin ya da arkadaşının rahatını önceleyen küçük bir şey yap.</a:t>
            </a:r>
            <a:endParaRPr b="1" sz="1200">
              <a:solidFill>
                <a:srgbClr val="FFFFFF"/>
              </a:solidFill>
              <a:latin typeface="Aptos"/>
              <a:ea typeface="Aptos"/>
              <a:cs typeface="Aptos"/>
              <a:sym typeface="Aptos"/>
            </a:endParaRPr>
          </a:p>
        </p:txBody>
      </p:sp>
      <p:sp>
        <p:nvSpPr>
          <p:cNvPr id="708" name="Google Shape;708;p67"/>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Sevgili Peygamberimizin Arkadaşları 10 — Ebû Eyyûb el-Ensârî</a:t>
            </a:r>
            <a:endParaRPr sz="700">
              <a:solidFill>
                <a:srgbClr val="737373"/>
              </a:solidFill>
              <a:latin typeface="Aptos"/>
              <a:ea typeface="Aptos"/>
              <a:cs typeface="Aptos"/>
              <a:sym typeface="Aptos"/>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p68"/>
          <p:cNvSpPr/>
          <p:nvPr/>
        </p:nvSpPr>
        <p:spPr>
          <a:xfrm>
            <a:off x="0" y="0"/>
            <a:ext cx="9144000" cy="5143500"/>
          </a:xfrm>
          <a:prstGeom prst="rect">
            <a:avLst/>
          </a:prstGeom>
          <a:solidFill>
            <a:srgbClr val="FBFA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4" name="Google Shape;714;p68"/>
          <p:cNvSpPr txBox="1"/>
          <p:nvPr/>
        </p:nvSpPr>
        <p:spPr>
          <a:xfrm>
            <a:off x="600000" y="300000"/>
            <a:ext cx="81999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ORTAOKUL • SAHABE</a:t>
            </a:r>
            <a:endParaRPr b="1" sz="900">
              <a:solidFill>
                <a:srgbClr val="146B66"/>
              </a:solidFill>
              <a:latin typeface="Aptos"/>
              <a:ea typeface="Aptos"/>
              <a:cs typeface="Aptos"/>
              <a:sym typeface="Aptos"/>
            </a:endParaRPr>
          </a:p>
        </p:txBody>
      </p:sp>
      <p:sp>
        <p:nvSpPr>
          <p:cNvPr id="715" name="Google Shape;715;p68"/>
          <p:cNvSpPr txBox="1"/>
          <p:nvPr/>
        </p:nvSpPr>
        <p:spPr>
          <a:xfrm>
            <a:off x="600000" y="600000"/>
            <a:ext cx="81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2600">
                <a:solidFill>
                  <a:srgbClr val="1F2E33"/>
                </a:solidFill>
                <a:latin typeface="Aptos Display"/>
                <a:ea typeface="Aptos Display"/>
                <a:cs typeface="Aptos Display"/>
                <a:sym typeface="Aptos Display"/>
              </a:rPr>
              <a:t>55 · Ebû Eyyûb — Bir Damla Su İçin Telaşlanmak</a:t>
            </a:r>
            <a:endParaRPr b="1" sz="2600">
              <a:solidFill>
                <a:srgbClr val="1F2E33"/>
              </a:solidFill>
              <a:latin typeface="Aptos Display"/>
              <a:ea typeface="Aptos Display"/>
              <a:cs typeface="Aptos Display"/>
              <a:sym typeface="Aptos Display"/>
            </a:endParaRPr>
          </a:p>
        </p:txBody>
      </p:sp>
      <p:sp>
        <p:nvSpPr>
          <p:cNvPr id="716" name="Google Shape;716;p68"/>
          <p:cNvSpPr txBox="1"/>
          <p:nvPr/>
        </p:nvSpPr>
        <p:spPr>
          <a:xfrm>
            <a:off x="600000" y="1450000"/>
            <a:ext cx="1200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900">
                <a:solidFill>
                  <a:srgbClr val="146B66"/>
                </a:solidFill>
                <a:latin typeface="Aptos"/>
                <a:ea typeface="Aptos"/>
                <a:cs typeface="Aptos"/>
                <a:sym typeface="Aptos"/>
              </a:rPr>
              <a:t>HADİSE</a:t>
            </a:r>
            <a:endParaRPr b="1" sz="900">
              <a:solidFill>
                <a:srgbClr val="146B66"/>
              </a:solidFill>
              <a:latin typeface="Aptos"/>
              <a:ea typeface="Aptos"/>
              <a:cs typeface="Aptos"/>
              <a:sym typeface="Aptos"/>
            </a:endParaRPr>
          </a:p>
        </p:txBody>
      </p:sp>
      <p:sp>
        <p:nvSpPr>
          <p:cNvPr id="717" name="Google Shape;717;p68"/>
          <p:cNvSpPr txBox="1"/>
          <p:nvPr/>
        </p:nvSpPr>
        <p:spPr>
          <a:xfrm>
            <a:off x="600000" y="1700000"/>
            <a:ext cx="8199900" cy="14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350">
                <a:solidFill>
                  <a:srgbClr val="292E30"/>
                </a:solidFill>
                <a:latin typeface="Aptos"/>
                <a:ea typeface="Aptos"/>
                <a:cs typeface="Aptos"/>
                <a:sym typeface="Aptos"/>
              </a:rPr>
              <a:t>Bir gece Ebû Eyyûb’un evinin üst katında bir su kabı kırıldı ve yere su döküldü. Ebû Eyyûb ile eşi, suyun aşağı kata sızarak Resûlullah’ı rahatsız etmesinden endişe ettiler. Evde suyu kurutmak için kullanabilecekleri tek uygun örtüyü alıp yere yayılan suyu onunla kuruttular. Resûlullah’a gösterdikleri bu hassasiyet, misafirlerinin rahatını ne kadar dikkatle gözetmeye çalıştıklarını gösteren güzel bir hatıra olarak nakledilir.</a:t>
            </a:r>
            <a:endParaRPr sz="1350">
              <a:solidFill>
                <a:srgbClr val="292E30"/>
              </a:solidFill>
              <a:latin typeface="Aptos"/>
              <a:ea typeface="Aptos"/>
              <a:cs typeface="Aptos"/>
              <a:sym typeface="Aptos"/>
            </a:endParaRPr>
          </a:p>
        </p:txBody>
      </p:sp>
      <p:sp>
        <p:nvSpPr>
          <p:cNvPr id="718" name="Google Shape;718;p68"/>
          <p:cNvSpPr/>
          <p:nvPr/>
        </p:nvSpPr>
        <p:spPr>
          <a:xfrm>
            <a:off x="600000" y="3300000"/>
            <a:ext cx="8199900" cy="920100"/>
          </a:xfrm>
          <a:prstGeom prst="roundRect">
            <a:avLst>
              <a:gd fmla="val 16667" name="adj"/>
            </a:avLst>
          </a:prstGeom>
          <a:solidFill>
            <a:srgbClr val="E0F2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tr" sz="1500">
                <a:solidFill>
                  <a:srgbClr val="143333"/>
                </a:solidFill>
                <a:latin typeface="Aptos"/>
                <a:ea typeface="Aptos"/>
                <a:cs typeface="Aptos"/>
                <a:sym typeface="Aptos"/>
              </a:rPr>
              <a:t>BUGÜN BANA NE SÖYLÜYOR?</a:t>
            </a:r>
            <a:endParaRPr sz="1500">
              <a:solidFill>
                <a:srgbClr val="143333"/>
              </a:solidFill>
              <a:latin typeface="Aptos"/>
              <a:ea typeface="Aptos"/>
              <a:cs typeface="Aptos"/>
              <a:sym typeface="Aptos"/>
            </a:endParaRPr>
          </a:p>
          <a:p>
            <a:pPr indent="0" lvl="0" marL="0" rtl="0" algn="ctr">
              <a:spcBef>
                <a:spcPts val="0"/>
              </a:spcBef>
              <a:spcAft>
                <a:spcPts val="0"/>
              </a:spcAft>
              <a:buNone/>
            </a:pPr>
            <a:r>
              <a:rPr lang="tr" sz="1500">
                <a:solidFill>
                  <a:srgbClr val="143333"/>
                </a:solidFill>
                <a:latin typeface="Aptos"/>
                <a:ea typeface="Aptos"/>
                <a:cs typeface="Aptos"/>
                <a:sym typeface="Aptos"/>
              </a:rPr>
              <a:t>Küçük görünen bir rahatsızlığı bile önemsemek nezakettir.</a:t>
            </a:r>
            <a:endParaRPr sz="1500">
              <a:solidFill>
                <a:srgbClr val="143333"/>
              </a:solidFill>
              <a:latin typeface="Aptos"/>
              <a:ea typeface="Aptos"/>
              <a:cs typeface="Aptos"/>
              <a:sym typeface="Aptos"/>
            </a:endParaRPr>
          </a:p>
        </p:txBody>
      </p:sp>
      <p:sp>
        <p:nvSpPr>
          <p:cNvPr id="719" name="Google Shape;719;p68"/>
          <p:cNvSpPr/>
          <p:nvPr/>
        </p:nvSpPr>
        <p:spPr>
          <a:xfrm>
            <a:off x="600000" y="4380000"/>
            <a:ext cx="8199900" cy="519900"/>
          </a:xfrm>
          <a:prstGeom prst="roundRect">
            <a:avLst>
              <a:gd fmla="val 16667" name="adj"/>
            </a:avLst>
          </a:prstGeom>
          <a:solidFill>
            <a:srgbClr val="146B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Aptos"/>
                <a:ea typeface="Aptos"/>
                <a:cs typeface="Aptos"/>
                <a:sym typeface="Aptos"/>
              </a:rPr>
              <a:t>BU HAFTA DENE  •  </a:t>
            </a:r>
            <a:r>
              <a:rPr b="1" lang="tr" sz="1200">
                <a:solidFill>
                  <a:srgbClr val="FFFFFF"/>
                </a:solidFill>
                <a:latin typeface="Aptos"/>
                <a:ea typeface="Aptos"/>
                <a:cs typeface="Aptos"/>
                <a:sym typeface="Aptos"/>
              </a:rPr>
              <a:t>Bugün başkasını rahatsız edebilecek küçük bir ayrıntıyı fark edip düzelt.</a:t>
            </a:r>
            <a:endParaRPr b="1" sz="1200">
              <a:solidFill>
                <a:srgbClr val="FFFFFF"/>
              </a:solidFill>
              <a:latin typeface="Aptos"/>
              <a:ea typeface="Aptos"/>
              <a:cs typeface="Aptos"/>
              <a:sym typeface="Aptos"/>
            </a:endParaRPr>
          </a:p>
        </p:txBody>
      </p:sp>
      <p:sp>
        <p:nvSpPr>
          <p:cNvPr id="720" name="Google Shape;720;p68"/>
          <p:cNvSpPr txBox="1"/>
          <p:nvPr/>
        </p:nvSpPr>
        <p:spPr>
          <a:xfrm>
            <a:off x="600000" y="4950000"/>
            <a:ext cx="81999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rgbClr val="737373"/>
                </a:solidFill>
                <a:latin typeface="Aptos"/>
                <a:ea typeface="Aptos"/>
                <a:cs typeface="Aptos"/>
                <a:sym typeface="Aptos"/>
              </a:rPr>
              <a:t>Kaynak: Sevgili Peygamberimizin Arkadaşları 10 — Ebû Eyyûb el-Ensârî</a:t>
            </a:r>
            <a:endParaRPr sz="700">
              <a:solidFill>
                <a:srgbClr val="737373"/>
              </a:solidFill>
              <a:latin typeface="Aptos"/>
              <a:ea typeface="Aptos"/>
              <a:cs typeface="Aptos"/>
              <a:sym typeface="Aptos"/>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