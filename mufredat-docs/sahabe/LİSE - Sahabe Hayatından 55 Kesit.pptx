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slide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slide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slide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slide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slide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slide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slide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slide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slide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slide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slide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slide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slide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slide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slide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slide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slide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slide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slid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slid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slid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slid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slide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slide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slide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slide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slide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slide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slide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slide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slide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slide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slide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slide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slide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slide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slide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slide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slide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slide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slide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slide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slide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slide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slide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slide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slide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slide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slide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slide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slide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slide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slide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slide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slide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slide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slide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slide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slide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slide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slide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slide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slide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slide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slide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slide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slide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slide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slide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slide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slide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slide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slide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slide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slide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slide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slide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slide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slide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slide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slide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slide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slide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slide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slide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slide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slide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slide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slide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slide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slide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slide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slide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slide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slide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slide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slide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slide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slide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slide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slide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slide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slide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slide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slide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slide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slide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slide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slide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slide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p:nvPr/>
        </p:nvSpPr>
        <p:spPr>
          <a:xfrm>
            <a:off x="0" y="0"/>
            <a:ext cx="9144000" cy="5143500"/>
          </a:xfrm>
          <a:prstGeom prst="rect">
            <a:avLst/>
          </a:prstGeom>
          <a:solidFill>
            <a:srgbClr val="F7F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730000" y="600000"/>
            <a:ext cx="69999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1100">
                <a:solidFill>
                  <a:srgbClr val="146B66"/>
                </a:solidFill>
                <a:latin typeface="Aptos"/>
                <a:ea typeface="Aptos"/>
                <a:cs typeface="Aptos"/>
                <a:sym typeface="Aptos"/>
              </a:rPr>
              <a:t>MÜFREDAT PROJESİ • SAHABE</a:t>
            </a:r>
            <a:endParaRPr b="1" sz="1100">
              <a:solidFill>
                <a:srgbClr val="146B66"/>
              </a:solidFill>
              <a:latin typeface="Aptos"/>
              <a:ea typeface="Aptos"/>
              <a:cs typeface="Aptos"/>
              <a:sym typeface="Aptos"/>
            </a:endParaRPr>
          </a:p>
        </p:txBody>
      </p:sp>
      <p:sp>
        <p:nvSpPr>
          <p:cNvPr id="58" name="Google Shape;58;p13"/>
          <p:cNvSpPr txBox="1"/>
          <p:nvPr/>
        </p:nvSpPr>
        <p:spPr>
          <a:xfrm>
            <a:off x="730000" y="1200000"/>
            <a:ext cx="6300000" cy="12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3400">
                <a:solidFill>
                  <a:srgbClr val="1F2E33"/>
                </a:solidFill>
                <a:latin typeface="Aptos Display"/>
                <a:ea typeface="Aptos Display"/>
                <a:cs typeface="Aptos Display"/>
                <a:sym typeface="Aptos Display"/>
              </a:rPr>
              <a:t>Sahabe Hayatından</a:t>
            </a:r>
            <a:endParaRPr b="1" sz="3400">
              <a:solidFill>
                <a:srgbClr val="1F2E33"/>
              </a:solidFill>
              <a:latin typeface="Aptos Display"/>
              <a:ea typeface="Aptos Display"/>
              <a:cs typeface="Aptos Display"/>
              <a:sym typeface="Aptos Display"/>
            </a:endParaRPr>
          </a:p>
          <a:p>
            <a:pPr indent="0" lvl="0" marL="0" rtl="0" algn="l">
              <a:spcBef>
                <a:spcPts val="0"/>
              </a:spcBef>
              <a:spcAft>
                <a:spcPts val="0"/>
              </a:spcAft>
              <a:buNone/>
            </a:pPr>
            <a:r>
              <a:rPr b="1" lang="tr" sz="3400">
                <a:solidFill>
                  <a:srgbClr val="1F2E33"/>
                </a:solidFill>
                <a:latin typeface="Aptos Display"/>
                <a:ea typeface="Aptos Display"/>
                <a:cs typeface="Aptos Display"/>
                <a:sym typeface="Aptos Display"/>
              </a:rPr>
              <a:t>55 Kesit</a:t>
            </a:r>
            <a:endParaRPr b="1" sz="3400">
              <a:solidFill>
                <a:srgbClr val="1F2E33"/>
              </a:solidFill>
              <a:latin typeface="Aptos Display"/>
              <a:ea typeface="Aptos Display"/>
              <a:cs typeface="Aptos Display"/>
              <a:sym typeface="Aptos Display"/>
            </a:endParaRPr>
          </a:p>
        </p:txBody>
      </p:sp>
      <p:sp>
        <p:nvSpPr>
          <p:cNvPr id="59" name="Google Shape;59;p13"/>
          <p:cNvSpPr/>
          <p:nvPr/>
        </p:nvSpPr>
        <p:spPr>
          <a:xfrm>
            <a:off x="730000" y="3150000"/>
            <a:ext cx="2199900" cy="6000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600">
                <a:solidFill>
                  <a:srgbClr val="FFFFFF"/>
                </a:solidFill>
                <a:latin typeface="Aptos"/>
                <a:ea typeface="Aptos"/>
                <a:cs typeface="Aptos"/>
                <a:sym typeface="Aptos"/>
              </a:rPr>
              <a:t>LİSE</a:t>
            </a:r>
            <a:endParaRPr b="1" sz="1600">
              <a:solidFill>
                <a:srgbClr val="FFFFFF"/>
              </a:solidFill>
              <a:latin typeface="Aptos"/>
              <a:ea typeface="Aptos"/>
              <a:cs typeface="Aptos"/>
              <a:sym typeface="Aptos"/>
            </a:endParaRPr>
          </a:p>
        </p:txBody>
      </p:sp>
      <p:sp>
        <p:nvSpPr>
          <p:cNvPr id="60" name="Google Shape;60;p13"/>
          <p:cNvSpPr txBox="1"/>
          <p:nvPr/>
        </p:nvSpPr>
        <p:spPr>
          <a:xfrm>
            <a:off x="730000" y="4050000"/>
            <a:ext cx="69999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a:solidFill>
                  <a:srgbClr val="474D4D"/>
                </a:solidFill>
                <a:latin typeface="Aptos"/>
                <a:ea typeface="Aptos"/>
                <a:cs typeface="Aptos"/>
                <a:sym typeface="Aptos"/>
              </a:rPr>
              <a:t>Bir sahabi • bir hadise • bir davranış • bir uygulama</a:t>
            </a:r>
            <a:endParaRPr>
              <a:solidFill>
                <a:srgbClr val="474D4D"/>
              </a:solidFill>
              <a:latin typeface="Aptos"/>
              <a:ea typeface="Aptos"/>
              <a:cs typeface="Aptos"/>
              <a:sym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7" name="Google Shape;67;p1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01 · Sa’d b. Rebî — “Malımın Yarısı Senin”</a:t>
            </a:r>
            <a:endParaRPr b="1" sz="2600">
              <a:solidFill>
                <a:srgbClr val="1F2E33"/>
              </a:solidFill>
              <a:latin typeface="Aptos Display"/>
              <a:ea typeface="Aptos Display"/>
              <a:cs typeface="Aptos Display"/>
              <a:sym typeface="Aptos Display"/>
            </a:endParaRPr>
          </a:p>
        </p:txBody>
      </p:sp>
      <p:sp>
        <p:nvSpPr>
          <p:cNvPr id="68" name="Google Shape;68;p1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9" name="Google Shape;69;p1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Mekke’den ayrılan Abdurrahman b. Avf Medine’ye vardığında geride yalnız evini değil, malını, ticaret düzenini ve alıştığı hayatı da bırakmıştı. Yeni bir şehirde yeniden başlamak kolay değildi. Ensardan Sa’d b. Rebî onu sadece güzel sözlerle karşılamadı; sahip olduğu servetin yarısını paylaşmayı teklif etti. Bu, “Yanındayım” demenin ötesinde, başka bir insanın yükünü gerçekten üstlenmeye hazır olmak demekti. Sa’d, kardeşliği soyut bir duygu olarak bırakmadı; kendi imkânından vazgeçmeye hazır somut bir fedakârlığa dönüştürdü. Onun tavrı, toplumsal dayanışmanın gerçek değerinin ihtiyaç anında ortaya çıktığını gösterdi.</a:t>
            </a:r>
            <a:endParaRPr sz="1350">
              <a:solidFill>
                <a:srgbClr val="292E30"/>
              </a:solidFill>
              <a:latin typeface="Aptos"/>
              <a:ea typeface="Aptos"/>
              <a:cs typeface="Aptos"/>
              <a:sym typeface="Aptos"/>
            </a:endParaRPr>
          </a:p>
        </p:txBody>
      </p:sp>
      <p:sp>
        <p:nvSpPr>
          <p:cNvPr id="70" name="Google Shape;70;p1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Kardeşlik, sadece iyi hissetmek değil; gerektiğinde imkânından vazgeçebilmektir.</a:t>
            </a:r>
            <a:endParaRPr sz="1500">
              <a:solidFill>
                <a:srgbClr val="143333"/>
              </a:solidFill>
              <a:latin typeface="Aptos"/>
              <a:ea typeface="Aptos"/>
              <a:cs typeface="Aptos"/>
              <a:sym typeface="Aptos"/>
            </a:endParaRPr>
          </a:p>
        </p:txBody>
      </p:sp>
      <p:sp>
        <p:nvSpPr>
          <p:cNvPr id="71" name="Google Shape;71;p1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birinin yükünü gerçekten hafifletecek somut bir yardım yap.</a:t>
            </a:r>
            <a:endParaRPr b="1" sz="1200">
              <a:solidFill>
                <a:srgbClr val="FFFFFF"/>
              </a:solidFill>
              <a:latin typeface="Aptos"/>
              <a:ea typeface="Aptos"/>
              <a:cs typeface="Aptos"/>
              <a:sym typeface="Aptos"/>
            </a:endParaRPr>
          </a:p>
        </p:txBody>
      </p:sp>
      <p:sp>
        <p:nvSpPr>
          <p:cNvPr id="72" name="Google Shape;72;p1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Muhacirlerle Ensâr Arasındaki Kardeşlik</a:t>
            </a:r>
            <a:endParaRPr sz="700">
              <a:solidFill>
                <a:srgbClr val="737373"/>
              </a:solidFill>
              <a:latin typeface="Aptos"/>
              <a:ea typeface="Aptos"/>
              <a:cs typeface="Aptos"/>
              <a:sym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79" name="Google Shape;79;p1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02 · Abdurrahman b. Avf — “Bana Çarşının Yolunu Göster”</a:t>
            </a:r>
            <a:endParaRPr b="1" sz="2600">
              <a:solidFill>
                <a:srgbClr val="1F2E33"/>
              </a:solidFill>
              <a:latin typeface="Aptos Display"/>
              <a:ea typeface="Aptos Display"/>
              <a:cs typeface="Aptos Display"/>
              <a:sym typeface="Aptos Display"/>
            </a:endParaRPr>
          </a:p>
        </p:txBody>
      </p:sp>
      <p:sp>
        <p:nvSpPr>
          <p:cNvPr id="80" name="Google Shape;80;p1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81" name="Google Shape;81;p1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Abdurrahman b. Avf Medine’ye hicret ettiğinde Resûlullah onu Sa’d b. Rebî ile kardeş ilan etti. Sa’d ona malını paylaşmayı teklif etti. Abdurrahman, “Allah malını ve aileni sana bereketli kılsın; bana çarşının yolunu göster” diye karşılık verdi. Medine çarşısına giderek ticarete başladı ve kısa zamanda kendi kazancını elde etti. Bu hadise, ensarın cömertliğiyle muhacirlerin çalışma ve üretme gayretinin aynı tabloda buluştuğu en güzel kardeşlik örneklerinden biridir.</a:t>
            </a:r>
            <a:endParaRPr sz="1350">
              <a:solidFill>
                <a:srgbClr val="292E30"/>
              </a:solidFill>
              <a:latin typeface="Aptos"/>
              <a:ea typeface="Aptos"/>
              <a:cs typeface="Aptos"/>
              <a:sym typeface="Aptos"/>
            </a:endParaRPr>
          </a:p>
        </p:txBody>
      </p:sp>
      <p:sp>
        <p:nvSpPr>
          <p:cNvPr id="82" name="Google Shape;82;p1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Yardım almak değerlidir; fakat üretme iradesini kaybetmemek de önemlidir.</a:t>
            </a:r>
            <a:endParaRPr sz="1500">
              <a:solidFill>
                <a:srgbClr val="143333"/>
              </a:solidFill>
              <a:latin typeface="Aptos"/>
              <a:ea typeface="Aptos"/>
              <a:cs typeface="Aptos"/>
              <a:sym typeface="Aptos"/>
            </a:endParaRPr>
          </a:p>
        </p:txBody>
      </p:sp>
      <p:sp>
        <p:nvSpPr>
          <p:cNvPr id="83" name="Google Shape;83;p1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işini başkasına bırakmadan kendi emeğinle çözmeye çalış.</a:t>
            </a:r>
            <a:endParaRPr b="1" sz="1200">
              <a:solidFill>
                <a:srgbClr val="FFFFFF"/>
              </a:solidFill>
              <a:latin typeface="Aptos"/>
              <a:ea typeface="Aptos"/>
              <a:cs typeface="Aptos"/>
              <a:sym typeface="Aptos"/>
            </a:endParaRPr>
          </a:p>
        </p:txBody>
      </p:sp>
      <p:sp>
        <p:nvSpPr>
          <p:cNvPr id="84" name="Google Shape;84;p1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Muhacirlerle Ensâr Arasındaki Kardeşlik</a:t>
            </a:r>
            <a:endParaRPr sz="700">
              <a:solidFill>
                <a:srgbClr val="737373"/>
              </a:solidFill>
              <a:latin typeface="Aptos"/>
              <a:ea typeface="Aptos"/>
              <a:cs typeface="Aptos"/>
              <a:sym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91" name="Google Shape;91;p1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03 · Ensâr — Misafir İçin Yarışmak</a:t>
            </a:r>
            <a:endParaRPr b="1" sz="2600">
              <a:solidFill>
                <a:srgbClr val="1F2E33"/>
              </a:solidFill>
              <a:latin typeface="Aptos Display"/>
              <a:ea typeface="Aptos Display"/>
              <a:cs typeface="Aptos Display"/>
              <a:sym typeface="Aptos Display"/>
            </a:endParaRPr>
          </a:p>
        </p:txBody>
      </p:sp>
      <p:sp>
        <p:nvSpPr>
          <p:cNvPr id="92" name="Google Shape;92;p1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93" name="Google Shape;93;p1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Mekke’den gelen muhacirler yalnızca şehir değiştirmemişti; evlerini, mallarını, akrabalarının bir kısmını ve alıştıkları düzeni geride bırakmışlardı. Medine’ye geldiklerinde yeni hayatlarını sıfırdan kurmaları gerekiyordu. Medineli Müslümanlar bu insanları uzaktan izlemekle yetinmedi; evlerini açmak, sofralarını ve imkânlarını paylaşmak için gönüllü oldular. İstek o kadar fazlaydı ki kimin kimi misafir edeceği düzenli biçimde belirlenmek zorunda kaldı. Bu davranış, yardımın yalnız ihtiyaç sahibine bir şey vermek olmadığını gösterdi. Ensar, yeni gelen insana kendi hayatında gerçek bir yer açarak kardeşliğin toplumsal boyutunu ortaya koydu.</a:t>
            </a:r>
            <a:endParaRPr sz="1350">
              <a:solidFill>
                <a:srgbClr val="292E30"/>
              </a:solidFill>
              <a:latin typeface="Aptos"/>
              <a:ea typeface="Aptos"/>
              <a:cs typeface="Aptos"/>
              <a:sym typeface="Aptos"/>
            </a:endParaRPr>
          </a:p>
        </p:txBody>
      </p:sp>
      <p:sp>
        <p:nvSpPr>
          <p:cNvPr id="94" name="Google Shape;94;p1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topluluğun kalitesi, yeni gelen insana nasıl davrandığıyla anlaşılır.</a:t>
            </a:r>
            <a:endParaRPr sz="1500">
              <a:solidFill>
                <a:srgbClr val="143333"/>
              </a:solidFill>
              <a:latin typeface="Aptos"/>
              <a:ea typeface="Aptos"/>
              <a:cs typeface="Aptos"/>
              <a:sym typeface="Aptos"/>
            </a:endParaRPr>
          </a:p>
        </p:txBody>
      </p:sp>
      <p:sp>
        <p:nvSpPr>
          <p:cNvPr id="95" name="Google Shape;95;p1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Sınıfta ya da çevrende yeni olan birini bu hafta özellikle dahil et.</a:t>
            </a:r>
            <a:endParaRPr b="1" sz="1200">
              <a:solidFill>
                <a:srgbClr val="FFFFFF"/>
              </a:solidFill>
              <a:latin typeface="Aptos"/>
              <a:ea typeface="Aptos"/>
              <a:cs typeface="Aptos"/>
              <a:sym typeface="Aptos"/>
            </a:endParaRPr>
          </a:p>
        </p:txBody>
      </p:sp>
      <p:sp>
        <p:nvSpPr>
          <p:cNvPr id="96" name="Google Shape;96;p1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Müslümanlara Sahip Çıkmanın Sembolü: Ensâr</a:t>
            </a:r>
            <a:endParaRPr sz="700">
              <a:solidFill>
                <a:srgbClr val="737373"/>
              </a:solidFill>
              <a:latin typeface="Aptos"/>
              <a:ea typeface="Aptos"/>
              <a:cs typeface="Aptos"/>
              <a:sym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03" name="Google Shape;103;p1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04 · Suheyb er-Rûmî — Mal mı, İstikamet mi?</a:t>
            </a:r>
            <a:endParaRPr b="1" sz="2600">
              <a:solidFill>
                <a:srgbClr val="1F2E33"/>
              </a:solidFill>
              <a:latin typeface="Aptos Display"/>
              <a:ea typeface="Aptos Display"/>
              <a:cs typeface="Aptos Display"/>
              <a:sym typeface="Aptos Display"/>
            </a:endParaRPr>
          </a:p>
        </p:txBody>
      </p:sp>
      <p:sp>
        <p:nvSpPr>
          <p:cNvPr id="104" name="Google Shape;104;p1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05" name="Google Shape;105;p1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Suheyb er-Rûmî Mekke’den Medine’ye hicret etmek üzere yola çıktığında Kureyşliler önünü keserek malını yanında götürmesine karşı çıktılar. Suheyb, malının bulunduğu yeri kendilerine bildirmesi hâlinde yoluna bırakılıp bırakılmayacağını sordu. Kabul edince servetinin yerini gösterdi ve hicretine devam etti. Medine’ye ulaştığında Resûlullah onun bu fedakârlığını takdir etti. Suheyb’in hicreti, inancı uğrunda büyük bir maddî bedeli göze almasının güçlü örneklerinden biridir.</a:t>
            </a:r>
            <a:endParaRPr sz="1350">
              <a:solidFill>
                <a:srgbClr val="292E30"/>
              </a:solidFill>
              <a:latin typeface="Aptos"/>
              <a:ea typeface="Aptos"/>
              <a:cs typeface="Aptos"/>
              <a:sym typeface="Aptos"/>
            </a:endParaRPr>
          </a:p>
        </p:txBody>
      </p:sp>
      <p:sp>
        <p:nvSpPr>
          <p:cNvPr id="106" name="Google Shape;106;p1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Bazı değerler para ve konfordan daha pahalıdır.</a:t>
            </a:r>
            <a:endParaRPr sz="1500">
              <a:solidFill>
                <a:srgbClr val="143333"/>
              </a:solidFill>
              <a:latin typeface="Aptos"/>
              <a:ea typeface="Aptos"/>
              <a:cs typeface="Aptos"/>
              <a:sym typeface="Aptos"/>
            </a:endParaRPr>
          </a:p>
        </p:txBody>
      </p:sp>
      <p:sp>
        <p:nvSpPr>
          <p:cNvPr id="107" name="Google Shape;107;p1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Seni doğru olandan uzaklaştıran küçük bir konfordan bu hafta vazgeç.</a:t>
            </a:r>
            <a:endParaRPr b="1" sz="1200">
              <a:solidFill>
                <a:srgbClr val="FFFFFF"/>
              </a:solidFill>
              <a:latin typeface="Aptos"/>
              <a:ea typeface="Aptos"/>
              <a:cs typeface="Aptos"/>
              <a:sym typeface="Aptos"/>
            </a:endParaRPr>
          </a:p>
        </p:txBody>
      </p:sp>
      <p:sp>
        <p:nvSpPr>
          <p:cNvPr id="108" name="Google Shape;108;p1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Hz. Suheyb b. Sinan’ın Hicreti</a:t>
            </a:r>
            <a:endParaRPr sz="700">
              <a:solidFill>
                <a:srgbClr val="737373"/>
              </a:solidFill>
              <a:latin typeface="Aptos"/>
              <a:ea typeface="Aptos"/>
              <a:cs typeface="Aptos"/>
              <a:sym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15" name="Google Shape;115;p1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05 · Esmâ bint Ebû Bekir — Görünmeden Yapılan Büyük İş</a:t>
            </a:r>
            <a:endParaRPr b="1" sz="2600">
              <a:solidFill>
                <a:srgbClr val="1F2E33"/>
              </a:solidFill>
              <a:latin typeface="Aptos Display"/>
              <a:ea typeface="Aptos Display"/>
              <a:cs typeface="Aptos Display"/>
              <a:sym typeface="Aptos Display"/>
            </a:endParaRPr>
          </a:p>
        </p:txBody>
      </p:sp>
      <p:sp>
        <p:nvSpPr>
          <p:cNvPr id="116" name="Google Shape;116;p1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17" name="Google Shape;117;p1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Hicret planı büyük bir gizlilik, dikkat ve iş bölümü gerektiriyordu. Herkesin gördüğü yolculuğun arkasında, görünmeyen ama hayati görevler vardı. Esmâ bint Ebû Bekir, mağarada kalan Peygamberimiz ile babasına yiyecek hazırladı ve ihtiyaçların ulaştırılmasına destek oldu. Gecenin karanlığında tehlikeyi göze alarak görevini yaptı; kuşağını ikiye bölüp azığın ağzını bağlaması, zor anda pratik çözüm üretebildiğini gösterdi. Adı savaş meydanında veya kalabalığın önünde değildi; fakat yaptığı iş yolculuğun güvenle sürmesine katkı sağladı. Böylece büyük işlerin arkasında çoğu zaman görünmeyen, soğukkanlı ve güvenilir emek bulunduğunu gösterdi.</a:t>
            </a:r>
            <a:endParaRPr sz="1350">
              <a:solidFill>
                <a:srgbClr val="292E30"/>
              </a:solidFill>
              <a:latin typeface="Aptos"/>
              <a:ea typeface="Aptos"/>
              <a:cs typeface="Aptos"/>
              <a:sym typeface="Aptos"/>
            </a:endParaRPr>
          </a:p>
        </p:txBody>
      </p:sp>
      <p:sp>
        <p:nvSpPr>
          <p:cNvPr id="118" name="Google Shape;118;p1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Her büyük işin görünür kahramanları olmak zorunda değildir.</a:t>
            </a:r>
            <a:endParaRPr sz="1500">
              <a:solidFill>
                <a:srgbClr val="143333"/>
              </a:solidFill>
              <a:latin typeface="Aptos"/>
              <a:ea typeface="Aptos"/>
              <a:cs typeface="Aptos"/>
              <a:sym typeface="Aptos"/>
            </a:endParaRPr>
          </a:p>
        </p:txBody>
      </p:sp>
      <p:sp>
        <p:nvSpPr>
          <p:cNvPr id="119" name="Google Shape;119;p1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Kimsenin fark etmeyeceği ama gerekli olan bir işi gönüllü yap.</a:t>
            </a:r>
            <a:endParaRPr b="1" sz="1200">
              <a:solidFill>
                <a:srgbClr val="FFFFFF"/>
              </a:solidFill>
              <a:latin typeface="Aptos"/>
              <a:ea typeface="Aptos"/>
              <a:cs typeface="Aptos"/>
              <a:sym typeface="Aptos"/>
            </a:endParaRPr>
          </a:p>
        </p:txBody>
      </p:sp>
      <p:sp>
        <p:nvSpPr>
          <p:cNvPr id="120" name="Google Shape;120;p1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Allah Resûlü ve Hz. Ebû Bekir’in Hicretleri</a:t>
            </a:r>
            <a:endParaRPr sz="700">
              <a:solidFill>
                <a:srgbClr val="737373"/>
              </a:solidFill>
              <a:latin typeface="Aptos"/>
              <a:ea typeface="Aptos"/>
              <a:cs typeface="Aptos"/>
              <a:sym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27" name="Google Shape;127;p1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06 · Cafer b. Ebû Tâlib — Necaşî’nin Önünde Kendini İfade Etmek</a:t>
            </a:r>
            <a:endParaRPr b="1" sz="2600">
              <a:solidFill>
                <a:srgbClr val="1F2E33"/>
              </a:solidFill>
              <a:latin typeface="Aptos Display"/>
              <a:ea typeface="Aptos Display"/>
              <a:cs typeface="Aptos Display"/>
              <a:sym typeface="Aptos Display"/>
            </a:endParaRPr>
          </a:p>
        </p:txBody>
      </p:sp>
      <p:sp>
        <p:nvSpPr>
          <p:cNvPr id="128" name="Google Shape;128;p1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29" name="Google Shape;129;p1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Mekkeli temsilciler Habeşistan’a sığınan Müslümanların geri verilmesini isteyince Necaşî, Müslümanları da huzuruna çağırarak onları dinledi. Cafer b. Ebû Tâlib topluluk adına konuştu; İslâm’dan önceki hayatlarını, Resûlullah’ın kendilerine öğrettiği doğruluk, emanet, akrabalık hakkı ve güzel ahlâk esaslarını anlattı. Necaşî Kur’an’dan bir bölüm okumasını isteyince Cafer, Meryem sûresinden ayetler okudu. Bu konuşma, sahabenin inancını açık, güçlü ve saygılı biçimde temsil ettiği en tanınmış örneklerden biridir.</a:t>
            </a:r>
            <a:endParaRPr sz="1350">
              <a:solidFill>
                <a:srgbClr val="292E30"/>
              </a:solidFill>
              <a:latin typeface="Aptos"/>
              <a:ea typeface="Aptos"/>
              <a:cs typeface="Aptos"/>
              <a:sym typeface="Aptos"/>
            </a:endParaRPr>
          </a:p>
        </p:txBody>
      </p:sp>
      <p:sp>
        <p:nvSpPr>
          <p:cNvPr id="130" name="Google Shape;130;p1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Kimliğini savunmak, kavga etmek ya da başkasını küçümsemek değildir.</a:t>
            </a:r>
            <a:endParaRPr sz="1500">
              <a:solidFill>
                <a:srgbClr val="143333"/>
              </a:solidFill>
              <a:latin typeface="Aptos"/>
              <a:ea typeface="Aptos"/>
              <a:cs typeface="Aptos"/>
              <a:sym typeface="Aptos"/>
            </a:endParaRPr>
          </a:p>
        </p:txBody>
      </p:sp>
      <p:sp>
        <p:nvSpPr>
          <p:cNvPr id="131" name="Google Shape;131;p1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Farklı düşünen biriyle bir konuda sakin ve açık bir konuşma yap.</a:t>
            </a:r>
            <a:endParaRPr b="1" sz="1200">
              <a:solidFill>
                <a:srgbClr val="FFFFFF"/>
              </a:solidFill>
              <a:latin typeface="Aptos"/>
              <a:ea typeface="Aptos"/>
              <a:cs typeface="Aptos"/>
              <a:sym typeface="Aptos"/>
            </a:endParaRPr>
          </a:p>
        </p:txBody>
      </p:sp>
      <p:sp>
        <p:nvSpPr>
          <p:cNvPr id="132" name="Google Shape;132;p1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Habeşistan Hicreti</a:t>
            </a:r>
            <a:endParaRPr sz="700">
              <a:solidFill>
                <a:srgbClr val="737373"/>
              </a:solidFill>
              <a:latin typeface="Aptos"/>
              <a:ea typeface="Aptos"/>
              <a:cs typeface="Aptos"/>
              <a:sym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39" name="Google Shape;139;p2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07 · Abdullah b. Huzâfe — Büyük Tekliflere Karşı Duruş</a:t>
            </a:r>
            <a:endParaRPr b="1" sz="2600">
              <a:solidFill>
                <a:srgbClr val="1F2E33"/>
              </a:solidFill>
              <a:latin typeface="Aptos Display"/>
              <a:ea typeface="Aptos Display"/>
              <a:cs typeface="Aptos Display"/>
              <a:sym typeface="Aptos Display"/>
            </a:endParaRPr>
          </a:p>
        </p:txBody>
      </p:sp>
      <p:sp>
        <p:nvSpPr>
          <p:cNvPr id="140" name="Google Shape;140;p2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41" name="Google Shape;141;p2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Abdullah b. Huzâfe esir düştüğünde karşısına yalnız korku ve işkence tehdidi çıkarılmadı. Onu kararından döndürmek için servet, makam ve rahat bir hayat gibi cazip teklifler de sunuldu. Baskının iki yüzü vardı: Biri korkutmak, diğeri satın almak. Abdullah, özgürlüğüne kavuşmanın bedeli olarak inancını ve kişiliğini teslim etmeyi kabul etmedi. Tekliflerin büyüklüğü kararını değiştirmedi. Böylece insanın yalnız tehdit karşısında değil, çıkar karşısında da sınandığını gösterdi. Her kazanç fırsatının kabul edilmeye değer olmadığını davranışıyla ortaya koydu.</a:t>
            </a:r>
            <a:endParaRPr sz="1350">
              <a:solidFill>
                <a:srgbClr val="292E30"/>
              </a:solidFill>
              <a:latin typeface="Aptos"/>
              <a:ea typeface="Aptos"/>
              <a:cs typeface="Aptos"/>
              <a:sym typeface="Aptos"/>
            </a:endParaRPr>
          </a:p>
        </p:txBody>
      </p:sp>
      <p:sp>
        <p:nvSpPr>
          <p:cNvPr id="142" name="Google Shape;142;p2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Her cazip teklif, kabul edilmeye değer değildir.</a:t>
            </a:r>
            <a:endParaRPr sz="1500">
              <a:solidFill>
                <a:srgbClr val="143333"/>
              </a:solidFill>
              <a:latin typeface="Aptos"/>
              <a:ea typeface="Aptos"/>
              <a:cs typeface="Aptos"/>
              <a:sym typeface="Aptos"/>
            </a:endParaRPr>
          </a:p>
        </p:txBody>
      </p:sp>
      <p:sp>
        <p:nvSpPr>
          <p:cNvPr id="143" name="Google Shape;143;p2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kararında “Bunu neden istiyorum?” sorusunu dürüstçe cevapla.</a:t>
            </a:r>
            <a:endParaRPr b="1" sz="1200">
              <a:solidFill>
                <a:srgbClr val="FFFFFF"/>
              </a:solidFill>
              <a:latin typeface="Aptos"/>
              <a:ea typeface="Aptos"/>
              <a:cs typeface="Aptos"/>
              <a:sym typeface="Aptos"/>
            </a:endParaRPr>
          </a:p>
        </p:txBody>
      </p:sp>
      <p:sp>
        <p:nvSpPr>
          <p:cNvPr id="144" name="Google Shape;144;p2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Sahâbîlerin Zorluklara Göğüs Germeleri</a:t>
            </a:r>
            <a:endParaRPr sz="700">
              <a:solidFill>
                <a:srgbClr val="737373"/>
              </a:solidFill>
              <a:latin typeface="Aptos"/>
              <a:ea typeface="Aptos"/>
              <a:cs typeface="Aptos"/>
              <a:sym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51" name="Google Shape;151;p2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08 · Abdullah b. Huzâfe — Esirler İçin Bir Fedakârlık</a:t>
            </a:r>
            <a:endParaRPr b="1" sz="2600">
              <a:solidFill>
                <a:srgbClr val="1F2E33"/>
              </a:solidFill>
              <a:latin typeface="Aptos Display"/>
              <a:ea typeface="Aptos Display"/>
              <a:cs typeface="Aptos Display"/>
              <a:sym typeface="Aptos Display"/>
            </a:endParaRPr>
          </a:p>
        </p:txBody>
      </p:sp>
      <p:sp>
        <p:nvSpPr>
          <p:cNvPr id="152" name="Google Shape;152;p2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53" name="Google Shape;153;p2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Esaret sırasında Abdullah b. Huzâfe’ye, hükümdarın başını öpmesi karşılığında Müslüman esirlerin serbest bırakılacağı bildirildi. Abdullah, bu şartın yalnız kendisiyle ilgili olmadığını; beraberindeki esirlerin hürriyetine vesile olacağını gördü ve kabul etti. Bunun üzerine Müslüman esirlerin serbest bırakıldığı nakledilir. Abdullah’ın bu davranışı, kendi şahsıyla ilgili bir meseleyi birçok Müslümanın kurtuluşuna vesile olacak bir fedakârlığa dönüştürmesi bakımından dikkat çekicidir.</a:t>
            </a:r>
            <a:endParaRPr sz="1350">
              <a:solidFill>
                <a:srgbClr val="292E30"/>
              </a:solidFill>
              <a:latin typeface="Aptos"/>
              <a:ea typeface="Aptos"/>
              <a:cs typeface="Aptos"/>
              <a:sym typeface="Aptos"/>
            </a:endParaRPr>
          </a:p>
        </p:txBody>
      </p:sp>
      <p:sp>
        <p:nvSpPr>
          <p:cNvPr id="154" name="Google Shape;154;p2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Bazen kendi rahatımızdan veya tercihimizden vazgeçmek başkalarının iyiliğine vesile olabilir.</a:t>
            </a:r>
            <a:endParaRPr sz="1500">
              <a:solidFill>
                <a:srgbClr val="143333"/>
              </a:solidFill>
              <a:latin typeface="Aptos"/>
              <a:ea typeface="Aptos"/>
              <a:cs typeface="Aptos"/>
              <a:sym typeface="Aptos"/>
            </a:endParaRPr>
          </a:p>
        </p:txBody>
      </p:sp>
      <p:sp>
        <p:nvSpPr>
          <p:cNvPr id="155" name="Google Shape;155;p2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Haklı olduğun bir konuda ortamı düzeltmek için ilk yumuşak adımı sen at.</a:t>
            </a:r>
            <a:endParaRPr b="1" sz="1200">
              <a:solidFill>
                <a:srgbClr val="FFFFFF"/>
              </a:solidFill>
              <a:latin typeface="Aptos"/>
              <a:ea typeface="Aptos"/>
              <a:cs typeface="Aptos"/>
              <a:sym typeface="Aptos"/>
            </a:endParaRPr>
          </a:p>
        </p:txBody>
      </p:sp>
      <p:sp>
        <p:nvSpPr>
          <p:cNvPr id="156" name="Google Shape;156;p2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Sahâbîlerin Zorluklara Göğüs Germeleri</a:t>
            </a:r>
            <a:endParaRPr sz="700">
              <a:solidFill>
                <a:srgbClr val="737373"/>
              </a:solidFill>
              <a:latin typeface="Aptos"/>
              <a:ea typeface="Aptos"/>
              <a:cs typeface="Aptos"/>
              <a:sym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63" name="Google Shape;163;p2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09 · Hz. Ömer — Güzel Davranışı Onurlandırmak</a:t>
            </a:r>
            <a:endParaRPr b="1" sz="2600">
              <a:solidFill>
                <a:srgbClr val="1F2E33"/>
              </a:solidFill>
              <a:latin typeface="Aptos Display"/>
              <a:ea typeface="Aptos Display"/>
              <a:cs typeface="Aptos Display"/>
              <a:sym typeface="Aptos Display"/>
            </a:endParaRPr>
          </a:p>
        </p:txBody>
      </p:sp>
      <p:sp>
        <p:nvSpPr>
          <p:cNvPr id="164" name="Google Shape;164;p2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65" name="Google Shape;165;p2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Abdullah b. Huzâfe Müslüman esirlerle birlikte geri döndüğünde Hz. Ömer yaşananları öğrendi. Esirlerin serbest kalmasına vesile olan davranışını takdir etti ve Müslümanların da ona saygı göstermesini istedi. Böylece Hz. Ömer, başkalarının kurtuluşuna vesile olan bu fedakârlığı toplum önünde onurlandırdı. Güzel bir davranışın fark edilip takdir edilmesi, başkaları için de güçlü bir örnek oluşturdu.</a:t>
            </a:r>
            <a:endParaRPr sz="1350">
              <a:solidFill>
                <a:srgbClr val="292E30"/>
              </a:solidFill>
              <a:latin typeface="Aptos"/>
              <a:ea typeface="Aptos"/>
              <a:cs typeface="Aptos"/>
              <a:sym typeface="Aptos"/>
            </a:endParaRPr>
          </a:p>
        </p:txBody>
      </p:sp>
      <p:sp>
        <p:nvSpPr>
          <p:cNvPr id="166" name="Google Shape;166;p2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Liderlik, yalnız yanlışları düzeltmek değil; güzel davranışı görünür kılmaktır.</a:t>
            </a:r>
            <a:endParaRPr sz="1500">
              <a:solidFill>
                <a:srgbClr val="143333"/>
              </a:solidFill>
              <a:latin typeface="Aptos"/>
              <a:ea typeface="Aptos"/>
              <a:cs typeface="Aptos"/>
              <a:sym typeface="Aptos"/>
            </a:endParaRPr>
          </a:p>
        </p:txBody>
      </p:sp>
      <p:sp>
        <p:nvSpPr>
          <p:cNvPr id="167" name="Google Shape;167;p2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arkadaşının iyi yaptığı bir şeyi bugün herkesin yanında takdir et.</a:t>
            </a:r>
            <a:endParaRPr b="1" sz="1200">
              <a:solidFill>
                <a:srgbClr val="FFFFFF"/>
              </a:solidFill>
              <a:latin typeface="Aptos"/>
              <a:ea typeface="Aptos"/>
              <a:cs typeface="Aptos"/>
              <a:sym typeface="Aptos"/>
            </a:endParaRPr>
          </a:p>
        </p:txBody>
      </p:sp>
      <p:sp>
        <p:nvSpPr>
          <p:cNvPr id="168" name="Google Shape;168;p2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Sahâbîlerin Zorluklara Göğüs Germeleri</a:t>
            </a:r>
            <a:endParaRPr sz="700">
              <a:solidFill>
                <a:srgbClr val="737373"/>
              </a:solidFill>
              <a:latin typeface="Aptos"/>
              <a:ea typeface="Aptos"/>
              <a:cs typeface="Aptos"/>
              <a:sym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75" name="Google Shape;175;p2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10 · Yâsir Ailesi — Baskı Altında Kimliği Korumak</a:t>
            </a:r>
            <a:endParaRPr b="1" sz="2600">
              <a:solidFill>
                <a:srgbClr val="1F2E33"/>
              </a:solidFill>
              <a:latin typeface="Aptos Display"/>
              <a:ea typeface="Aptos Display"/>
              <a:cs typeface="Aptos Display"/>
              <a:sym typeface="Aptos Display"/>
            </a:endParaRPr>
          </a:p>
        </p:txBody>
      </p:sp>
      <p:sp>
        <p:nvSpPr>
          <p:cNvPr id="176" name="Google Shape;176;p2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77" name="Google Shape;177;p2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Yâsir ailesi Mekke’de İslâm’ı ilk kabul edenler arasındaydı. Güçlü bir kabile korumasına sahip olmadıkları için müşriklerin ağır işkencelerine maruz kaldılar. Hz. Yâsir ve Hz. Sümeyye imanlarından vazgeçmediler; gördükleri işkenceler sonucunda şehid oldular. Resûlullah onların yanından geçerken sabretmelerini söylemiş ve kendilerine cenneti müjdelemiştir. Yâsir ailesinin yaşadığı bu ağır imtihan, ilk Müslümanların iman uğrunda gösterdiği sebatın en unutulmaz örneklerindendir.</a:t>
            </a:r>
            <a:endParaRPr sz="1350">
              <a:solidFill>
                <a:srgbClr val="292E30"/>
              </a:solidFill>
              <a:latin typeface="Aptos"/>
              <a:ea typeface="Aptos"/>
              <a:cs typeface="Aptos"/>
              <a:sym typeface="Aptos"/>
            </a:endParaRPr>
          </a:p>
        </p:txBody>
      </p:sp>
      <p:sp>
        <p:nvSpPr>
          <p:cNvPr id="178" name="Google Shape;178;p2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Çevre baskısının güçlü olması, onun doğru olduğu anlamına gelmez.</a:t>
            </a:r>
            <a:endParaRPr sz="1500">
              <a:solidFill>
                <a:srgbClr val="143333"/>
              </a:solidFill>
              <a:latin typeface="Aptos"/>
              <a:ea typeface="Aptos"/>
              <a:cs typeface="Aptos"/>
              <a:sym typeface="Aptos"/>
            </a:endParaRPr>
          </a:p>
        </p:txBody>
      </p:sp>
      <p:sp>
        <p:nvSpPr>
          <p:cNvPr id="179" name="Google Shape;179;p2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sadece “Herkes böyle yapıyor” diye yaptığın bir şeyi sorgula.</a:t>
            </a:r>
            <a:endParaRPr b="1" sz="1200">
              <a:solidFill>
                <a:srgbClr val="FFFFFF"/>
              </a:solidFill>
              <a:latin typeface="Aptos"/>
              <a:ea typeface="Aptos"/>
              <a:cs typeface="Aptos"/>
              <a:sym typeface="Aptos"/>
            </a:endParaRPr>
          </a:p>
        </p:txBody>
      </p:sp>
      <p:sp>
        <p:nvSpPr>
          <p:cNvPr id="180" name="Google Shape;180;p2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Ashâb-ı Kirâmın Çilelere Tahammülü</a:t>
            </a:r>
            <a:endParaRPr sz="700">
              <a:solidFill>
                <a:srgbClr val="737373"/>
              </a:solidFill>
              <a:latin typeface="Aptos"/>
              <a:ea typeface="Aptos"/>
              <a:cs typeface="Aptos"/>
              <a:sym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87" name="Google Shape;187;p2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11 · Ammâr b. Yâsir — Kalbi İmanla Dopdoluydu</a:t>
            </a:r>
            <a:endParaRPr b="1" sz="2600">
              <a:solidFill>
                <a:srgbClr val="1F2E33"/>
              </a:solidFill>
              <a:latin typeface="Aptos Display"/>
              <a:ea typeface="Aptos Display"/>
              <a:cs typeface="Aptos Display"/>
              <a:sym typeface="Aptos Display"/>
            </a:endParaRPr>
          </a:p>
        </p:txBody>
      </p:sp>
      <p:sp>
        <p:nvSpPr>
          <p:cNvPr id="188" name="Google Shape;188;p2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89" name="Google Shape;189;p2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Ammâr b. Yâsir, Mekke’de müşriklerin ağır işkencesine uğradı. İşkence altında, onlardan kurtulabilmek için kendisinden istenen bazı sözleri diliyle söyledi. Daha sonra Resûlullah’a gelerek yaşadıklarını anlattı. Resûlullah ona kalbini nasıl bulduğunu sordu. Ammâr, kalbinin imanla mutmain olduğunu ifade etti. Nahl sûresinin 106. ayeti de imanından dönmeye zorlanan fakat kalbi imanla mutmain olan kimseyi açıkça istisna eder. Bu hadise, Ammâr’ın imanında veya istikametinde bir değişiklik yaşadığını değil; ağır zorlama altında diliyle söylediği sözlere rağmen kalbinin imanla sabit kaldığını gösterir.</a:t>
            </a:r>
            <a:endParaRPr sz="1350">
              <a:solidFill>
                <a:srgbClr val="292E30"/>
              </a:solidFill>
              <a:latin typeface="Aptos"/>
              <a:ea typeface="Aptos"/>
              <a:cs typeface="Aptos"/>
              <a:sym typeface="Aptos"/>
            </a:endParaRPr>
          </a:p>
          <a:p>
            <a:pPr indent="0" lvl="0" marL="0" rtl="0" algn="l">
              <a:spcBef>
                <a:spcPts val="0"/>
              </a:spcBef>
              <a:spcAft>
                <a:spcPts val="0"/>
              </a:spcAft>
              <a:buNone/>
            </a:pPr>
            <a:r>
              <a:t/>
            </a:r>
            <a:endParaRPr sz="1350">
              <a:solidFill>
                <a:srgbClr val="292E30"/>
              </a:solidFill>
              <a:latin typeface="Aptos"/>
              <a:ea typeface="Aptos"/>
              <a:cs typeface="Aptos"/>
              <a:sym typeface="Aptos"/>
            </a:endParaRPr>
          </a:p>
        </p:txBody>
      </p:sp>
      <p:sp>
        <p:nvSpPr>
          <p:cNvPr id="190" name="Google Shape;190;p2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Ammâr’ın dili baskı altında zorlandı; kalbi ise imanla sabit ve mutmain kaldı.</a:t>
            </a:r>
            <a:endParaRPr sz="1500">
              <a:solidFill>
                <a:srgbClr val="143333"/>
              </a:solidFill>
              <a:latin typeface="Aptos"/>
              <a:ea typeface="Aptos"/>
              <a:cs typeface="Aptos"/>
              <a:sym typeface="Aptos"/>
            </a:endParaRPr>
          </a:p>
          <a:p>
            <a:pPr indent="0" lvl="0" marL="0" rtl="0" algn="ctr">
              <a:spcBef>
                <a:spcPts val="0"/>
              </a:spcBef>
              <a:spcAft>
                <a:spcPts val="0"/>
              </a:spcAft>
              <a:buNone/>
            </a:pPr>
            <a:r>
              <a:t/>
            </a:r>
            <a:endParaRPr sz="1500">
              <a:solidFill>
                <a:srgbClr val="143333"/>
              </a:solidFill>
              <a:latin typeface="Aptos"/>
              <a:ea typeface="Aptos"/>
              <a:cs typeface="Aptos"/>
              <a:sym typeface="Aptos"/>
            </a:endParaRPr>
          </a:p>
        </p:txBody>
      </p:sp>
      <p:sp>
        <p:nvSpPr>
          <p:cNvPr id="191" name="Google Shape;191;p2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Baskı altında kaldığında değerlerinden vazgeçmeden, güvendiğin doğru kişilerden destek iste.</a:t>
            </a:r>
            <a:endParaRPr b="1" sz="1200">
              <a:solidFill>
                <a:srgbClr val="FFFFFF"/>
              </a:solidFill>
              <a:latin typeface="Aptos"/>
              <a:ea typeface="Aptos"/>
              <a:cs typeface="Aptos"/>
              <a:sym typeface="Aptos"/>
            </a:endParaRPr>
          </a:p>
          <a:p>
            <a:pPr indent="0" lvl="0" marL="0" rtl="0" algn="ctr">
              <a:spcBef>
                <a:spcPts val="0"/>
              </a:spcBef>
              <a:spcAft>
                <a:spcPts val="0"/>
              </a:spcAft>
              <a:buNone/>
            </a:pPr>
            <a:r>
              <a:t/>
            </a:r>
            <a:endParaRPr b="1" sz="1200">
              <a:solidFill>
                <a:srgbClr val="FFFFFF"/>
              </a:solidFill>
              <a:latin typeface="Aptos"/>
              <a:ea typeface="Aptos"/>
              <a:cs typeface="Aptos"/>
              <a:sym typeface="Aptos"/>
            </a:endParaRPr>
          </a:p>
        </p:txBody>
      </p:sp>
      <p:sp>
        <p:nvSpPr>
          <p:cNvPr id="192" name="Google Shape;192;p2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Nahl 16/106; TDV İA — “Ammâr b. Yâsir”</a:t>
            </a:r>
            <a:endParaRPr sz="700">
              <a:solidFill>
                <a:srgbClr val="737373"/>
              </a:solidFill>
              <a:latin typeface="Aptos"/>
              <a:ea typeface="Aptos"/>
              <a:cs typeface="Aptos"/>
              <a:sym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199" name="Google Shape;199;p2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12 · Bilâl-i Habeşî — Tek Kelimelik Duruş</a:t>
            </a:r>
            <a:endParaRPr b="1" sz="2600">
              <a:solidFill>
                <a:srgbClr val="1F2E33"/>
              </a:solidFill>
              <a:latin typeface="Aptos Display"/>
              <a:ea typeface="Aptos Display"/>
              <a:cs typeface="Aptos Display"/>
              <a:sym typeface="Aptos Display"/>
            </a:endParaRPr>
          </a:p>
        </p:txBody>
      </p:sp>
      <p:sp>
        <p:nvSpPr>
          <p:cNvPr id="200" name="Google Shape;200;p2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01" name="Google Shape;201;p2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Bilâl-i Habeşî kızgın kumların üzerine yatırılıyor, göğsüne ağır taşlar konuyor ve inancından vazgeçmesi isteniyordu. Fiziksel olarak kendisini savunabilecek güce ve toplumsal korumaya sahip değildi. Fakat işkencecilerin kontrol edemediği bir alan vardı: Kalbindeki inanç. Gücü tükense de dilinde Allah’ın birliğini ifade eden “Ehad, Ehad” sözü vardı. Uzun konuşmalar yapabilecek durumda değildi; tek bir kelime onun duruşunu anlatmaya yetiyordu. Bedenine baskı uygulanabiliyor fakat kimliğinin merkezindeki inancı değiştirilemiyordu. Bu kısa söz, zamanla baskı karşısında parçalanmayan bir karakterin simgesine dönüştü.</a:t>
            </a:r>
            <a:endParaRPr sz="1350">
              <a:solidFill>
                <a:srgbClr val="292E30"/>
              </a:solidFill>
              <a:latin typeface="Aptos"/>
              <a:ea typeface="Aptos"/>
              <a:cs typeface="Aptos"/>
              <a:sym typeface="Aptos"/>
            </a:endParaRPr>
          </a:p>
        </p:txBody>
      </p:sp>
      <p:sp>
        <p:nvSpPr>
          <p:cNvPr id="202" name="Google Shape;202;p2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İnsan bazen uzun konuşmadan da kim olduğunu gösterebilir.</a:t>
            </a:r>
            <a:endParaRPr sz="1500">
              <a:solidFill>
                <a:srgbClr val="143333"/>
              </a:solidFill>
              <a:latin typeface="Aptos"/>
              <a:ea typeface="Aptos"/>
              <a:cs typeface="Aptos"/>
              <a:sym typeface="Aptos"/>
            </a:endParaRPr>
          </a:p>
        </p:txBody>
      </p:sp>
      <p:sp>
        <p:nvSpPr>
          <p:cNvPr id="203" name="Google Shape;203;p2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Seni tanımlayan üç temel değeri yaz ve birini bugün davranışa dönüştür.</a:t>
            </a:r>
            <a:endParaRPr b="1" sz="1200">
              <a:solidFill>
                <a:srgbClr val="FFFFFF"/>
              </a:solidFill>
              <a:latin typeface="Aptos"/>
              <a:ea typeface="Aptos"/>
              <a:cs typeface="Aptos"/>
              <a:sym typeface="Aptos"/>
            </a:endParaRPr>
          </a:p>
        </p:txBody>
      </p:sp>
      <p:sp>
        <p:nvSpPr>
          <p:cNvPr id="204" name="Google Shape;204;p2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Ashâb-ı Kirâmın Çilelere Tahammülü</a:t>
            </a:r>
            <a:endParaRPr sz="700">
              <a:solidFill>
                <a:srgbClr val="737373"/>
              </a:solidFill>
              <a:latin typeface="Aptos"/>
              <a:ea typeface="Aptos"/>
              <a:cs typeface="Aptos"/>
              <a:sym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11" name="Google Shape;211;p2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13 · Habbâb b. Eret — Sabır, Duyguları Saklamak Değildir</a:t>
            </a:r>
            <a:endParaRPr b="1" sz="2600">
              <a:solidFill>
                <a:srgbClr val="1F2E33"/>
              </a:solidFill>
              <a:latin typeface="Aptos Display"/>
              <a:ea typeface="Aptos Display"/>
              <a:cs typeface="Aptos Display"/>
              <a:sym typeface="Aptos Display"/>
            </a:endParaRPr>
          </a:p>
        </p:txBody>
      </p:sp>
      <p:sp>
        <p:nvSpPr>
          <p:cNvPr id="212" name="Google Shape;212;p2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13" name="Google Shape;213;p2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Habbâb b. Eret Mekke’de imanından dolayı ağır işkencelere uğrayan sahabilerdendi. Bir gün Resûlullah Kâbe’nin gölgesinde dinlenirken yanına gelerek müşriklerin baskısından söz etti ve Allah’tan yardım dilemesi için dua istedi. Resûlullah geçmiş ümmetlerden imanları uğrunda çok ağır eziyetlere sabredenleri hatırlattı ve Allah’ın bu dini tamamlayacağını müjdeledi. Habbâb’ın bu hatırası, sahabenin çektiği sıkıntıyı Resûlullah’a arz etmesi ve onun verdiği sabır müjdesiyle birlikte nakledilir.</a:t>
            </a:r>
            <a:endParaRPr sz="1350">
              <a:solidFill>
                <a:srgbClr val="292E30"/>
              </a:solidFill>
              <a:latin typeface="Aptos"/>
              <a:ea typeface="Aptos"/>
              <a:cs typeface="Aptos"/>
              <a:sym typeface="Aptos"/>
            </a:endParaRPr>
          </a:p>
        </p:txBody>
      </p:sp>
      <p:sp>
        <p:nvSpPr>
          <p:cNvPr id="214" name="Google Shape;214;p2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Sabır, hiç zorlanmıyormuş gibi davranmak değildir.</a:t>
            </a:r>
            <a:endParaRPr sz="1500">
              <a:solidFill>
                <a:srgbClr val="143333"/>
              </a:solidFill>
              <a:latin typeface="Aptos"/>
              <a:ea typeface="Aptos"/>
              <a:cs typeface="Aptos"/>
              <a:sym typeface="Aptos"/>
            </a:endParaRPr>
          </a:p>
        </p:txBody>
      </p:sp>
      <p:sp>
        <p:nvSpPr>
          <p:cNvPr id="215" name="Google Shape;215;p2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Seni yoran bir meseleyi güvenilir biriyle açıkça konuş.</a:t>
            </a:r>
            <a:endParaRPr b="1" sz="1200">
              <a:solidFill>
                <a:srgbClr val="FFFFFF"/>
              </a:solidFill>
              <a:latin typeface="Aptos"/>
              <a:ea typeface="Aptos"/>
              <a:cs typeface="Aptos"/>
              <a:sym typeface="Aptos"/>
            </a:endParaRPr>
          </a:p>
        </p:txBody>
      </p:sp>
      <p:sp>
        <p:nvSpPr>
          <p:cNvPr id="216" name="Google Shape;216;p2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Peygamberimizin ve Ashâbın Karşılaştığı Meşakkatler</a:t>
            </a:r>
            <a:endParaRPr sz="700">
              <a:solidFill>
                <a:srgbClr val="737373"/>
              </a:solidFill>
              <a:latin typeface="Aptos"/>
              <a:ea typeface="Aptos"/>
              <a:cs typeface="Aptos"/>
              <a:sym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23" name="Google Shape;223;p2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14 · Yaralı Sahabiler — Su Önce Kardeşime</a:t>
            </a:r>
            <a:endParaRPr b="1" sz="2600">
              <a:solidFill>
                <a:srgbClr val="1F2E33"/>
              </a:solidFill>
              <a:latin typeface="Aptos Display"/>
              <a:ea typeface="Aptos Display"/>
              <a:cs typeface="Aptos Display"/>
              <a:sym typeface="Aptos Display"/>
            </a:endParaRPr>
          </a:p>
        </p:txBody>
      </p:sp>
      <p:sp>
        <p:nvSpPr>
          <p:cNvPr id="224" name="Google Shape;224;p2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25" name="Google Shape;225;p2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Savaşın ardından ağır yaralı sahabilere su ulaştırılmaya çalışılıyordu. Her biri büyük susuzluk içindeydi ve önlerine gelen suya gerçek anlamda ihtiyaç duyuyordu. Fakat yakındaki başka bir yaralının su istediğini duyduklarında kabı ona göndermeyi tercih ettiler. Su bir kişiden diğerine taşındı. O anda yapılan tercih rahat zamanda verilen bir öğüt değildi; insanın kendi ihtiyacının en yoğun olduğu anda gerçekleşiyordu. Hiçbiri kendisini merkeze koymadı. Bu davranış, fedakârlığın ancak insanın gerçekten ihtiyaç duyduğu bir şeyi başkası için erteleyebildiğinde karaktere dönüştüğünü gösterdi.</a:t>
            </a:r>
            <a:endParaRPr sz="1350">
              <a:solidFill>
                <a:srgbClr val="292E30"/>
              </a:solidFill>
              <a:latin typeface="Aptos"/>
              <a:ea typeface="Aptos"/>
              <a:cs typeface="Aptos"/>
              <a:sym typeface="Aptos"/>
            </a:endParaRPr>
          </a:p>
        </p:txBody>
      </p:sp>
      <p:sp>
        <p:nvSpPr>
          <p:cNvPr id="226" name="Google Shape;226;p2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Diğerkâmlık, kendi ihtiyacın varken gerçek anlamını bulur.</a:t>
            </a:r>
            <a:endParaRPr sz="1500">
              <a:solidFill>
                <a:srgbClr val="143333"/>
              </a:solidFill>
              <a:latin typeface="Aptos"/>
              <a:ea typeface="Aptos"/>
              <a:cs typeface="Aptos"/>
              <a:sym typeface="Aptos"/>
            </a:endParaRPr>
          </a:p>
        </p:txBody>
      </p:sp>
      <p:sp>
        <p:nvSpPr>
          <p:cNvPr id="227" name="Google Shape;227;p2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gerçekten istediğin bir şeyi bir başkası için ertele.</a:t>
            </a:r>
            <a:endParaRPr b="1" sz="1200">
              <a:solidFill>
                <a:srgbClr val="FFFFFF"/>
              </a:solidFill>
              <a:latin typeface="Aptos"/>
              <a:ea typeface="Aptos"/>
              <a:cs typeface="Aptos"/>
              <a:sym typeface="Aptos"/>
            </a:endParaRPr>
          </a:p>
        </p:txBody>
      </p:sp>
      <p:sp>
        <p:nvSpPr>
          <p:cNvPr id="228" name="Google Shape;228;p2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Fedakârlık ve Sabır</a:t>
            </a:r>
            <a:endParaRPr sz="700">
              <a:solidFill>
                <a:srgbClr val="737373"/>
              </a:solidFill>
              <a:latin typeface="Aptos"/>
              <a:ea typeface="Aptos"/>
              <a:cs typeface="Aptos"/>
              <a:sym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35" name="Google Shape;235;p2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15 · Ümmü Umâre — Kriz Anında Seyirci Kalmamak</a:t>
            </a:r>
            <a:endParaRPr b="1" sz="2600">
              <a:solidFill>
                <a:srgbClr val="1F2E33"/>
              </a:solidFill>
              <a:latin typeface="Aptos Display"/>
              <a:ea typeface="Aptos Display"/>
              <a:cs typeface="Aptos Display"/>
              <a:sym typeface="Aptos Display"/>
            </a:endParaRPr>
          </a:p>
        </p:txBody>
      </p:sp>
      <p:sp>
        <p:nvSpPr>
          <p:cNvPr id="236" name="Google Shape;236;p2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37" name="Google Shape;237;p2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Ümmü Umâre Uhud’a yaralılara su ulaştırmak ve ihtiyaç sahiplerine yardım etmek için gelmişti. Savaşın seyri değişip Resûlullah’ın çevresindeki savunma zayıflayınca kılıç ve yay kullanarak onun korunmasına katıldı. Çarpışma sırasında birçok yara aldı. Resûlullah, Uhud’da sağa ve sola baktığında Ümmü Umâre’nin kendisini savunduğunu gördüğünü ifade etmiştir. Onun Uhud’daki duruşu, cesaret ve Resûlullah’a bağlılığının güçlü örneklerinden biri olarak nakledilir.</a:t>
            </a:r>
            <a:endParaRPr sz="1350">
              <a:solidFill>
                <a:srgbClr val="292E30"/>
              </a:solidFill>
              <a:latin typeface="Aptos"/>
              <a:ea typeface="Aptos"/>
              <a:cs typeface="Aptos"/>
              <a:sym typeface="Aptos"/>
            </a:endParaRPr>
          </a:p>
        </p:txBody>
      </p:sp>
      <p:sp>
        <p:nvSpPr>
          <p:cNvPr id="238" name="Google Shape;238;p2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Kriz anında yalnız yorum yapmak değil, işe yarayan bir şey yapmak gerekir.</a:t>
            </a:r>
            <a:endParaRPr sz="1500">
              <a:solidFill>
                <a:srgbClr val="143333"/>
              </a:solidFill>
              <a:latin typeface="Aptos"/>
              <a:ea typeface="Aptos"/>
              <a:cs typeface="Aptos"/>
              <a:sym typeface="Aptos"/>
            </a:endParaRPr>
          </a:p>
        </p:txBody>
      </p:sp>
      <p:sp>
        <p:nvSpPr>
          <p:cNvPr id="239" name="Google Shape;239;p2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problem gördüğünde bu hafta en az bir somut çözüm öner ve uygula.</a:t>
            </a:r>
            <a:endParaRPr b="1" sz="1200">
              <a:solidFill>
                <a:srgbClr val="FFFFFF"/>
              </a:solidFill>
              <a:latin typeface="Aptos"/>
              <a:ea typeface="Aptos"/>
              <a:cs typeface="Aptos"/>
              <a:sym typeface="Aptos"/>
            </a:endParaRPr>
          </a:p>
        </p:txBody>
      </p:sp>
      <p:sp>
        <p:nvSpPr>
          <p:cNvPr id="240" name="Google Shape;240;p2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Kadınların Gazalarda Görev Almaları</a:t>
            </a:r>
            <a:endParaRPr sz="700">
              <a:solidFill>
                <a:srgbClr val="737373"/>
              </a:solidFill>
              <a:latin typeface="Aptos"/>
              <a:ea typeface="Aptos"/>
              <a:cs typeface="Aptos"/>
              <a:sym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47" name="Google Shape;247;p2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16 · Talha b. Ubeydullah — Bedeniyle Korumak</a:t>
            </a:r>
            <a:endParaRPr b="1" sz="2600">
              <a:solidFill>
                <a:srgbClr val="1F2E33"/>
              </a:solidFill>
              <a:latin typeface="Aptos Display"/>
              <a:ea typeface="Aptos Display"/>
              <a:cs typeface="Aptos Display"/>
              <a:sym typeface="Aptos Display"/>
            </a:endParaRPr>
          </a:p>
        </p:txBody>
      </p:sp>
      <p:sp>
        <p:nvSpPr>
          <p:cNvPr id="248" name="Google Shape;248;p2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49" name="Google Shape;249;p2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Uhud’da savaşın en tehlikeli anlarında Talha b. Ubeydullah Resûlullah’ın önünde durarak onu korudu. Gelen saldırılara karşı eliyle ve bedeniyle siper oldu ve çok sayıda yara aldı. Sahih rivayetlerde, Uhud günü Resûlullah’ı korurken kullandığı elinin daha sonra işlevini kaybettiği nakledilir. Talha’nın bu davranışı, Resûlullah’a duyduğu sevgi ve sadakatin bedel ödemeyi göze alan çok güçlü bir örneğidir.</a:t>
            </a:r>
            <a:endParaRPr sz="1350">
              <a:solidFill>
                <a:srgbClr val="292E30"/>
              </a:solidFill>
              <a:latin typeface="Aptos"/>
              <a:ea typeface="Aptos"/>
              <a:cs typeface="Aptos"/>
              <a:sym typeface="Aptos"/>
            </a:endParaRPr>
          </a:p>
        </p:txBody>
      </p:sp>
      <p:sp>
        <p:nvSpPr>
          <p:cNvPr id="250" name="Google Shape;250;p2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Sevgi, bedel ödemeye hazır olduğunda karaktere dönüşür.</a:t>
            </a:r>
            <a:endParaRPr sz="1500">
              <a:solidFill>
                <a:srgbClr val="143333"/>
              </a:solidFill>
              <a:latin typeface="Aptos"/>
              <a:ea typeface="Aptos"/>
              <a:cs typeface="Aptos"/>
              <a:sym typeface="Aptos"/>
            </a:endParaRPr>
          </a:p>
        </p:txBody>
      </p:sp>
      <p:sp>
        <p:nvSpPr>
          <p:cNvPr id="251" name="Google Shape;251;p2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Önem verdiğin biri için bu hafta zamanından fedakârlık yap.</a:t>
            </a:r>
            <a:endParaRPr b="1" sz="1200">
              <a:solidFill>
                <a:srgbClr val="FFFFFF"/>
              </a:solidFill>
              <a:latin typeface="Aptos"/>
              <a:ea typeface="Aptos"/>
              <a:cs typeface="Aptos"/>
              <a:sym typeface="Aptos"/>
            </a:endParaRPr>
          </a:p>
        </p:txBody>
      </p:sp>
      <p:sp>
        <p:nvSpPr>
          <p:cNvPr id="252" name="Google Shape;252;p2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Resûlullah Sevgisi</a:t>
            </a:r>
            <a:endParaRPr sz="700">
              <a:solidFill>
                <a:srgbClr val="737373"/>
              </a:solidFill>
              <a:latin typeface="Aptos"/>
              <a:ea typeface="Aptos"/>
              <a:cs typeface="Aptos"/>
              <a:sym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3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59" name="Google Shape;259;p3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17 · Enes b. Nadr — Herkes Geri Dönerken İleri Gitmek</a:t>
            </a:r>
            <a:endParaRPr b="1" sz="2600">
              <a:solidFill>
                <a:srgbClr val="1F2E33"/>
              </a:solidFill>
              <a:latin typeface="Aptos Display"/>
              <a:ea typeface="Aptos Display"/>
              <a:cs typeface="Aptos Display"/>
              <a:sym typeface="Aptos Display"/>
            </a:endParaRPr>
          </a:p>
        </p:txBody>
      </p:sp>
      <p:sp>
        <p:nvSpPr>
          <p:cNvPr id="260" name="Google Shape;260;p3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61" name="Google Shape;261;p3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Uhud günü Müslüman saflarında karışıklık yaşandığı sırada Enes b. Nadr ileri doğru yürümeye devam etti. Sa‘d b. Muâz’la karşılaştığında Uhud tarafında cennetin kokusunu aldığını söyledi ve savaşın içine ilerledi. Savaş sonunda bedeninde kılıç, mızrak ve ok darbelerinden seksenden fazla yara bulunduğu, kız kardeşinin onu ancak parmaklarından tanıyabildiği nakledilir. Enes b. Nadr’ın Uhud’daki sebatı ve şehadeti, sahih rivayetlerle aktarılan büyük fedakârlık örneklerindendir.</a:t>
            </a:r>
            <a:endParaRPr sz="1350">
              <a:solidFill>
                <a:srgbClr val="292E30"/>
              </a:solidFill>
              <a:latin typeface="Aptos"/>
              <a:ea typeface="Aptos"/>
              <a:cs typeface="Aptos"/>
              <a:sym typeface="Aptos"/>
            </a:endParaRPr>
          </a:p>
        </p:txBody>
      </p:sp>
      <p:sp>
        <p:nvSpPr>
          <p:cNvPr id="262" name="Google Shape;262;p3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Çoğunluğun gittiği yön, her zaman doğru yön değildir.</a:t>
            </a:r>
            <a:endParaRPr sz="1500">
              <a:solidFill>
                <a:srgbClr val="143333"/>
              </a:solidFill>
              <a:latin typeface="Aptos"/>
              <a:ea typeface="Aptos"/>
              <a:cs typeface="Aptos"/>
              <a:sym typeface="Aptos"/>
            </a:endParaRPr>
          </a:p>
        </p:txBody>
      </p:sp>
      <p:sp>
        <p:nvSpPr>
          <p:cNvPr id="263" name="Google Shape;263;p3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Arkadaş grubunun etkisiyle yaptığın bir davranışı bu hafta bağımsızca değerlendir.</a:t>
            </a:r>
            <a:endParaRPr b="1" sz="1200">
              <a:solidFill>
                <a:srgbClr val="FFFFFF"/>
              </a:solidFill>
              <a:latin typeface="Aptos"/>
              <a:ea typeface="Aptos"/>
              <a:cs typeface="Aptos"/>
              <a:sym typeface="Aptos"/>
            </a:endParaRPr>
          </a:p>
        </p:txBody>
      </p:sp>
      <p:sp>
        <p:nvSpPr>
          <p:cNvPr id="264" name="Google Shape;264;p3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Ashâb-ı Kirâmın Cesareti</a:t>
            </a:r>
            <a:endParaRPr sz="700">
              <a:solidFill>
                <a:srgbClr val="737373"/>
              </a:solidFill>
              <a:latin typeface="Aptos"/>
              <a:ea typeface="Aptos"/>
              <a:cs typeface="Aptos"/>
              <a:sym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71" name="Google Shape;271;p3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18 · Hanzala — Uhud Çağrısına Hemen Katılmak</a:t>
            </a:r>
            <a:endParaRPr b="1" sz="2600">
              <a:solidFill>
                <a:srgbClr val="1F2E33"/>
              </a:solidFill>
              <a:latin typeface="Aptos Display"/>
              <a:ea typeface="Aptos Display"/>
              <a:cs typeface="Aptos Display"/>
              <a:sym typeface="Aptos Display"/>
            </a:endParaRPr>
          </a:p>
        </p:txBody>
      </p:sp>
      <p:sp>
        <p:nvSpPr>
          <p:cNvPr id="272" name="Google Shape;272;p3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73" name="Google Shape;273;p3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Hanzala b. Ebû Âmir, Uhud Gazvesi’nden bir gün önce evlenmişti. Savaş için çağrı yapıldığında evinden ayrılarak Müslümanların arasına katıldı ve Uhud’da savaştı. O gün şehid oldu. Resûlullah daha sonra onun melekler tarafından yıkandığını haber verdiği için Hanzala “Gāsîlü’l-melâike” adıyla anıldı. Yeni evlendiği bir zamanda çağrıya cevap verip Uhud’a katılması, onun vazife ve fedakârlık anlayışının unutulmaz örneklerinden biri oldu.</a:t>
            </a:r>
            <a:endParaRPr sz="1350">
              <a:solidFill>
                <a:srgbClr val="292E30"/>
              </a:solidFill>
              <a:latin typeface="Aptos"/>
              <a:ea typeface="Aptos"/>
              <a:cs typeface="Aptos"/>
              <a:sym typeface="Aptos"/>
            </a:endParaRPr>
          </a:p>
        </p:txBody>
      </p:sp>
      <p:sp>
        <p:nvSpPr>
          <p:cNvPr id="274" name="Google Shape;274;p3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Önemli bir vazife çağrısı geldiğinde sorumluluğa cevap vermek fedakârlık ister.</a:t>
            </a:r>
            <a:endParaRPr sz="1500">
              <a:solidFill>
                <a:srgbClr val="143333"/>
              </a:solidFill>
              <a:latin typeface="Aptos"/>
              <a:ea typeface="Aptos"/>
              <a:cs typeface="Aptos"/>
              <a:sym typeface="Aptos"/>
            </a:endParaRPr>
          </a:p>
        </p:txBody>
      </p:sp>
      <p:sp>
        <p:nvSpPr>
          <p:cNvPr id="275" name="Google Shape;275;p3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Ertelediğin önemli bir görevi eğlenceden önce tamamla.</a:t>
            </a:r>
            <a:endParaRPr b="1" sz="1200">
              <a:solidFill>
                <a:srgbClr val="FFFFFF"/>
              </a:solidFill>
              <a:latin typeface="Aptos"/>
              <a:ea typeface="Aptos"/>
              <a:cs typeface="Aptos"/>
              <a:sym typeface="Aptos"/>
            </a:endParaRPr>
          </a:p>
        </p:txBody>
      </p:sp>
      <p:sp>
        <p:nvSpPr>
          <p:cNvPr id="276" name="Google Shape;276;p3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Fedakârlık ve Sabır</a:t>
            </a:r>
            <a:endParaRPr sz="700">
              <a:solidFill>
                <a:srgbClr val="737373"/>
              </a:solidFill>
              <a:latin typeface="Aptos"/>
              <a:ea typeface="Aptos"/>
              <a:cs typeface="Aptos"/>
              <a:sym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3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83" name="Google Shape;283;p3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19 · Sa’d b. Rebî — Son Nefeste Bile Vazifeyi Düşünmek</a:t>
            </a:r>
            <a:endParaRPr b="1" sz="2600">
              <a:solidFill>
                <a:srgbClr val="1F2E33"/>
              </a:solidFill>
              <a:latin typeface="Aptos Display"/>
              <a:ea typeface="Aptos Display"/>
              <a:cs typeface="Aptos Display"/>
              <a:sym typeface="Aptos Display"/>
            </a:endParaRPr>
          </a:p>
        </p:txBody>
      </p:sp>
      <p:sp>
        <p:nvSpPr>
          <p:cNvPr id="284" name="Google Shape;284;p3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85" name="Google Shape;285;p3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Uhud’dan sonra Sa’d b. Rebî ağır yaralı hâlde bulundu. Resûlullah’ın kendisini merak ettiğini öğrenince ona selâmını iletti ve Allah’ın Resûlullah’a ümmeti adına en güzel mükâfatı vermesi için dua etti. Bazı siyer rivayetlerinde ensara, Resûlullah hayattayken ona bir zarar gelmesine izin vermemeleri gerektiğini de hatırlattığı nakledilir. Sa’d’ın son anlarında bile Resûlullah’a olan bağlılığını dile getirmesi, sahabenin sadakatinin güçlü örneklerinden biridir.</a:t>
            </a:r>
            <a:endParaRPr sz="1350">
              <a:solidFill>
                <a:srgbClr val="292E30"/>
              </a:solidFill>
              <a:latin typeface="Aptos"/>
              <a:ea typeface="Aptos"/>
              <a:cs typeface="Aptos"/>
              <a:sym typeface="Aptos"/>
            </a:endParaRPr>
          </a:p>
        </p:txBody>
      </p:sp>
      <p:sp>
        <p:nvSpPr>
          <p:cNvPr id="286" name="Google Shape;286;p3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Sorumluluk duygusu, yalnız işler yolundayken ortaya çıkmaz.</a:t>
            </a:r>
            <a:endParaRPr sz="1500">
              <a:solidFill>
                <a:srgbClr val="143333"/>
              </a:solidFill>
              <a:latin typeface="Aptos"/>
              <a:ea typeface="Aptos"/>
              <a:cs typeface="Aptos"/>
              <a:sym typeface="Aptos"/>
            </a:endParaRPr>
          </a:p>
        </p:txBody>
      </p:sp>
      <p:sp>
        <p:nvSpPr>
          <p:cNvPr id="287" name="Google Shape;287;p3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Zorlandığın bir anda bile sorumluluğunda olan tek bir şeyi aksatma.</a:t>
            </a:r>
            <a:endParaRPr b="1" sz="1200">
              <a:solidFill>
                <a:srgbClr val="FFFFFF"/>
              </a:solidFill>
              <a:latin typeface="Aptos"/>
              <a:ea typeface="Aptos"/>
              <a:cs typeface="Aptos"/>
              <a:sym typeface="Aptos"/>
            </a:endParaRPr>
          </a:p>
        </p:txBody>
      </p:sp>
      <p:sp>
        <p:nvSpPr>
          <p:cNvPr id="288" name="Google Shape;288;p3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Sa’d b. Rebî’nin Hikâyesi</a:t>
            </a:r>
            <a:endParaRPr sz="700">
              <a:solidFill>
                <a:srgbClr val="737373"/>
              </a:solidFill>
              <a:latin typeface="Aptos"/>
              <a:ea typeface="Aptos"/>
              <a:cs typeface="Aptos"/>
              <a:sym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3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295" name="Google Shape;295;p3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20 · Kâ’b b. Mâlik — Bir Yalanla Kurtulmak Yerine Doğruyla Beklemek</a:t>
            </a:r>
            <a:endParaRPr b="1" sz="2600">
              <a:solidFill>
                <a:srgbClr val="1F2E33"/>
              </a:solidFill>
              <a:latin typeface="Aptos Display"/>
              <a:ea typeface="Aptos Display"/>
              <a:cs typeface="Aptos Display"/>
              <a:sym typeface="Aptos Display"/>
            </a:endParaRPr>
          </a:p>
        </p:txBody>
      </p:sp>
      <p:sp>
        <p:nvSpPr>
          <p:cNvPr id="296" name="Google Shape;296;p3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97" name="Google Shape;297;p3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Kâ’b b. Mâlik Tebük seferine katılmamıştı ve bunu açıklayacak geçerli bir mazereti de yoktu. İnsanların geri döndüğü gün, kendisini nasıl açıklayacağını uzun uzun düşündü. İkna edici bir mazeret uydurabilecek kadar söz söyleme yeteneğine sahip olduğunu biliyordu. Kısa vadede bir yalan, onu zor bir hesaplaşmadan kurtarabilirdi. Buna rağmen Peygamberimizin huzuruna geldiğinde gerçeği söyledi. Sonrasında ağır bir bekleyiş ve toplumsal yalnızlık yaşadı; fakat söylediği doğru sözden geri dönmedi. Böylece doğruluğun bazen hemen rahatlatmadığını, fakat uzun vadede insanın kendisiyle barışık kalmasını sağladığını gösterdi.</a:t>
            </a:r>
            <a:endParaRPr sz="1350">
              <a:solidFill>
                <a:srgbClr val="292E30"/>
              </a:solidFill>
              <a:latin typeface="Aptos"/>
              <a:ea typeface="Aptos"/>
              <a:cs typeface="Aptos"/>
              <a:sym typeface="Aptos"/>
            </a:endParaRPr>
          </a:p>
        </p:txBody>
      </p:sp>
      <p:sp>
        <p:nvSpPr>
          <p:cNvPr id="298" name="Google Shape;298;p3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Kısa vadede zorlayan doğruluk, uzun vadede insanı korur.</a:t>
            </a:r>
            <a:endParaRPr sz="1500">
              <a:solidFill>
                <a:srgbClr val="143333"/>
              </a:solidFill>
              <a:latin typeface="Aptos"/>
              <a:ea typeface="Aptos"/>
              <a:cs typeface="Aptos"/>
              <a:sym typeface="Aptos"/>
            </a:endParaRPr>
          </a:p>
        </p:txBody>
      </p:sp>
      <p:sp>
        <p:nvSpPr>
          <p:cNvPr id="299" name="Google Shape;299;p3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küçük bir hatanda mazeret üretmeden gerçeği söyle.</a:t>
            </a:r>
            <a:endParaRPr b="1" sz="1200">
              <a:solidFill>
                <a:srgbClr val="FFFFFF"/>
              </a:solidFill>
              <a:latin typeface="Aptos"/>
              <a:ea typeface="Aptos"/>
              <a:cs typeface="Aptos"/>
              <a:sym typeface="Aptos"/>
            </a:endParaRPr>
          </a:p>
        </p:txBody>
      </p:sp>
      <p:sp>
        <p:nvSpPr>
          <p:cNvPr id="300" name="Google Shape;300;p3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“Doğrulukla Kurtuldum”</a:t>
            </a:r>
            <a:endParaRPr sz="700">
              <a:solidFill>
                <a:srgbClr val="737373"/>
              </a:solidFill>
              <a:latin typeface="Aptos"/>
              <a:ea typeface="Aptos"/>
              <a:cs typeface="Aptos"/>
              <a:sym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07" name="Google Shape;307;p3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21 · Ebû Lübâbe — Hatasıyla Yüzleşmek</a:t>
            </a:r>
            <a:endParaRPr b="1" sz="2600">
              <a:solidFill>
                <a:srgbClr val="1F2E33"/>
              </a:solidFill>
              <a:latin typeface="Aptos Display"/>
              <a:ea typeface="Aptos Display"/>
              <a:cs typeface="Aptos Display"/>
              <a:sym typeface="Aptos Display"/>
            </a:endParaRPr>
          </a:p>
        </p:txBody>
      </p:sp>
      <p:sp>
        <p:nvSpPr>
          <p:cNvPr id="308" name="Google Shape;308;p3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09" name="Google Shape;309;p3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Benî Kurayza kuşatması sırasında Ebû Lübâbe, eski müttefikleriyle konuşurken eliyle boğazını işaret ederek teslim olmalarının sonucuna dair bir işarette bulundu. Ardından bu davranışından büyük pişmanlık duydu ve Resûlullah’ın yanına gitmeden Mescid-i Nebevî’ye gidip kendisini bir direğe bağladı. Affedildiğine dair haber gelinceye kadar tövbesini sürdürdü. Bu hadise, Ebû Lübâbe’nin yaptığı davranışın sorumluluğunu ne kadar ciddiye aldığını ve tövbesindeki samimiyeti gösteren bir örnek olarak nakledilir.</a:t>
            </a:r>
            <a:endParaRPr sz="1350">
              <a:solidFill>
                <a:srgbClr val="292E30"/>
              </a:solidFill>
              <a:latin typeface="Aptos"/>
              <a:ea typeface="Aptos"/>
              <a:cs typeface="Aptos"/>
              <a:sym typeface="Aptos"/>
            </a:endParaRPr>
          </a:p>
        </p:txBody>
      </p:sp>
      <p:sp>
        <p:nvSpPr>
          <p:cNvPr id="310" name="Google Shape;310;p3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Hata karşısında ilk iş bahane bulmak olmamalıdır.</a:t>
            </a:r>
            <a:endParaRPr sz="1500">
              <a:solidFill>
                <a:srgbClr val="143333"/>
              </a:solidFill>
              <a:latin typeface="Aptos"/>
              <a:ea typeface="Aptos"/>
              <a:cs typeface="Aptos"/>
              <a:sym typeface="Aptos"/>
            </a:endParaRPr>
          </a:p>
        </p:txBody>
      </p:sp>
      <p:sp>
        <p:nvSpPr>
          <p:cNvPr id="311" name="Google Shape;311;p3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Tekrarladığın bir hata için bugün yazılı bir düzeltme planı yap.</a:t>
            </a:r>
            <a:endParaRPr b="1" sz="1200">
              <a:solidFill>
                <a:srgbClr val="FFFFFF"/>
              </a:solidFill>
              <a:latin typeface="Aptos"/>
              <a:ea typeface="Aptos"/>
              <a:cs typeface="Aptos"/>
              <a:sym typeface="Aptos"/>
            </a:endParaRPr>
          </a:p>
        </p:txBody>
      </p:sp>
      <p:sp>
        <p:nvSpPr>
          <p:cNvPr id="312" name="Google Shape;312;p3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Tevbe ve Sorumluluk Örnekleri</a:t>
            </a:r>
            <a:endParaRPr sz="700">
              <a:solidFill>
                <a:srgbClr val="737373"/>
              </a:solidFill>
              <a:latin typeface="Aptos"/>
              <a:ea typeface="Aptos"/>
              <a:cs typeface="Aptos"/>
              <a:sym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19" name="Google Shape;319;p3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22 · Hz. Ömer ile Übey b. Kâ’b — Halife de Davalı Olabilir</a:t>
            </a:r>
            <a:endParaRPr b="1" sz="2600">
              <a:solidFill>
                <a:srgbClr val="1F2E33"/>
              </a:solidFill>
              <a:latin typeface="Aptos Display"/>
              <a:ea typeface="Aptos Display"/>
              <a:cs typeface="Aptos Display"/>
              <a:sym typeface="Aptos Display"/>
            </a:endParaRPr>
          </a:p>
        </p:txBody>
      </p:sp>
      <p:sp>
        <p:nvSpPr>
          <p:cNvPr id="320" name="Google Shape;320;p3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21" name="Google Shape;321;p3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ile Übey b. Kâ’b arasında bir meselede anlaşmazlık çıktığında konu bir hakemin önüne götürüldü. Halife olan Hz. Ömer de diğer taraf gibi hukukî sürece katıldı ve iddiasını aynı zeminde dile getirdi. Makamı, davanın dışında özel bir üstünlük sağlamadı. Bu hadise, yöneticinin de hukuk ve adalet ölçülerine tabi olduğunu gösteren dikkat çekici örneklerden biri olarak nakledilir.</a:t>
            </a:r>
            <a:endParaRPr sz="1350">
              <a:solidFill>
                <a:srgbClr val="292E30"/>
              </a:solidFill>
              <a:latin typeface="Aptos"/>
              <a:ea typeface="Aptos"/>
              <a:cs typeface="Aptos"/>
              <a:sym typeface="Aptos"/>
            </a:endParaRPr>
          </a:p>
        </p:txBody>
      </p:sp>
      <p:sp>
        <p:nvSpPr>
          <p:cNvPr id="322" name="Google Shape;322;p3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Adalet, güçlü olanın da aynı kurala tabi olmasıdır.</a:t>
            </a:r>
            <a:endParaRPr sz="1500">
              <a:solidFill>
                <a:srgbClr val="143333"/>
              </a:solidFill>
              <a:latin typeface="Aptos"/>
              <a:ea typeface="Aptos"/>
              <a:cs typeface="Aptos"/>
              <a:sym typeface="Aptos"/>
            </a:endParaRPr>
          </a:p>
        </p:txBody>
      </p:sp>
      <p:sp>
        <p:nvSpPr>
          <p:cNvPr id="323" name="Google Shape;323;p3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anlaşmazlıkta kendine de karşı tarafa uyguladığın ölçüyü uygula.</a:t>
            </a:r>
            <a:endParaRPr b="1" sz="1200">
              <a:solidFill>
                <a:srgbClr val="FFFFFF"/>
              </a:solidFill>
              <a:latin typeface="Aptos"/>
              <a:ea typeface="Aptos"/>
              <a:cs typeface="Aptos"/>
              <a:sym typeface="Aptos"/>
            </a:endParaRPr>
          </a:p>
        </p:txBody>
      </p:sp>
      <p:sp>
        <p:nvSpPr>
          <p:cNvPr id="324" name="Google Shape;324;p3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“Hazreti Ömer’in Adaleti”</a:t>
            </a:r>
            <a:endParaRPr sz="700">
              <a:solidFill>
                <a:srgbClr val="737373"/>
              </a:solidFill>
              <a:latin typeface="Aptos"/>
              <a:ea typeface="Aptos"/>
              <a:cs typeface="Aptos"/>
              <a:sym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3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31" name="Google Shape;331;p3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23 · Zeyd b. Sâbit — Makama Ayrıcalık Tanımamak</a:t>
            </a:r>
            <a:endParaRPr b="1" sz="2600">
              <a:solidFill>
                <a:srgbClr val="1F2E33"/>
              </a:solidFill>
              <a:latin typeface="Aptos Display"/>
              <a:ea typeface="Aptos Display"/>
              <a:cs typeface="Aptos Display"/>
              <a:sym typeface="Aptos Display"/>
            </a:endParaRPr>
          </a:p>
        </p:txBody>
      </p:sp>
      <p:sp>
        <p:nvSpPr>
          <p:cNvPr id="332" name="Google Shape;332;p3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33" name="Google Shape;333;p3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Anlaşmazlık Zeyd b. Sâbit’in önüne geldiğinde Hz. Ömer’in halife olması nedeniyle ona özel bir yer veya ayrıcalık gösterilmek istendi. İlk bakışta bu yalnızca saygı ifadesi gibi görülebilirdi. Fakat yargılama başlamadan taraflardan birine farklı davranmak, sürecin dengesini bozabilirdi. Tarafların makamına değil, iddiaların haklılığına bakılması gerekiyordu. Bu yüzden görünürde küçük olan ayrıntı aslında adaletin önemli bir parçasıydı. Olay, adaletin yalnız sonuçta doğru hüküm vermek olmadığını; sürecin başından sonuna kadar eşitliği hissettirmek gerektiğini gösterdi. Saygı ile ayrıcalık arasındaki sınırın korunması, güven için vazgeçilmezdir.</a:t>
            </a:r>
            <a:endParaRPr sz="1350">
              <a:solidFill>
                <a:srgbClr val="292E30"/>
              </a:solidFill>
              <a:latin typeface="Aptos"/>
              <a:ea typeface="Aptos"/>
              <a:cs typeface="Aptos"/>
              <a:sym typeface="Aptos"/>
            </a:endParaRPr>
          </a:p>
        </p:txBody>
      </p:sp>
      <p:sp>
        <p:nvSpPr>
          <p:cNvPr id="334" name="Google Shape;334;p3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Saygı başka, ayrıcalık başka şeydir.</a:t>
            </a:r>
            <a:endParaRPr sz="1500">
              <a:solidFill>
                <a:srgbClr val="143333"/>
              </a:solidFill>
              <a:latin typeface="Aptos"/>
              <a:ea typeface="Aptos"/>
              <a:cs typeface="Aptos"/>
              <a:sym typeface="Aptos"/>
            </a:endParaRPr>
          </a:p>
        </p:txBody>
      </p:sp>
      <p:sp>
        <p:nvSpPr>
          <p:cNvPr id="335" name="Google Shape;335;p3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Sevdiğin birinin hatasını da aynı ölçüyle değerlendirmeyi dene.</a:t>
            </a:r>
            <a:endParaRPr b="1" sz="1200">
              <a:solidFill>
                <a:srgbClr val="FFFFFF"/>
              </a:solidFill>
              <a:latin typeface="Aptos"/>
              <a:ea typeface="Aptos"/>
              <a:cs typeface="Aptos"/>
              <a:sym typeface="Aptos"/>
            </a:endParaRPr>
          </a:p>
        </p:txBody>
      </p:sp>
      <p:sp>
        <p:nvSpPr>
          <p:cNvPr id="336" name="Google Shape;336;p3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“Hazreti Ömer’in Adaleti”</a:t>
            </a:r>
            <a:endParaRPr sz="700">
              <a:solidFill>
                <a:srgbClr val="737373"/>
              </a:solidFill>
              <a:latin typeface="Aptos"/>
              <a:ea typeface="Aptos"/>
              <a:cs typeface="Aptos"/>
              <a:sym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43" name="Google Shape;343;p3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24 · Hz. Ömer — Düzeltilmeyi Kabul Etmek</a:t>
            </a:r>
            <a:endParaRPr b="1" sz="2600">
              <a:solidFill>
                <a:srgbClr val="1F2E33"/>
              </a:solidFill>
              <a:latin typeface="Aptos Display"/>
              <a:ea typeface="Aptos Display"/>
              <a:cs typeface="Aptos Display"/>
              <a:sym typeface="Aptos Display"/>
            </a:endParaRPr>
          </a:p>
        </p:txBody>
      </p:sp>
      <p:sp>
        <p:nvSpPr>
          <p:cNvPr id="344" name="Google Shape;344;p3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45" name="Google Shape;345;p3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bir konuda kendi bildiğini ifade ettiğinde Übey b. Kâ’b farklı bir bilgi ortaya koydu. Hz. Ömer delili dinledi ve doğru bilgi kendisine ulaştığında onu kabul etti. Halife olması, başka bir sahabiden bilgi öğrenmesine engel olmadı. Bu davranış, ilim karşısında tevazu göstermenin ve doğru bilgi geldiğinde onu kabul etmenin güzel örneklerinden biridir.</a:t>
            </a:r>
            <a:endParaRPr sz="1350">
              <a:solidFill>
                <a:srgbClr val="292E30"/>
              </a:solidFill>
              <a:latin typeface="Aptos"/>
              <a:ea typeface="Aptos"/>
              <a:cs typeface="Aptos"/>
              <a:sym typeface="Aptos"/>
            </a:endParaRPr>
          </a:p>
        </p:txBody>
      </p:sp>
      <p:sp>
        <p:nvSpPr>
          <p:cNvPr id="346" name="Google Shape;346;p3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Bilmediğini kabul etmek, insanı küçültmez.</a:t>
            </a:r>
            <a:endParaRPr sz="1500">
              <a:solidFill>
                <a:srgbClr val="143333"/>
              </a:solidFill>
              <a:latin typeface="Aptos"/>
              <a:ea typeface="Aptos"/>
              <a:cs typeface="Aptos"/>
              <a:sym typeface="Aptos"/>
            </a:endParaRPr>
          </a:p>
        </p:txBody>
      </p:sp>
      <p:sp>
        <p:nvSpPr>
          <p:cNvPr id="347" name="Google Shape;347;p3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konuda “Bunu bilmiyorum” demen gerekiyorsa açıkça söyle.</a:t>
            </a:r>
            <a:endParaRPr b="1" sz="1200">
              <a:solidFill>
                <a:srgbClr val="FFFFFF"/>
              </a:solidFill>
              <a:latin typeface="Aptos"/>
              <a:ea typeface="Aptos"/>
              <a:cs typeface="Aptos"/>
              <a:sym typeface="Aptos"/>
            </a:endParaRPr>
          </a:p>
        </p:txBody>
      </p:sp>
      <p:sp>
        <p:nvSpPr>
          <p:cNvPr id="348" name="Google Shape;348;p3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“Denemek İstedim”</a:t>
            </a:r>
            <a:endParaRPr sz="700">
              <a:solidFill>
                <a:srgbClr val="737373"/>
              </a:solidFill>
              <a:latin typeface="Aptos"/>
              <a:ea typeface="Aptos"/>
              <a:cs typeface="Aptos"/>
              <a:sym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3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55" name="Google Shape;355;p3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25 · Hz. Ömer — İhtiyar Yahudinin Maaşı</a:t>
            </a:r>
            <a:endParaRPr b="1" sz="2600">
              <a:solidFill>
                <a:srgbClr val="1F2E33"/>
              </a:solidFill>
              <a:latin typeface="Aptos Display"/>
              <a:ea typeface="Aptos Display"/>
              <a:cs typeface="Aptos Display"/>
              <a:sym typeface="Aptos Display"/>
            </a:endParaRPr>
          </a:p>
        </p:txBody>
      </p:sp>
      <p:sp>
        <p:nvSpPr>
          <p:cNvPr id="356" name="Google Shape;356;p3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57" name="Google Shape;357;p3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sokakta yaşlı ve ihtiyaç sahibi bir Yahudiyle karşılaştığında meseleye yalnız bireysel bir yardım gözüyle bakmadı. Bu kişinin gençliğinde toplumun yükümlülüklerine katkıda bulunmuş, yaşlandığında ise güçten düşmüş olduğunu düşündü. Onu kendi hâline bırakmanın adil olmayacağı kanaatine vardı. Beytülmâlden düzenli destek verilmesini istedi. Yardımı dinî kimlik veya grup aidiyetiyle sınırlandırmadı. Böylece yöneticiliğin sadece çoğunluğun veya kendisine benzeyen insanların ihtiyaçlarıyla ilgilenmek olmadığını gösterdi. Adalet, toplumdaki savunmasız herkesin insan onurunu korumayı gerektirir.</a:t>
            </a:r>
            <a:endParaRPr sz="1350">
              <a:solidFill>
                <a:srgbClr val="292E30"/>
              </a:solidFill>
              <a:latin typeface="Aptos"/>
              <a:ea typeface="Aptos"/>
              <a:cs typeface="Aptos"/>
              <a:sym typeface="Aptos"/>
            </a:endParaRPr>
          </a:p>
        </p:txBody>
      </p:sp>
      <p:sp>
        <p:nvSpPr>
          <p:cNvPr id="358" name="Google Shape;358;p3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Adalet ve merhamet, sadece bize benzeyen insanlara gösterilmez.</a:t>
            </a:r>
            <a:endParaRPr sz="1500">
              <a:solidFill>
                <a:srgbClr val="143333"/>
              </a:solidFill>
              <a:latin typeface="Aptos"/>
              <a:ea typeface="Aptos"/>
              <a:cs typeface="Aptos"/>
              <a:sym typeface="Aptos"/>
            </a:endParaRPr>
          </a:p>
        </p:txBody>
      </p:sp>
      <p:sp>
        <p:nvSpPr>
          <p:cNvPr id="359" name="Google Shape;359;p3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senden farklı biri için bilinçli bir iyilik yap.</a:t>
            </a:r>
            <a:endParaRPr b="1" sz="1200">
              <a:solidFill>
                <a:srgbClr val="FFFFFF"/>
              </a:solidFill>
              <a:latin typeface="Aptos"/>
              <a:ea typeface="Aptos"/>
              <a:cs typeface="Aptos"/>
              <a:sym typeface="Aptos"/>
            </a:endParaRPr>
          </a:p>
        </p:txBody>
      </p:sp>
      <p:sp>
        <p:nvSpPr>
          <p:cNvPr id="360" name="Google Shape;360;p3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“İhtiyar Yahudinin Maaşı”</a:t>
            </a:r>
            <a:endParaRPr sz="700">
              <a:solidFill>
                <a:srgbClr val="737373"/>
              </a:solidFill>
              <a:latin typeface="Aptos"/>
              <a:ea typeface="Aptos"/>
              <a:cs typeface="Aptos"/>
              <a:sym typeface="Apto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67" name="Google Shape;367;p3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26 · Hz. Ömer — Gece Görüp Sabahı Beklememek</a:t>
            </a:r>
            <a:endParaRPr b="1" sz="2600">
              <a:solidFill>
                <a:srgbClr val="1F2E33"/>
              </a:solidFill>
              <a:latin typeface="Aptos Display"/>
              <a:ea typeface="Aptos Display"/>
              <a:cs typeface="Aptos Display"/>
              <a:sym typeface="Aptos Display"/>
            </a:endParaRPr>
          </a:p>
        </p:txBody>
      </p:sp>
      <p:sp>
        <p:nvSpPr>
          <p:cNvPr id="368" name="Google Shape;368;p3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69" name="Google Shape;369;p3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gece halkın durumunu görmek için dolaşırken bir çadırdan çocukların ağlama seslerini duydu. İçerideki annenin çocuklarını oyalamak için tencerede su kaynattığını ve evde yiyecek bulunmadığını öğrendi. Bunun üzerine erzak bulunan yere giderek un ve yiyecek aldı; çuvalı kendi sırtında aileye taşıdı ve yemeğin hazırlanmasına yardım etti. Hz. Ömer’in bu davranışı, yöneticinin halkın ihtiyacını bizzat görmesi ve çözümüne doğrudan katılması bakımından sıkça anlatılan örneklerden biridir.</a:t>
            </a:r>
            <a:endParaRPr sz="1350">
              <a:solidFill>
                <a:srgbClr val="292E30"/>
              </a:solidFill>
              <a:latin typeface="Aptos"/>
              <a:ea typeface="Aptos"/>
              <a:cs typeface="Aptos"/>
              <a:sym typeface="Aptos"/>
            </a:endParaRPr>
          </a:p>
        </p:txBody>
      </p:sp>
      <p:sp>
        <p:nvSpPr>
          <p:cNvPr id="370" name="Google Shape;370;p3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problemi görmek, çözüm sorumluluğunu da doğurabilir.</a:t>
            </a:r>
            <a:endParaRPr sz="1500">
              <a:solidFill>
                <a:srgbClr val="143333"/>
              </a:solidFill>
              <a:latin typeface="Aptos"/>
              <a:ea typeface="Aptos"/>
              <a:cs typeface="Aptos"/>
              <a:sym typeface="Aptos"/>
            </a:endParaRPr>
          </a:p>
        </p:txBody>
      </p:sp>
      <p:sp>
        <p:nvSpPr>
          <p:cNvPr id="371" name="Google Shape;371;p3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fark ettiğin küçük bir problemi aynı gün çözmeye çalış.</a:t>
            </a:r>
            <a:endParaRPr b="1" sz="1200">
              <a:solidFill>
                <a:srgbClr val="FFFFFF"/>
              </a:solidFill>
              <a:latin typeface="Aptos"/>
              <a:ea typeface="Aptos"/>
              <a:cs typeface="Aptos"/>
              <a:sym typeface="Aptos"/>
            </a:endParaRPr>
          </a:p>
        </p:txBody>
      </p:sp>
      <p:sp>
        <p:nvSpPr>
          <p:cNvPr id="372" name="Google Shape;372;p3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İdarecilerin Halkın Nabzını Tutmaları</a:t>
            </a:r>
            <a:endParaRPr sz="700">
              <a:solidFill>
                <a:srgbClr val="737373"/>
              </a:solidFill>
              <a:latin typeface="Aptos"/>
              <a:ea typeface="Aptos"/>
              <a:cs typeface="Aptos"/>
              <a:sym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4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79" name="Google Shape;379;p4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27 · Hz. Ömer — Merhametsiz Yöneticiyi Görevlendirmemek</a:t>
            </a:r>
            <a:endParaRPr b="1" sz="2600">
              <a:solidFill>
                <a:srgbClr val="1F2E33"/>
              </a:solidFill>
              <a:latin typeface="Aptos Display"/>
              <a:ea typeface="Aptos Display"/>
              <a:cs typeface="Aptos Display"/>
              <a:sym typeface="Aptos Display"/>
            </a:endParaRPr>
          </a:p>
        </p:txBody>
      </p:sp>
      <p:sp>
        <p:nvSpPr>
          <p:cNvPr id="380" name="Google Shape;380;p4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81" name="Google Shape;381;p4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bir kişiyi yöneticilik görevine getirmeyi düşünürken onun çocuklarına karşı hiç şefkat göstermediğini öğrendi. Aday, bunu sertlik ve otorite göstergesi gibi anlatıyordu. Hz. Ömer ise tam tersine bu bilgiyi ciddi bir işaret olarak değerlendirdi. Kendi evindeki zayıf ve kendisine muhtaç insanlara merhamet göstermeyen birinin halkın sıkıntılarına ne kadar duyarlı olacağını sorguladı. Yöneticiliğin yalnız emir vermek, güçlü görünmek veya iş bitirmekten ibaret olmadığı kanaatine vardı. İnsanlara karşı şefkat ve sorumluluk duygusunu da liyakatin bir parçası saydı. Böylece yetkinlik kavramına ahlâkî boyut ekledi.</a:t>
            </a:r>
            <a:endParaRPr sz="1350">
              <a:solidFill>
                <a:srgbClr val="292E30"/>
              </a:solidFill>
              <a:latin typeface="Aptos"/>
              <a:ea typeface="Aptos"/>
              <a:cs typeface="Aptos"/>
              <a:sym typeface="Aptos"/>
            </a:endParaRPr>
          </a:p>
        </p:txBody>
      </p:sp>
      <p:sp>
        <p:nvSpPr>
          <p:cNvPr id="382" name="Google Shape;382;p4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Yetkinlik sadece güç ve beceri değil, insanlık da ister.</a:t>
            </a:r>
            <a:endParaRPr sz="1500">
              <a:solidFill>
                <a:srgbClr val="143333"/>
              </a:solidFill>
              <a:latin typeface="Aptos"/>
              <a:ea typeface="Aptos"/>
              <a:cs typeface="Aptos"/>
              <a:sym typeface="Aptos"/>
            </a:endParaRPr>
          </a:p>
        </p:txBody>
      </p:sp>
      <p:sp>
        <p:nvSpPr>
          <p:cNvPr id="383" name="Google Shape;383;p4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liderde aradığın üç ahlâkî özelliği yaz.</a:t>
            </a:r>
            <a:endParaRPr b="1" sz="1200">
              <a:solidFill>
                <a:srgbClr val="FFFFFF"/>
              </a:solidFill>
              <a:latin typeface="Aptos"/>
              <a:ea typeface="Aptos"/>
              <a:cs typeface="Aptos"/>
              <a:sym typeface="Aptos"/>
            </a:endParaRPr>
          </a:p>
        </p:txBody>
      </p:sp>
      <p:sp>
        <p:nvSpPr>
          <p:cNvPr id="384" name="Google Shape;384;p4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a:t>
            </a:r>
            <a:endParaRPr sz="700">
              <a:solidFill>
                <a:srgbClr val="737373"/>
              </a:solidFill>
              <a:latin typeface="Aptos"/>
              <a:ea typeface="Aptos"/>
              <a:cs typeface="Aptos"/>
              <a:sym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4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391" name="Google Shape;391;p4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28 · Hz. Ömer — Kölesiyle Nöbetleşe Deveye Binmek</a:t>
            </a:r>
            <a:endParaRPr b="1" sz="2600">
              <a:solidFill>
                <a:srgbClr val="1F2E33"/>
              </a:solidFill>
              <a:latin typeface="Aptos Display"/>
              <a:ea typeface="Aptos Display"/>
              <a:cs typeface="Aptos Display"/>
              <a:sym typeface="Aptos Display"/>
            </a:endParaRPr>
          </a:p>
        </p:txBody>
      </p:sp>
      <p:sp>
        <p:nvSpPr>
          <p:cNvPr id="392" name="Google Shape;392;p4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93" name="Google Shape;393;p4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bir yolculukta hizmetçisiyle tek deveyi nöbetleşe kullanıyordu. Kudüs’e yaklaştıklarında binme sırası hizmetçisine denk geldi. Hz. Ömer önceden belirlenen sırayı değiştirmedi ve kendisi yürürken hizmetçisi deveye bindi. Halife olduğu hâlde yolculuk imkânını hizmetçisiyle paylaşması, onun sade yaşayışının ve eşitlik anlayışının en çok anlatılan örneklerinden biri oldu.</a:t>
            </a:r>
            <a:endParaRPr sz="1350">
              <a:solidFill>
                <a:srgbClr val="292E30"/>
              </a:solidFill>
              <a:latin typeface="Aptos"/>
              <a:ea typeface="Aptos"/>
              <a:cs typeface="Aptos"/>
              <a:sym typeface="Aptos"/>
            </a:endParaRPr>
          </a:p>
        </p:txBody>
      </p:sp>
      <p:sp>
        <p:nvSpPr>
          <p:cNvPr id="394" name="Google Shape;394;p4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Eşitlik, davranışta görünmediğinde sadece sözde kalır.</a:t>
            </a:r>
            <a:endParaRPr sz="1500">
              <a:solidFill>
                <a:srgbClr val="143333"/>
              </a:solidFill>
              <a:latin typeface="Aptos"/>
              <a:ea typeface="Aptos"/>
              <a:cs typeface="Aptos"/>
              <a:sym typeface="Aptos"/>
            </a:endParaRPr>
          </a:p>
        </p:txBody>
      </p:sp>
      <p:sp>
        <p:nvSpPr>
          <p:cNvPr id="395" name="Google Shape;395;p4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ortak imkânda bu hafta kendine öncelik tanımamayı dene.</a:t>
            </a:r>
            <a:endParaRPr b="1" sz="1200">
              <a:solidFill>
                <a:srgbClr val="FFFFFF"/>
              </a:solidFill>
              <a:latin typeface="Aptos"/>
              <a:ea typeface="Aptos"/>
              <a:cs typeface="Aptos"/>
              <a:sym typeface="Aptos"/>
            </a:endParaRPr>
          </a:p>
        </p:txBody>
      </p:sp>
      <p:sp>
        <p:nvSpPr>
          <p:cNvPr id="396" name="Google Shape;396;p4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Halifelerin Yaşayış Tarzları</a:t>
            </a:r>
            <a:endParaRPr sz="700">
              <a:solidFill>
                <a:srgbClr val="737373"/>
              </a:solidFill>
              <a:latin typeface="Aptos"/>
              <a:ea typeface="Aptos"/>
              <a:cs typeface="Aptos"/>
              <a:sym typeface="Apto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4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03" name="Google Shape;403;p4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29 · Hz. Ömer — Nefsini Muhasebe Etmek</a:t>
            </a:r>
            <a:endParaRPr b="1" sz="2600">
              <a:solidFill>
                <a:srgbClr val="1F2E33"/>
              </a:solidFill>
              <a:latin typeface="Aptos Display"/>
              <a:ea typeface="Aptos Display"/>
              <a:cs typeface="Aptos Display"/>
              <a:sym typeface="Aptos Display"/>
            </a:endParaRPr>
          </a:p>
        </p:txBody>
      </p:sp>
      <p:sp>
        <p:nvSpPr>
          <p:cNvPr id="404" name="Google Shape;404;p4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05" name="Google Shape;405;p4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Ömer’in hilâfeti döneminde geniş bölgeler İslâm devletine katılmış ve birçok heyet Medine’ye gelmeye başlamıştı. Bazı rivayetlerde, bu ilgi karşısında nefsinde bir büyüklük hissi belirmesinden endişe ettiğinde insanlara geçmişte yaptığı sade işleri hatırlattığı nakledilir. Böylece kendi nefsini sürekli muhasebe altında tutmaya çalışıyordu. Bu davranış, büyük bir makamda bulunduğu hâlde tevazuyu koruma konusundaki hassasiyetinin örneklerinden biri olarak anlatılır.</a:t>
            </a:r>
            <a:endParaRPr sz="1350">
              <a:solidFill>
                <a:srgbClr val="292E30"/>
              </a:solidFill>
              <a:latin typeface="Aptos"/>
              <a:ea typeface="Aptos"/>
              <a:cs typeface="Aptos"/>
              <a:sym typeface="Aptos"/>
            </a:endParaRPr>
          </a:p>
        </p:txBody>
      </p:sp>
      <p:sp>
        <p:nvSpPr>
          <p:cNvPr id="406" name="Google Shape;406;p4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Başarı ve makam arttıkça tevazu ve nefis muhasebesi daha da önem kazanır.</a:t>
            </a:r>
            <a:endParaRPr sz="1500">
              <a:solidFill>
                <a:srgbClr val="143333"/>
              </a:solidFill>
              <a:latin typeface="Aptos"/>
              <a:ea typeface="Aptos"/>
              <a:cs typeface="Aptos"/>
              <a:sym typeface="Aptos"/>
            </a:endParaRPr>
          </a:p>
        </p:txBody>
      </p:sp>
      <p:sp>
        <p:nvSpPr>
          <p:cNvPr id="407" name="Google Shape;407;p4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Başarılı olduğun bir konuda seni geliştiren insanları ve şartları yaz.</a:t>
            </a:r>
            <a:endParaRPr b="1" sz="1200">
              <a:solidFill>
                <a:srgbClr val="FFFFFF"/>
              </a:solidFill>
              <a:latin typeface="Aptos"/>
              <a:ea typeface="Aptos"/>
              <a:cs typeface="Aptos"/>
              <a:sym typeface="Aptos"/>
            </a:endParaRPr>
          </a:p>
        </p:txBody>
      </p:sp>
      <p:sp>
        <p:nvSpPr>
          <p:cNvPr id="408" name="Google Shape;408;p4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Nefis Muhasebesi</a:t>
            </a:r>
            <a:endParaRPr sz="700">
              <a:solidFill>
                <a:srgbClr val="737373"/>
              </a:solidFill>
              <a:latin typeface="Aptos"/>
              <a:ea typeface="Aptos"/>
              <a:cs typeface="Aptos"/>
              <a:sym typeface="Apto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4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15" name="Google Shape;415;p4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30 · Hz. Ebû Bekir ile Hz. Ömer — Kırgınlığı Uzatmamak</a:t>
            </a:r>
            <a:endParaRPr b="1" sz="2600">
              <a:solidFill>
                <a:srgbClr val="1F2E33"/>
              </a:solidFill>
              <a:latin typeface="Aptos Display"/>
              <a:ea typeface="Aptos Display"/>
              <a:cs typeface="Aptos Display"/>
              <a:sym typeface="Aptos Display"/>
            </a:endParaRPr>
          </a:p>
        </p:txBody>
      </p:sp>
      <p:sp>
        <p:nvSpPr>
          <p:cNvPr id="416" name="Google Shape;416;p4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17" name="Google Shape;417;p4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Bekir ile Hz. Ömer arasında bir konuşma sırasında kırgınlık yaşandı. Hz. Ebû Bekir kısa süre sonra Hz. Ömer’den hakkını helâl etmesini istedi. Daha sonra Hz. Ömer de meseleyi düzeltmek için Hz. Ebû Bekir’i aradı. İki büyük sahabinin bir anlaşmazlığı uzun süreli bir kırgınlığa dönüştürmemesi, dostluklarında barışmaya ve gönül almaya verdikleri değeri gösterir.</a:t>
            </a:r>
            <a:endParaRPr sz="1350">
              <a:solidFill>
                <a:srgbClr val="292E30"/>
              </a:solidFill>
              <a:latin typeface="Aptos"/>
              <a:ea typeface="Aptos"/>
              <a:cs typeface="Aptos"/>
              <a:sym typeface="Aptos"/>
            </a:endParaRPr>
          </a:p>
        </p:txBody>
      </p:sp>
      <p:sp>
        <p:nvSpPr>
          <p:cNvPr id="418" name="Google Shape;418;p4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Dostlukta kırgınlığı büyütmek yerine gönül almaya çalışmak değerlidir.</a:t>
            </a:r>
            <a:endParaRPr sz="1500">
              <a:solidFill>
                <a:srgbClr val="143333"/>
              </a:solidFill>
              <a:latin typeface="Aptos"/>
              <a:ea typeface="Aptos"/>
              <a:cs typeface="Aptos"/>
              <a:sym typeface="Aptos"/>
            </a:endParaRPr>
          </a:p>
        </p:txBody>
      </p:sp>
      <p:sp>
        <p:nvSpPr>
          <p:cNvPr id="419" name="Google Shape;419;p4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Kırgın olduğun biri varsa barışmak için ilk mesajı sen at.</a:t>
            </a:r>
            <a:endParaRPr b="1" sz="1200">
              <a:solidFill>
                <a:srgbClr val="FFFFFF"/>
              </a:solidFill>
              <a:latin typeface="Aptos"/>
              <a:ea typeface="Aptos"/>
              <a:cs typeface="Aptos"/>
              <a:sym typeface="Aptos"/>
            </a:endParaRPr>
          </a:p>
        </p:txBody>
      </p:sp>
      <p:sp>
        <p:nvSpPr>
          <p:cNvPr id="420" name="Google Shape;420;p4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Resûlullah Sevgisi</a:t>
            </a:r>
            <a:endParaRPr sz="700">
              <a:solidFill>
                <a:srgbClr val="737373"/>
              </a:solidFill>
              <a:latin typeface="Aptos"/>
              <a:ea typeface="Aptos"/>
              <a:cs typeface="Aptos"/>
              <a:sym typeface="Apto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4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27" name="Google Shape;427;p4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31 · Hz. Ebû Bekir — Kırıldığı Kişiye Yardımı Sürdürmek</a:t>
            </a:r>
            <a:endParaRPr b="1" sz="2600">
              <a:solidFill>
                <a:srgbClr val="1F2E33"/>
              </a:solidFill>
              <a:latin typeface="Aptos Display"/>
              <a:ea typeface="Aptos Display"/>
              <a:cs typeface="Aptos Display"/>
              <a:sym typeface="Aptos Display"/>
            </a:endParaRPr>
          </a:p>
        </p:txBody>
      </p:sp>
      <p:sp>
        <p:nvSpPr>
          <p:cNvPr id="428" name="Google Shape;428;p4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29" name="Google Shape;429;p4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Bekir, ifk hadisesine karışan Mistah b. Üsâse’ye daha önceden düzenli olarak maddî yardım ediyordu. Yaşananlardan sonra ona yardım etmeyeceğine yemin etti. Bunun üzerine Nûr sûresinin 22. ayetinde affetme ve bağışlama hatırlatıldı. Hz. Ebû Bekir ayeti duyunca Allah’ın kendisini bağışlamasını istediğini söyledi ve Mistah’a yaptığı yardımı yeniden sürdürdü. Bu hadise, ilahî uyarı karşısındaki teslimiyetinin ve affediciliğinin güçlü örneklerinden biridir.</a:t>
            </a:r>
            <a:endParaRPr sz="1350">
              <a:solidFill>
                <a:srgbClr val="292E30"/>
              </a:solidFill>
              <a:latin typeface="Aptos"/>
              <a:ea typeface="Aptos"/>
              <a:cs typeface="Aptos"/>
              <a:sym typeface="Aptos"/>
            </a:endParaRPr>
          </a:p>
        </p:txBody>
      </p:sp>
      <p:sp>
        <p:nvSpPr>
          <p:cNvPr id="430" name="Google Shape;430;p4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Affetmek, sadece sözle değil davranışla da belli olur.</a:t>
            </a:r>
            <a:endParaRPr sz="1500">
              <a:solidFill>
                <a:srgbClr val="143333"/>
              </a:solidFill>
              <a:latin typeface="Aptos"/>
              <a:ea typeface="Aptos"/>
              <a:cs typeface="Aptos"/>
              <a:sym typeface="Aptos"/>
            </a:endParaRPr>
          </a:p>
        </p:txBody>
      </p:sp>
      <p:sp>
        <p:nvSpPr>
          <p:cNvPr id="431" name="Google Shape;431;p4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Kırgın olduğun birine karşı haksızlık yapmamaya özellikle dikkat et.</a:t>
            </a:r>
            <a:endParaRPr b="1" sz="1200">
              <a:solidFill>
                <a:srgbClr val="FFFFFF"/>
              </a:solidFill>
              <a:latin typeface="Aptos"/>
              <a:ea typeface="Aptos"/>
              <a:cs typeface="Aptos"/>
              <a:sym typeface="Aptos"/>
            </a:endParaRPr>
          </a:p>
        </p:txBody>
      </p:sp>
      <p:sp>
        <p:nvSpPr>
          <p:cNvPr id="432" name="Google Shape;432;p4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Hoşgörü ve Affedicilik</a:t>
            </a:r>
            <a:endParaRPr sz="700">
              <a:solidFill>
                <a:srgbClr val="737373"/>
              </a:solidFill>
              <a:latin typeface="Aptos"/>
              <a:ea typeface="Aptos"/>
              <a:cs typeface="Aptos"/>
              <a:sym typeface="Apto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4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39" name="Google Shape;439;p4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32 · Üsâme b. Zeyd — Adalette Ayrıcalık Olmaz</a:t>
            </a:r>
            <a:endParaRPr b="1" sz="2600">
              <a:solidFill>
                <a:srgbClr val="1F2E33"/>
              </a:solidFill>
              <a:latin typeface="Aptos Display"/>
              <a:ea typeface="Aptos Display"/>
              <a:cs typeface="Aptos Display"/>
              <a:sym typeface="Aptos Display"/>
            </a:endParaRPr>
          </a:p>
        </p:txBody>
      </p:sp>
      <p:sp>
        <p:nvSpPr>
          <p:cNvPr id="440" name="Google Shape;440;p4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41" name="Google Shape;441;p4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Benî Mahzûm’dan bir kadın hırsızlık yaptığında bazı sahabiler cezanın uygulanmaması için Resûlullah’a kimin aracılık edebileceğini düşündüler. Resûlullah’ın çok sevdiği Üsâme b. Zeyd’den bu konuda ricada bulunmasını istediler. Üsâme onların isteğini Resûlullah’a iletti. Peygamberimiz, Allah’ın koyduğu bir hüküm konusunda aracılık yapılmasını kabul etmedi ve önceki toplumların güçlü ile zayıf arasında ayrım yaptıkları için bozulduğunu açıkladı. Bu hadise, Üsâme’nin şahsından çok adaletin kişilere göre değişmemesi gerektiğini öğreten açık bir ölçü oldu.</a:t>
            </a:r>
            <a:endParaRPr sz="1350">
              <a:solidFill>
                <a:srgbClr val="292E30"/>
              </a:solidFill>
              <a:latin typeface="Aptos"/>
              <a:ea typeface="Aptos"/>
              <a:cs typeface="Aptos"/>
              <a:sym typeface="Aptos"/>
            </a:endParaRPr>
          </a:p>
        </p:txBody>
      </p:sp>
      <p:sp>
        <p:nvSpPr>
          <p:cNvPr id="442" name="Google Shape;442;p4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Adalet, kişinin yakınlığına veya toplumdaki konumuna göre değişmemelidir.</a:t>
            </a:r>
            <a:endParaRPr sz="1500">
              <a:solidFill>
                <a:srgbClr val="143333"/>
              </a:solidFill>
              <a:latin typeface="Aptos"/>
              <a:ea typeface="Aptos"/>
              <a:cs typeface="Aptos"/>
              <a:sym typeface="Aptos"/>
            </a:endParaRPr>
          </a:p>
        </p:txBody>
      </p:sp>
      <p:sp>
        <p:nvSpPr>
          <p:cNvPr id="443" name="Google Shape;443;p4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arkadaşının hatasını sırf yakın olduğun için savunup savunmadığını düşün.</a:t>
            </a:r>
            <a:endParaRPr b="1" sz="1200">
              <a:solidFill>
                <a:srgbClr val="FFFFFF"/>
              </a:solidFill>
              <a:latin typeface="Aptos"/>
              <a:ea typeface="Aptos"/>
              <a:cs typeface="Aptos"/>
              <a:sym typeface="Aptos"/>
            </a:endParaRPr>
          </a:p>
        </p:txBody>
      </p:sp>
      <p:sp>
        <p:nvSpPr>
          <p:cNvPr id="444" name="Google Shape;444;p4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Doğruluk ve Sadakat — “Ayrıcalık Yok”</a:t>
            </a:r>
            <a:endParaRPr sz="700">
              <a:solidFill>
                <a:srgbClr val="737373"/>
              </a:solidFill>
              <a:latin typeface="Aptos"/>
              <a:ea typeface="Aptos"/>
              <a:cs typeface="Aptos"/>
              <a:sym typeface="Apto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4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51" name="Google Shape;451;p4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33 · Selmân el-Fârisî — Dengeyi Hatırlatmak</a:t>
            </a:r>
            <a:endParaRPr b="1" sz="2600">
              <a:solidFill>
                <a:srgbClr val="1F2E33"/>
              </a:solidFill>
              <a:latin typeface="Aptos Display"/>
              <a:ea typeface="Aptos Display"/>
              <a:cs typeface="Aptos Display"/>
              <a:sym typeface="Aptos Display"/>
            </a:endParaRPr>
          </a:p>
        </p:txBody>
      </p:sp>
      <p:sp>
        <p:nvSpPr>
          <p:cNvPr id="452" name="Google Shape;452;p4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53" name="Google Shape;453;p4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Selmân el-Fârisî, arkadaşı Ebü’d-Derdâ’nın ibadete çok yoğunlaştığını fakat bu sırada kendi bedenini ve ailesini ihmal ettiğini fark etti. Onu küçümsemedi veya dindarlığını sorgulamadı. Bunun yerine insanın Rabbi, bedeni ve ailesi karşısında farklı sorumlulukları bulunduğunu hatırlattı. Bir alanda çok iyi olmaya çalışırken diğer hakların yok sayılmasının doğru olmadığını söyledi. Peygamberimiz de bu dengeli yaklaşımı onayladı. Olay, aşırılığın her zaman daha fazla iyilik anlamına gelmediğini gösterdi. Sağlam bir hayat, önemli değerleri birbirine ezdirmeden dengede tutabilmeyi gerektirir.</a:t>
            </a:r>
            <a:endParaRPr sz="1350">
              <a:solidFill>
                <a:srgbClr val="292E30"/>
              </a:solidFill>
              <a:latin typeface="Aptos"/>
              <a:ea typeface="Aptos"/>
              <a:cs typeface="Aptos"/>
              <a:sym typeface="Aptos"/>
            </a:endParaRPr>
          </a:p>
        </p:txBody>
      </p:sp>
      <p:sp>
        <p:nvSpPr>
          <p:cNvPr id="454" name="Google Shape;454;p4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Aşırılık her zaman daha iyi ve daha dindar olmak değildir.</a:t>
            </a:r>
            <a:endParaRPr sz="1500">
              <a:solidFill>
                <a:srgbClr val="143333"/>
              </a:solidFill>
              <a:latin typeface="Aptos"/>
              <a:ea typeface="Aptos"/>
              <a:cs typeface="Aptos"/>
              <a:sym typeface="Aptos"/>
            </a:endParaRPr>
          </a:p>
        </p:txBody>
      </p:sp>
      <p:sp>
        <p:nvSpPr>
          <p:cNvPr id="455" name="Google Shape;455;p4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Uyku, ders, ibadet ve aile için bu haftalık dengeli bir plan yap.</a:t>
            </a:r>
            <a:endParaRPr b="1" sz="1200">
              <a:solidFill>
                <a:srgbClr val="FFFFFF"/>
              </a:solidFill>
              <a:latin typeface="Aptos"/>
              <a:ea typeface="Aptos"/>
              <a:cs typeface="Aptos"/>
              <a:sym typeface="Aptos"/>
            </a:endParaRPr>
          </a:p>
        </p:txBody>
      </p:sp>
      <p:sp>
        <p:nvSpPr>
          <p:cNvPr id="456" name="Google Shape;456;p4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Ahlâk ve İbadette Denge</a:t>
            </a:r>
            <a:endParaRPr sz="700">
              <a:solidFill>
                <a:srgbClr val="737373"/>
              </a:solidFill>
              <a:latin typeface="Aptos"/>
              <a:ea typeface="Aptos"/>
              <a:cs typeface="Aptos"/>
              <a:sym typeface="Apto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4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63" name="Google Shape;463;p4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34 · İbn Abbas — Öğrenmek İçin Kapıda Beklemek</a:t>
            </a:r>
            <a:endParaRPr b="1" sz="2600">
              <a:solidFill>
                <a:srgbClr val="1F2E33"/>
              </a:solidFill>
              <a:latin typeface="Aptos Display"/>
              <a:ea typeface="Aptos Display"/>
              <a:cs typeface="Aptos Display"/>
              <a:sym typeface="Aptos Display"/>
            </a:endParaRPr>
          </a:p>
        </p:txBody>
      </p:sp>
      <p:sp>
        <p:nvSpPr>
          <p:cNvPr id="464" name="Google Shape;464;p4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65" name="Google Shape;465;p4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İbn Abbas, Resûlullah’ın vefatından sonra sahabilerden hadis ve ilim öğrenmeye büyük gayret gösterdi. Bir sahabinin evine gittiğinde onu rahatsız etmemek için kapısının önünde beklediği, bazen rüzgârın kaldırdığı tozun üzerinde biriktiği nakledilir. Ev sahibi dışarı çıktığında neden haber vermediğini sorunca İbn Abbas, ilmin ayağına gidilmesi gerektiğini ifade etti. Bu gayreti, onun genç yaşta başlayan ilim aşkı ve hocalarına gösterdiği saygının güzel bir örneğidir.</a:t>
            </a:r>
            <a:endParaRPr sz="1350">
              <a:solidFill>
                <a:srgbClr val="292E30"/>
              </a:solidFill>
              <a:latin typeface="Aptos"/>
              <a:ea typeface="Aptos"/>
              <a:cs typeface="Aptos"/>
              <a:sym typeface="Aptos"/>
            </a:endParaRPr>
          </a:p>
        </p:txBody>
      </p:sp>
      <p:sp>
        <p:nvSpPr>
          <p:cNvPr id="466" name="Google Shape;466;p4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Derin öğrenme emek, sabır ve tevazu ister.</a:t>
            </a:r>
            <a:endParaRPr sz="1500">
              <a:solidFill>
                <a:srgbClr val="143333"/>
              </a:solidFill>
              <a:latin typeface="Aptos"/>
              <a:ea typeface="Aptos"/>
              <a:cs typeface="Aptos"/>
              <a:sym typeface="Aptos"/>
            </a:endParaRPr>
          </a:p>
        </p:txBody>
      </p:sp>
      <p:sp>
        <p:nvSpPr>
          <p:cNvPr id="467" name="Google Shape;467;p4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Gerçekten öğrenmek istediğin bir konuda bilen birine soru hazırla.</a:t>
            </a:r>
            <a:endParaRPr b="1" sz="1200">
              <a:solidFill>
                <a:srgbClr val="FFFFFF"/>
              </a:solidFill>
              <a:latin typeface="Aptos"/>
              <a:ea typeface="Aptos"/>
              <a:cs typeface="Aptos"/>
              <a:sym typeface="Aptos"/>
            </a:endParaRPr>
          </a:p>
        </p:txBody>
      </p:sp>
      <p:sp>
        <p:nvSpPr>
          <p:cNvPr id="468" name="Google Shape;468;p4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İlim ve İbadet</a:t>
            </a:r>
            <a:endParaRPr sz="700">
              <a:solidFill>
                <a:srgbClr val="737373"/>
              </a:solidFill>
              <a:latin typeface="Aptos"/>
              <a:ea typeface="Aptos"/>
              <a:cs typeface="Aptos"/>
              <a:sym typeface="Apto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4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75" name="Google Shape;475;p4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35 · İbn Mes’ûd — Kur’an’ı Açıkça Okumak</a:t>
            </a:r>
            <a:endParaRPr b="1" sz="2600">
              <a:solidFill>
                <a:srgbClr val="1F2E33"/>
              </a:solidFill>
              <a:latin typeface="Aptos Display"/>
              <a:ea typeface="Aptos Display"/>
              <a:cs typeface="Aptos Display"/>
              <a:sym typeface="Aptos Display"/>
            </a:endParaRPr>
          </a:p>
        </p:txBody>
      </p:sp>
      <p:sp>
        <p:nvSpPr>
          <p:cNvPr id="476" name="Google Shape;476;p4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77" name="Google Shape;477;p4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Mekke’de Müslümanlar Kur’an’ın Kureyş’in önünde açıkça okunmasını konuştuklarında Abdullah b. Mes‘ûd bu görevi üstlendi. Kâbe’nin yanında Rahmân sûresini yüksek sesle okumaya başladı. Kureyşliler üzerine yürüyüp yüzüne vurdukları hâlde okuyabildiği kadar okumaya devam etti. Arkadaşlarının yanına yüzünde darbe izleriyle döndü. İbn Mes‘ûd’un bu davranışı, Mekke’de Kur’an’ı açıkça okuma cesaretinin en eski örneklerinden biri olarak siyer kaynaklarında nakledilir.</a:t>
            </a:r>
            <a:endParaRPr sz="1350">
              <a:solidFill>
                <a:srgbClr val="292E30"/>
              </a:solidFill>
              <a:latin typeface="Aptos"/>
              <a:ea typeface="Aptos"/>
              <a:cs typeface="Aptos"/>
              <a:sym typeface="Aptos"/>
            </a:endParaRPr>
          </a:p>
        </p:txBody>
      </p:sp>
      <p:sp>
        <p:nvSpPr>
          <p:cNvPr id="478" name="Google Shape;478;p4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İnandığın değeri temsil etmek bazen sosyal cesaret ister.</a:t>
            </a:r>
            <a:endParaRPr sz="1500">
              <a:solidFill>
                <a:srgbClr val="143333"/>
              </a:solidFill>
              <a:latin typeface="Aptos"/>
              <a:ea typeface="Aptos"/>
              <a:cs typeface="Aptos"/>
              <a:sym typeface="Aptos"/>
            </a:endParaRPr>
          </a:p>
        </p:txBody>
      </p:sp>
      <p:sp>
        <p:nvSpPr>
          <p:cNvPr id="479" name="Google Shape;479;p4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Doğru bulduğun bir şeyi utanmadan ama saygıyla ifade et.</a:t>
            </a:r>
            <a:endParaRPr b="1" sz="1200">
              <a:solidFill>
                <a:srgbClr val="FFFFFF"/>
              </a:solidFill>
              <a:latin typeface="Aptos"/>
              <a:ea typeface="Aptos"/>
              <a:cs typeface="Aptos"/>
              <a:sym typeface="Aptos"/>
            </a:endParaRPr>
          </a:p>
        </p:txBody>
      </p:sp>
      <p:sp>
        <p:nvSpPr>
          <p:cNvPr id="480" name="Google Shape;480;p4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Ashâb-ı Kirâmın Cesareti</a:t>
            </a:r>
            <a:endParaRPr sz="700">
              <a:solidFill>
                <a:srgbClr val="737373"/>
              </a:solidFill>
              <a:latin typeface="Aptos"/>
              <a:ea typeface="Aptos"/>
              <a:cs typeface="Aptos"/>
              <a:sym typeface="Apto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4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87" name="Google Shape;487;p4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36 · Zeyd b. Sâbit — İhtiyaç İçin Yeni Bir Dil Öğrenmek</a:t>
            </a:r>
            <a:endParaRPr b="1" sz="2600">
              <a:solidFill>
                <a:srgbClr val="1F2E33"/>
              </a:solidFill>
              <a:latin typeface="Aptos Display"/>
              <a:ea typeface="Aptos Display"/>
              <a:cs typeface="Aptos Display"/>
              <a:sym typeface="Aptos Display"/>
            </a:endParaRPr>
          </a:p>
        </p:txBody>
      </p:sp>
      <p:sp>
        <p:nvSpPr>
          <p:cNvPr id="488" name="Google Shape;488;p4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89" name="Google Shape;489;p4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Yahudilerle yapılan yazışmaları güvenilir biçimde okuyup yazabilmek için Zeyd b. Sâbit’e onların yazısını öğrenmesini emretti. Zeyd bu görevi yerine getirerek kısa sürede gerekli yazıyı öğrendi. Bundan sonra Resûlullah Yahudilere mektup yazdırmak istediğinde Zeyd yazıyor, onlardan gelen mektupları da okuyordu. Bu hadise, Zeyd b. Sâbit’in öğrenme kabiliyetiyle güvenilirliğini birlikte hizmete dönüştürdüğünü gösterir.</a:t>
            </a:r>
            <a:endParaRPr sz="1350">
              <a:solidFill>
                <a:srgbClr val="292E30"/>
              </a:solidFill>
              <a:latin typeface="Aptos"/>
              <a:ea typeface="Aptos"/>
              <a:cs typeface="Aptos"/>
              <a:sym typeface="Aptos"/>
            </a:endParaRPr>
          </a:p>
        </p:txBody>
      </p:sp>
      <p:sp>
        <p:nvSpPr>
          <p:cNvPr id="490" name="Google Shape;490;p4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Yetenek geliştirmek de hizmettir.</a:t>
            </a:r>
            <a:endParaRPr sz="1500">
              <a:solidFill>
                <a:srgbClr val="143333"/>
              </a:solidFill>
              <a:latin typeface="Aptos"/>
              <a:ea typeface="Aptos"/>
              <a:cs typeface="Aptos"/>
              <a:sym typeface="Aptos"/>
            </a:endParaRPr>
          </a:p>
        </p:txBody>
      </p:sp>
      <p:sp>
        <p:nvSpPr>
          <p:cNvPr id="491" name="Google Shape;491;p4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ay geliştireceğin tek bir yeni beceri seç ve ilk 20 dakikayı bugün ayır.</a:t>
            </a:r>
            <a:endParaRPr b="1" sz="1200">
              <a:solidFill>
                <a:srgbClr val="FFFFFF"/>
              </a:solidFill>
              <a:latin typeface="Aptos"/>
              <a:ea typeface="Aptos"/>
              <a:cs typeface="Aptos"/>
              <a:sym typeface="Aptos"/>
            </a:endParaRPr>
          </a:p>
        </p:txBody>
      </p:sp>
      <p:sp>
        <p:nvSpPr>
          <p:cNvPr id="492" name="Google Shape;492;p4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İlim ve İbadet</a:t>
            </a:r>
            <a:endParaRPr sz="700">
              <a:solidFill>
                <a:srgbClr val="737373"/>
              </a:solidFill>
              <a:latin typeface="Aptos"/>
              <a:ea typeface="Aptos"/>
              <a:cs typeface="Aptos"/>
              <a:sym typeface="Apto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5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499" name="Google Shape;499;p5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37 · Üsâme b. Zeyd — Genç Yaşta Büyük Sorumluluk</a:t>
            </a:r>
            <a:endParaRPr b="1" sz="2600">
              <a:solidFill>
                <a:srgbClr val="1F2E33"/>
              </a:solidFill>
              <a:latin typeface="Aptos Display"/>
              <a:ea typeface="Aptos Display"/>
              <a:cs typeface="Aptos Display"/>
              <a:sym typeface="Aptos Display"/>
            </a:endParaRPr>
          </a:p>
        </p:txBody>
      </p:sp>
      <p:sp>
        <p:nvSpPr>
          <p:cNvPr id="500" name="Google Shape;500;p5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01" name="Google Shape;501;p5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Üsâme b. Zeyd genç yaşta önemli bir ordunun komutanlığına getirildi. Bazı kişiler onun yaşını ileri sürerek bu görevlendirmeyi eleştirdi. Resûlullah Üsâme’nin komutanlığa ehil olduğunu açıkça ifade ederek onu savundu. Üsâme de kendisine verilen görevi üstlendi; Resûlullah’ın vefatından sonra Hz. Ebû Bekir ordunun hareket etmesini sağlayarak bu görevlendirmeyi aynen sürdürdü. Hadise, genç yaş ile liyakatin birbirine karıştırılmaması gerektiğini gösteren önemli bir örnektir.</a:t>
            </a:r>
            <a:endParaRPr sz="1350">
              <a:solidFill>
                <a:srgbClr val="292E30"/>
              </a:solidFill>
              <a:latin typeface="Aptos"/>
              <a:ea typeface="Aptos"/>
              <a:cs typeface="Aptos"/>
              <a:sym typeface="Aptos"/>
            </a:endParaRPr>
          </a:p>
        </p:txBody>
      </p:sp>
      <p:sp>
        <p:nvSpPr>
          <p:cNvPr id="502" name="Google Shape;502;p5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Genç yaş, liyakat varsa sorumluluğa engel değildir.</a:t>
            </a:r>
            <a:endParaRPr sz="1500">
              <a:solidFill>
                <a:srgbClr val="143333"/>
              </a:solidFill>
              <a:latin typeface="Aptos"/>
              <a:ea typeface="Aptos"/>
              <a:cs typeface="Aptos"/>
              <a:sym typeface="Aptos"/>
            </a:endParaRPr>
          </a:p>
        </p:txBody>
      </p:sp>
      <p:sp>
        <p:nvSpPr>
          <p:cNvPr id="503" name="Google Shape;503;p5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Yaşını bahane ettiğin bir sorumluluğu bu hafta dene.</a:t>
            </a:r>
            <a:endParaRPr b="1" sz="1200">
              <a:solidFill>
                <a:srgbClr val="FFFFFF"/>
              </a:solidFill>
              <a:latin typeface="Aptos"/>
              <a:ea typeface="Aptos"/>
              <a:cs typeface="Aptos"/>
              <a:sym typeface="Aptos"/>
            </a:endParaRPr>
          </a:p>
        </p:txBody>
      </p:sp>
      <p:sp>
        <p:nvSpPr>
          <p:cNvPr id="504" name="Google Shape;504;p5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Üsâme Ordusu</a:t>
            </a:r>
            <a:endParaRPr sz="700">
              <a:solidFill>
                <a:srgbClr val="737373"/>
              </a:solidFill>
              <a:latin typeface="Aptos"/>
              <a:ea typeface="Aptos"/>
              <a:cs typeface="Aptos"/>
              <a:sym typeface="Apto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5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11" name="Google Shape;511;p5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38 · Muâz b. Cebel — Yemen’e Sorumlulukla Gitmek</a:t>
            </a:r>
            <a:endParaRPr b="1" sz="2600">
              <a:solidFill>
                <a:srgbClr val="1F2E33"/>
              </a:solidFill>
              <a:latin typeface="Aptos Display"/>
              <a:ea typeface="Aptos Display"/>
              <a:cs typeface="Aptos Display"/>
              <a:sym typeface="Aptos Display"/>
            </a:endParaRPr>
          </a:p>
        </p:txBody>
      </p:sp>
      <p:sp>
        <p:nvSpPr>
          <p:cNvPr id="512" name="Google Shape;512;p5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13" name="Google Shape;513;p5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Muâz b. Cebel, Yemen halkına dinî bilgileri öğretmek, zekâtla ilgili görevleri yürütmek ve karşılaşılan meselelerde hüküm vermek üzere Resûlullah tarafından görevlendirildi. Peygamberimiz onu uğurlarken göreviyle ilgili önemli tavsiyelerde bulundu. Muâz, Medine’de öğrendiği ilmi artık başka bir topluma ulaştırma sorumluluğunu üstlenmişti. Yemen’deki vazifesi, sahabenin ilmi öğrenmekle kalmayıp öğretme ve uygulama sorumluluğunu da taşıdığını gösteren önemli örneklerden biridir.</a:t>
            </a:r>
            <a:endParaRPr sz="1350">
              <a:solidFill>
                <a:srgbClr val="292E30"/>
              </a:solidFill>
              <a:latin typeface="Aptos"/>
              <a:ea typeface="Aptos"/>
              <a:cs typeface="Aptos"/>
              <a:sym typeface="Aptos"/>
            </a:endParaRPr>
          </a:p>
        </p:txBody>
      </p:sp>
      <p:sp>
        <p:nvSpPr>
          <p:cNvPr id="514" name="Google Shape;514;p5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Öğrenilen bilgi, bir gün başkalarına rehberlik sorumluluğuna dönüşebilir.</a:t>
            </a:r>
            <a:endParaRPr sz="1500">
              <a:solidFill>
                <a:srgbClr val="143333"/>
              </a:solidFill>
              <a:latin typeface="Aptos"/>
              <a:ea typeface="Aptos"/>
              <a:cs typeface="Aptos"/>
              <a:sym typeface="Aptos"/>
            </a:endParaRPr>
          </a:p>
        </p:txBody>
      </p:sp>
      <p:sp>
        <p:nvSpPr>
          <p:cNvPr id="515" name="Google Shape;515;p5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İyi bildiğin bir konuyu bu hafta birine öğret.</a:t>
            </a:r>
            <a:endParaRPr b="1" sz="1200">
              <a:solidFill>
                <a:srgbClr val="FFFFFF"/>
              </a:solidFill>
              <a:latin typeface="Aptos"/>
              <a:ea typeface="Aptos"/>
              <a:cs typeface="Aptos"/>
              <a:sym typeface="Aptos"/>
            </a:endParaRPr>
          </a:p>
        </p:txBody>
      </p:sp>
      <p:sp>
        <p:nvSpPr>
          <p:cNvPr id="516" name="Google Shape;516;p5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Ashâbın Elçi ve Öğretmen Olarak Gönderilmesi</a:t>
            </a:r>
            <a:endParaRPr sz="700">
              <a:solidFill>
                <a:srgbClr val="737373"/>
              </a:solidFill>
              <a:latin typeface="Aptos"/>
              <a:ea typeface="Aptos"/>
              <a:cs typeface="Aptos"/>
              <a:sym typeface="Apto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5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23" name="Google Shape;523;p5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39 · Muâz b. Cebel — Öncelikleri Bilmek</a:t>
            </a:r>
            <a:endParaRPr b="1" sz="2600">
              <a:solidFill>
                <a:srgbClr val="1F2E33"/>
              </a:solidFill>
              <a:latin typeface="Aptos Display"/>
              <a:ea typeface="Aptos Display"/>
              <a:cs typeface="Aptos Display"/>
              <a:sym typeface="Aptos Display"/>
            </a:endParaRPr>
          </a:p>
        </p:txBody>
      </p:sp>
      <p:sp>
        <p:nvSpPr>
          <p:cNvPr id="524" name="Google Shape;524;p5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25" name="Google Shape;525;p5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Muâz b. Cebel Yemen’e giderken Peygamberimiz ona karşılaşacağı toplumun özelliklerini anlattı. Her doğru bilgiyi aynı anda ve aynı yoğunlukta vermenin insanları zorlayabileceğini hatırlattı. Önce temel meselelerden başlamasını, ardından sorumlulukları aşamalı biçimde öğretmesini tavsiye etti. Muâz böylece yalnız ne söyleyeceğini değil, neyi ne zaman söyleyeceğini de düşünmesi gerektiğini öğrendi. Doğru bilgi, yanlış sırayla verildiğinde etkisini kaybedebilir. Rehberlik görevine açık önceliklerle başladı. Bu yaklaşım, iyi planlamanın çoğu zaman “Her şeyi yapmak” değil, “Önce ne yapılmalı?” sorusuna doğru cevap vermek olduğunu gösterdi.</a:t>
            </a:r>
            <a:endParaRPr sz="1350">
              <a:solidFill>
                <a:srgbClr val="292E30"/>
              </a:solidFill>
              <a:latin typeface="Aptos"/>
              <a:ea typeface="Aptos"/>
              <a:cs typeface="Aptos"/>
              <a:sym typeface="Aptos"/>
            </a:endParaRPr>
          </a:p>
        </p:txBody>
      </p:sp>
      <p:sp>
        <p:nvSpPr>
          <p:cNvPr id="526" name="Google Shape;526;p5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Her doğru aynı anda söylenmez; önceliklendirme gerekir.</a:t>
            </a:r>
            <a:endParaRPr sz="1500">
              <a:solidFill>
                <a:srgbClr val="143333"/>
              </a:solidFill>
              <a:latin typeface="Aptos"/>
              <a:ea typeface="Aptos"/>
              <a:cs typeface="Aptos"/>
              <a:sym typeface="Aptos"/>
            </a:endParaRPr>
          </a:p>
        </p:txBody>
      </p:sp>
      <p:sp>
        <p:nvSpPr>
          <p:cNvPr id="527" name="Google Shape;527;p5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Yapılacaklar listesinden gerçekten önemli olan üç işi seç.</a:t>
            </a:r>
            <a:endParaRPr b="1" sz="1200">
              <a:solidFill>
                <a:srgbClr val="FFFFFF"/>
              </a:solidFill>
              <a:latin typeface="Aptos"/>
              <a:ea typeface="Aptos"/>
              <a:cs typeface="Aptos"/>
              <a:sym typeface="Aptos"/>
            </a:endParaRPr>
          </a:p>
        </p:txBody>
      </p:sp>
      <p:sp>
        <p:nvSpPr>
          <p:cNvPr id="528" name="Google Shape;528;p5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İslâmî Esasları Yerine Getirmeye Davet</a:t>
            </a:r>
            <a:endParaRPr sz="700">
              <a:solidFill>
                <a:srgbClr val="737373"/>
              </a:solidFill>
              <a:latin typeface="Aptos"/>
              <a:ea typeface="Aptos"/>
              <a:cs typeface="Aptos"/>
              <a:sym typeface="Apto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5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35" name="Google Shape;535;p5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40 · Ebû Mûsâ el-Eş’arî — Üç Defa İzin İsteyip Dönmek</a:t>
            </a:r>
            <a:endParaRPr b="1" sz="2600">
              <a:solidFill>
                <a:srgbClr val="1F2E33"/>
              </a:solidFill>
              <a:latin typeface="Aptos Display"/>
              <a:ea typeface="Aptos Display"/>
              <a:cs typeface="Aptos Display"/>
              <a:sym typeface="Aptos Display"/>
            </a:endParaRPr>
          </a:p>
        </p:txBody>
      </p:sp>
      <p:sp>
        <p:nvSpPr>
          <p:cNvPr id="536" name="Google Shape;536;p5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37" name="Google Shape;537;p5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Ebû Mûsâ el-Eş’arî, Hz. Ömer’in kapısına geldiğinde üç kez izin istedi. İçeriden kendisine cevap gelmeyince Resûlullah’tan öğrendiği izin isteme âdâbına uyarak geri döndü. Hz. Ömer daha sonra neden geri döndüğünü sorunca Ebû Mûsâ, üç kez izin isteneceğini, izin verilmezse dönüleceğini Resûlullah’tan duyduğunu anlattı. Böylece sünnetten öğrendiği bir nezaket ölçüsünü günlük hayatında aynen uyguladı.</a:t>
            </a:r>
            <a:endParaRPr sz="1350">
              <a:solidFill>
                <a:srgbClr val="292E30"/>
              </a:solidFill>
              <a:latin typeface="Aptos"/>
              <a:ea typeface="Aptos"/>
              <a:cs typeface="Aptos"/>
              <a:sym typeface="Aptos"/>
            </a:endParaRPr>
          </a:p>
        </p:txBody>
      </p:sp>
      <p:sp>
        <p:nvSpPr>
          <p:cNvPr id="538" name="Google Shape;538;p5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Sınırlar ve mahremiyet, kişisel alınma meselesi değildir.</a:t>
            </a:r>
            <a:endParaRPr sz="1500">
              <a:solidFill>
                <a:srgbClr val="143333"/>
              </a:solidFill>
              <a:latin typeface="Aptos"/>
              <a:ea typeface="Aptos"/>
              <a:cs typeface="Aptos"/>
              <a:sym typeface="Aptos"/>
            </a:endParaRPr>
          </a:p>
        </p:txBody>
      </p:sp>
      <p:sp>
        <p:nvSpPr>
          <p:cNvPr id="539" name="Google Shape;539;p5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Birinin “hayır”ına ya da cevap vermemesine saygı göstermeyi dene.</a:t>
            </a:r>
            <a:endParaRPr b="1" sz="1200">
              <a:solidFill>
                <a:srgbClr val="FFFFFF"/>
              </a:solidFill>
              <a:latin typeface="Aptos"/>
              <a:ea typeface="Aptos"/>
              <a:cs typeface="Aptos"/>
              <a:sym typeface="Aptos"/>
            </a:endParaRPr>
          </a:p>
        </p:txBody>
      </p:sp>
      <p:sp>
        <p:nvSpPr>
          <p:cNvPr id="540" name="Google Shape;540;p5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İzin İsteme ve Kapı Çalma Âdâbı</a:t>
            </a:r>
            <a:endParaRPr sz="700">
              <a:solidFill>
                <a:srgbClr val="737373"/>
              </a:solidFill>
              <a:latin typeface="Aptos"/>
              <a:ea typeface="Aptos"/>
              <a:cs typeface="Aptos"/>
              <a:sym typeface="Apto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5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47" name="Google Shape;547;p5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41 · Hz. Ömer — Bilmediği Bir Sünneti Kabul Etmek</a:t>
            </a:r>
            <a:endParaRPr b="1" sz="2600">
              <a:solidFill>
                <a:srgbClr val="1F2E33"/>
              </a:solidFill>
              <a:latin typeface="Aptos Display"/>
              <a:ea typeface="Aptos Display"/>
              <a:cs typeface="Aptos Display"/>
              <a:sym typeface="Aptos Display"/>
            </a:endParaRPr>
          </a:p>
        </p:txBody>
      </p:sp>
      <p:sp>
        <p:nvSpPr>
          <p:cNvPr id="548" name="Google Shape;548;p5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49" name="Google Shape;549;p5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Ebû Mûsâ’nın üç kez izin isteyip geri dönmesinin Resûlullah’tan öğrendiği bir sünnet olduğunu duyunca buna şahitlik edecek birini getirmesini istedi. Ebû Mûsâ ensardan sahabilere başvurdu ve Übey b. Kâ’b’ın da bulunduğu topluluktan şahitlik geldi. Hz. Ömer bunun üzerine rivayeti kabul etti. Bu hadise, büyük bir sahabinin bilmediği bir sünneti başka sahabilerden öğrenmesine ve haberin sağlamlığını araştırmasına güzel bir örnektir.</a:t>
            </a:r>
            <a:endParaRPr sz="1350">
              <a:solidFill>
                <a:srgbClr val="292E30"/>
              </a:solidFill>
              <a:latin typeface="Aptos"/>
              <a:ea typeface="Aptos"/>
              <a:cs typeface="Aptos"/>
              <a:sym typeface="Aptos"/>
            </a:endParaRPr>
          </a:p>
        </p:txBody>
      </p:sp>
      <p:sp>
        <p:nvSpPr>
          <p:cNvPr id="550" name="Google Shape;550;p5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Çok bilgili olmak, her şeyi biliyor olmak değildir.</a:t>
            </a:r>
            <a:endParaRPr sz="1500">
              <a:solidFill>
                <a:srgbClr val="143333"/>
              </a:solidFill>
              <a:latin typeface="Aptos"/>
              <a:ea typeface="Aptos"/>
              <a:cs typeface="Aptos"/>
              <a:sym typeface="Aptos"/>
            </a:endParaRPr>
          </a:p>
        </p:txBody>
      </p:sp>
      <p:sp>
        <p:nvSpPr>
          <p:cNvPr id="551" name="Google Shape;551;p5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öğrendiğin yeni bir şeyi not edip kimden öğrendiğini yaz.</a:t>
            </a:r>
            <a:endParaRPr b="1" sz="1200">
              <a:solidFill>
                <a:srgbClr val="FFFFFF"/>
              </a:solidFill>
              <a:latin typeface="Aptos"/>
              <a:ea typeface="Aptos"/>
              <a:cs typeface="Aptos"/>
              <a:sym typeface="Aptos"/>
            </a:endParaRPr>
          </a:p>
        </p:txBody>
      </p:sp>
      <p:sp>
        <p:nvSpPr>
          <p:cNvPr id="552" name="Google Shape;552;p5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İzin İsteme ve Kapı Çalma Âdâbı</a:t>
            </a:r>
            <a:endParaRPr sz="700">
              <a:solidFill>
                <a:srgbClr val="737373"/>
              </a:solidFill>
              <a:latin typeface="Aptos"/>
              <a:ea typeface="Aptos"/>
              <a:cs typeface="Aptos"/>
              <a:sym typeface="Apto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59" name="Google Shape;559;p5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42 · Enes b. Mâlik — Kendisine Verilen Sırrı Saklamak</a:t>
            </a:r>
            <a:endParaRPr b="1" sz="2600">
              <a:solidFill>
                <a:srgbClr val="1F2E33"/>
              </a:solidFill>
              <a:latin typeface="Aptos Display"/>
              <a:ea typeface="Aptos Display"/>
              <a:cs typeface="Aptos Display"/>
              <a:sym typeface="Aptos Display"/>
            </a:endParaRPr>
          </a:p>
        </p:txBody>
      </p:sp>
      <p:sp>
        <p:nvSpPr>
          <p:cNvPr id="560" name="Google Shape;560;p5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61" name="Google Shape;561;p5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bir gün genç Enes b. Mâlik’i özel bir iş için gönderdi. Enes eve dönünce annesi Ümmü Süleym nereye gittiğini sordu. Enes, Resûlullah’ın kendisine verdiği görevin bir sır olduğunu söyledi. Annesi de ona Resûlullah’ın sırrını kimseye açıklamamasını öğütledi. Enes bu olayı yıllar sonra anlatırken o sırrı başkalarına açıklamadığını ifade etmiştir. Bu hatıra, küçük yaşta emanet ve sır saklama bilincinin güzel bir örneğidir.</a:t>
            </a:r>
            <a:endParaRPr sz="1350">
              <a:solidFill>
                <a:srgbClr val="292E30"/>
              </a:solidFill>
              <a:latin typeface="Aptos"/>
              <a:ea typeface="Aptos"/>
              <a:cs typeface="Aptos"/>
              <a:sym typeface="Aptos"/>
            </a:endParaRPr>
          </a:p>
        </p:txBody>
      </p:sp>
      <p:sp>
        <p:nvSpPr>
          <p:cNvPr id="562" name="Google Shape;562;p5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Güvenilir insan, duyduğu her şeyi arkadaş grubuna taşımaz.</a:t>
            </a:r>
            <a:endParaRPr sz="1500">
              <a:solidFill>
                <a:srgbClr val="143333"/>
              </a:solidFill>
              <a:latin typeface="Aptos"/>
              <a:ea typeface="Aptos"/>
              <a:cs typeface="Aptos"/>
              <a:sym typeface="Aptos"/>
            </a:endParaRPr>
          </a:p>
        </p:txBody>
      </p:sp>
      <p:sp>
        <p:nvSpPr>
          <p:cNvPr id="563" name="Google Shape;563;p5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sana ait olmayan hiçbir özel bilgiyi paylaşma.</a:t>
            </a:r>
            <a:endParaRPr b="1" sz="1200">
              <a:solidFill>
                <a:srgbClr val="FFFFFF"/>
              </a:solidFill>
              <a:latin typeface="Aptos"/>
              <a:ea typeface="Aptos"/>
              <a:cs typeface="Aptos"/>
              <a:sym typeface="Aptos"/>
            </a:endParaRPr>
          </a:p>
        </p:txBody>
      </p:sp>
      <p:sp>
        <p:nvSpPr>
          <p:cNvPr id="564" name="Google Shape;564;p5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Müslümanın Verdiği Sırrı Saklamak</a:t>
            </a:r>
            <a:endParaRPr sz="700">
              <a:solidFill>
                <a:srgbClr val="737373"/>
              </a:solidFill>
              <a:latin typeface="Aptos"/>
              <a:ea typeface="Aptos"/>
              <a:cs typeface="Aptos"/>
              <a:sym typeface="Apto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5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71" name="Google Shape;571;p5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43 · Abdullah b. Cafer — Yıllar Geçse de Sır Sırdır</a:t>
            </a:r>
            <a:endParaRPr b="1" sz="2600">
              <a:solidFill>
                <a:srgbClr val="1F2E33"/>
              </a:solidFill>
              <a:latin typeface="Aptos Display"/>
              <a:ea typeface="Aptos Display"/>
              <a:cs typeface="Aptos Display"/>
              <a:sym typeface="Aptos Display"/>
            </a:endParaRPr>
          </a:p>
        </p:txBody>
      </p:sp>
      <p:sp>
        <p:nvSpPr>
          <p:cNvPr id="572" name="Google Shape;572;p5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73" name="Google Shape;573;p5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Abdullah b. Ca‘fer, Resûlullah’ın bir gün kendisini bineğinin arkasına aldığını ve kendisine özel bir söz söylediğini nakleder. Bu sözü insanlardan hiç kimseye anlatmadığını açıkça belirtmiştir. Rivayet, ayrıntısı bilinmeyen o sözden çok Abdullah b. Ca‘fer’in Resûlullah’ın sırrını korumasıyla dikkat çeker. Yıllar sonra hadisi aktarırken bile sırrın içeriğini açıklamamış olması, emanet bilincinin güçlü bir örneğidir.</a:t>
            </a:r>
            <a:endParaRPr sz="1350">
              <a:solidFill>
                <a:srgbClr val="292E30"/>
              </a:solidFill>
              <a:latin typeface="Aptos"/>
              <a:ea typeface="Aptos"/>
              <a:cs typeface="Aptos"/>
              <a:sym typeface="Aptos"/>
            </a:endParaRPr>
          </a:p>
        </p:txBody>
      </p:sp>
      <p:sp>
        <p:nvSpPr>
          <p:cNvPr id="574" name="Google Shape;574;p5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Zamanın geçmesi emaneti ortadan kaldırmaz.</a:t>
            </a:r>
            <a:endParaRPr sz="1500">
              <a:solidFill>
                <a:srgbClr val="143333"/>
              </a:solidFill>
              <a:latin typeface="Aptos"/>
              <a:ea typeface="Aptos"/>
              <a:cs typeface="Aptos"/>
              <a:sym typeface="Aptos"/>
            </a:endParaRPr>
          </a:p>
        </p:txBody>
      </p:sp>
      <p:sp>
        <p:nvSpPr>
          <p:cNvPr id="575" name="Google Shape;575;p5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Eski bir özel bilgiyi “artık önemi yok” diyerek paylaşmamaya dikkat et.</a:t>
            </a:r>
            <a:endParaRPr b="1" sz="1200">
              <a:solidFill>
                <a:srgbClr val="FFFFFF"/>
              </a:solidFill>
              <a:latin typeface="Aptos"/>
              <a:ea typeface="Aptos"/>
              <a:cs typeface="Aptos"/>
              <a:sym typeface="Aptos"/>
            </a:endParaRPr>
          </a:p>
        </p:txBody>
      </p:sp>
      <p:sp>
        <p:nvSpPr>
          <p:cNvPr id="576" name="Google Shape;576;p5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Müslümanın Verdiği Sırrı Saklamak</a:t>
            </a:r>
            <a:endParaRPr sz="700">
              <a:solidFill>
                <a:srgbClr val="737373"/>
              </a:solidFill>
              <a:latin typeface="Aptos"/>
              <a:ea typeface="Aptos"/>
              <a:cs typeface="Aptos"/>
              <a:sym typeface="Apto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5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83" name="Google Shape;583;p5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44 · Dihye b. Halife — Heraklius’un Sarayında Temsil</a:t>
            </a:r>
            <a:endParaRPr b="1" sz="2600">
              <a:solidFill>
                <a:srgbClr val="1F2E33"/>
              </a:solidFill>
              <a:latin typeface="Aptos Display"/>
              <a:ea typeface="Aptos Display"/>
              <a:cs typeface="Aptos Display"/>
              <a:sym typeface="Aptos Display"/>
            </a:endParaRPr>
          </a:p>
        </p:txBody>
      </p:sp>
      <p:sp>
        <p:nvSpPr>
          <p:cNvPr id="584" name="Google Shape;584;p5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85" name="Google Shape;585;p5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Dihye b. Halife, Resûlullah’ın İslâm’a davet mektubunu Bizans hükümdarı Heraklius’a ulaştırmakla görevlendirildi. Mektubu önce Busrâ valisine götürdü; oradan Heraklius’a ulaştırıldı. Böylece Dihye, Resûlullah’ın farklı devlet yöneticilerine gönderdiği elçiler arasında yer aldı. Kendisine emanet edilen mektubu hedefe ulaştırması, sahabenin tebliğ ve temsil görevlerinin Arabistan sınırlarını aştığını gösteren önemli örneklerden biridir.</a:t>
            </a:r>
            <a:endParaRPr sz="1350">
              <a:solidFill>
                <a:srgbClr val="292E30"/>
              </a:solidFill>
              <a:latin typeface="Aptos"/>
              <a:ea typeface="Aptos"/>
              <a:cs typeface="Aptos"/>
              <a:sym typeface="Aptos"/>
            </a:endParaRPr>
          </a:p>
        </p:txBody>
      </p:sp>
      <p:sp>
        <p:nvSpPr>
          <p:cNvPr id="586" name="Google Shape;586;p5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Temsil ettiğin değer, üslubuna ve davranışına dikkat etmeyi gerektirir.</a:t>
            </a:r>
            <a:endParaRPr sz="1500">
              <a:solidFill>
                <a:srgbClr val="143333"/>
              </a:solidFill>
              <a:latin typeface="Aptos"/>
              <a:ea typeface="Aptos"/>
              <a:cs typeface="Aptos"/>
              <a:sym typeface="Aptos"/>
            </a:endParaRPr>
          </a:p>
        </p:txBody>
      </p:sp>
      <p:sp>
        <p:nvSpPr>
          <p:cNvPr id="587" name="Google Shape;587;p5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aileni veya okulunu temsil ettiğin bir ortamda davranışına özellikle dikkat et.</a:t>
            </a:r>
            <a:endParaRPr b="1" sz="1200">
              <a:solidFill>
                <a:srgbClr val="FFFFFF"/>
              </a:solidFill>
              <a:latin typeface="Aptos"/>
              <a:ea typeface="Aptos"/>
              <a:cs typeface="Aptos"/>
              <a:sym typeface="Aptos"/>
            </a:endParaRPr>
          </a:p>
        </p:txBody>
      </p:sp>
      <p:sp>
        <p:nvSpPr>
          <p:cNvPr id="588" name="Google Shape;588;p5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5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595" name="Google Shape;595;p5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45 · Hâtıb b. Ebû Beltaa — Mısır’da Zor Sorular</a:t>
            </a:r>
            <a:endParaRPr b="1" sz="2600">
              <a:solidFill>
                <a:srgbClr val="1F2E33"/>
              </a:solidFill>
              <a:latin typeface="Aptos Display"/>
              <a:ea typeface="Aptos Display"/>
              <a:cs typeface="Aptos Display"/>
              <a:sym typeface="Aptos Display"/>
            </a:endParaRPr>
          </a:p>
        </p:txBody>
      </p:sp>
      <p:sp>
        <p:nvSpPr>
          <p:cNvPr id="596" name="Google Shape;596;p5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97" name="Google Shape;597;p5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Hâtıb b. Ebû Beltaa, Resûlullah’ın İslâm’a davet mektubunu Mısır hükümdarı Mukavkıs’a götürmekle görevlendirildi. Mektubu teslim etti ve Mukavkıs’la görüşerek Resûlullah’ın davetini anlattı. Mukavkıs İslâm’ı kabul etmemekle birlikte Hâtıb’a iyi davrandı ve Resûlullah’a bazı hediyeler gönderdi. Hâtıb’ın bu görevi, sahabenin farklı inanç ve devlet çevrelerinde Resûlullah’ın mesajını temsil etme sorumluluğunun örneklerinden biridir.</a:t>
            </a:r>
            <a:endParaRPr sz="1350">
              <a:solidFill>
                <a:srgbClr val="292E30"/>
              </a:solidFill>
              <a:latin typeface="Aptos"/>
              <a:ea typeface="Aptos"/>
              <a:cs typeface="Aptos"/>
              <a:sym typeface="Aptos"/>
            </a:endParaRPr>
          </a:p>
        </p:txBody>
      </p:sp>
      <p:sp>
        <p:nvSpPr>
          <p:cNvPr id="598" name="Google Shape;598;p5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Farklı düşünen insanla konuşmak, bilgi kadar iletişim becerisi de ister.</a:t>
            </a:r>
            <a:endParaRPr sz="1500">
              <a:solidFill>
                <a:srgbClr val="143333"/>
              </a:solidFill>
              <a:latin typeface="Aptos"/>
              <a:ea typeface="Aptos"/>
              <a:cs typeface="Aptos"/>
              <a:sym typeface="Aptos"/>
            </a:endParaRPr>
          </a:p>
        </p:txBody>
      </p:sp>
      <p:sp>
        <p:nvSpPr>
          <p:cNvPr id="599" name="Google Shape;599;p5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tartışmada karşı tarafın görüşünü önce doğru biçimde özetle.</a:t>
            </a:r>
            <a:endParaRPr b="1" sz="1200">
              <a:solidFill>
                <a:srgbClr val="FFFFFF"/>
              </a:solidFill>
              <a:latin typeface="Aptos"/>
              <a:ea typeface="Aptos"/>
              <a:cs typeface="Aptos"/>
              <a:sym typeface="Aptos"/>
            </a:endParaRPr>
          </a:p>
        </p:txBody>
      </p:sp>
      <p:sp>
        <p:nvSpPr>
          <p:cNvPr id="600" name="Google Shape;600;p5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5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07" name="Google Shape;607;p5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46 · Amr b. Ümeyye — Habeşistan’a Uzun Yol</a:t>
            </a:r>
            <a:endParaRPr b="1" sz="2600">
              <a:solidFill>
                <a:srgbClr val="1F2E33"/>
              </a:solidFill>
              <a:latin typeface="Aptos Display"/>
              <a:ea typeface="Aptos Display"/>
              <a:cs typeface="Aptos Display"/>
              <a:sym typeface="Aptos Display"/>
            </a:endParaRPr>
          </a:p>
        </p:txBody>
      </p:sp>
      <p:sp>
        <p:nvSpPr>
          <p:cNvPr id="608" name="Google Shape;608;p5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09" name="Google Shape;609;p5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Amr b. Ümeyye ed-Damrî, Resûlullah tarafından Habeşistan hükümdarı Necaşî’ye elçi olarak gönderildi. Kendisine verilen mektubu Necaşî’ye ulaştırdı ve Resûlullah’ın mesajını iletti. Habeşistan, daha önce Müslüman muhacirlere sığınak olmuş bir ülkeydi; bu elçilik de iki taraf arasındaki temasın devamı niteliğindeydi. Amr b. Ümeyye’nin görevi, sahabenin uzak bölgelere kadar elçilik vazifesi üstlendiğinin örneklerinden biridir.</a:t>
            </a:r>
            <a:endParaRPr sz="1350">
              <a:solidFill>
                <a:srgbClr val="292E30"/>
              </a:solidFill>
              <a:latin typeface="Aptos"/>
              <a:ea typeface="Aptos"/>
              <a:cs typeface="Aptos"/>
              <a:sym typeface="Aptos"/>
            </a:endParaRPr>
          </a:p>
        </p:txBody>
      </p:sp>
      <p:sp>
        <p:nvSpPr>
          <p:cNvPr id="610" name="Google Shape;610;p5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Görev bazen alıştığın çevrenin çok dışına çıkmayı gerektirir.</a:t>
            </a:r>
            <a:endParaRPr sz="1500">
              <a:solidFill>
                <a:srgbClr val="143333"/>
              </a:solidFill>
              <a:latin typeface="Aptos"/>
              <a:ea typeface="Aptos"/>
              <a:cs typeface="Aptos"/>
              <a:sym typeface="Aptos"/>
            </a:endParaRPr>
          </a:p>
        </p:txBody>
      </p:sp>
      <p:sp>
        <p:nvSpPr>
          <p:cNvPr id="611" name="Google Shape;611;p5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Konfor alanının dışında ama faydalı olan küçük bir işi seç.</a:t>
            </a:r>
            <a:endParaRPr b="1" sz="1200">
              <a:solidFill>
                <a:srgbClr val="FFFFFF"/>
              </a:solidFill>
              <a:latin typeface="Aptos"/>
              <a:ea typeface="Aptos"/>
              <a:cs typeface="Aptos"/>
              <a:sym typeface="Aptos"/>
            </a:endParaRPr>
          </a:p>
        </p:txBody>
      </p:sp>
      <p:sp>
        <p:nvSpPr>
          <p:cNvPr id="612" name="Google Shape;612;p5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6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19" name="Google Shape;619;p6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47 · Abdullah b. Huzâfe — Kisrâ’ya Mektup Götürmek</a:t>
            </a:r>
            <a:endParaRPr b="1" sz="2600">
              <a:solidFill>
                <a:srgbClr val="1F2E33"/>
              </a:solidFill>
              <a:latin typeface="Aptos Display"/>
              <a:ea typeface="Aptos Display"/>
              <a:cs typeface="Aptos Display"/>
              <a:sym typeface="Aptos Display"/>
            </a:endParaRPr>
          </a:p>
        </p:txBody>
      </p:sp>
      <p:sp>
        <p:nvSpPr>
          <p:cNvPr id="620" name="Google Shape;620;p6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21" name="Google Shape;621;p6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Abdullah b. Huzâfe, Resûlullah’ın İslâm’a davet mektubunu Sâsânî hükümdarı Kisrâ’ya götürmekle görevlendirildi. Uzun yolculuğun ardından mektubu hükümdarın huzuruna ulaştırdı. Kisrâ mektuba öfkeyle karşılık verip onu yırttı; Abdullah ise kendisine verilen elçilik görevini tamamlamış oldu. Bu hadise, sahabilerin dönemin büyük hükümdarlarına kadar Resûlullah’ın mesajını ulaştırmak üzere görev aldığını gösterir.</a:t>
            </a:r>
            <a:endParaRPr sz="1350">
              <a:solidFill>
                <a:srgbClr val="292E30"/>
              </a:solidFill>
              <a:latin typeface="Aptos"/>
              <a:ea typeface="Aptos"/>
              <a:cs typeface="Aptos"/>
              <a:sym typeface="Aptos"/>
            </a:endParaRPr>
          </a:p>
        </p:txBody>
      </p:sp>
      <p:sp>
        <p:nvSpPr>
          <p:cNvPr id="622" name="Google Shape;622;p6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Muhatabın gücü, doğru sözü saygılı biçimde söylemeye engel değildir.</a:t>
            </a:r>
            <a:endParaRPr sz="1500">
              <a:solidFill>
                <a:srgbClr val="143333"/>
              </a:solidFill>
              <a:latin typeface="Aptos"/>
              <a:ea typeface="Aptos"/>
              <a:cs typeface="Aptos"/>
              <a:sym typeface="Aptos"/>
            </a:endParaRPr>
          </a:p>
        </p:txBody>
      </p:sp>
      <p:sp>
        <p:nvSpPr>
          <p:cNvPr id="623" name="Google Shape;623;p6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Otorite sahibi biriyle konuşurken hem saygıyı hem doğruluğu koru.</a:t>
            </a:r>
            <a:endParaRPr b="1" sz="1200">
              <a:solidFill>
                <a:srgbClr val="FFFFFF"/>
              </a:solidFill>
              <a:latin typeface="Aptos"/>
              <a:ea typeface="Aptos"/>
              <a:cs typeface="Aptos"/>
              <a:sym typeface="Aptos"/>
            </a:endParaRPr>
          </a:p>
        </p:txBody>
      </p:sp>
      <p:sp>
        <p:nvSpPr>
          <p:cNvPr id="624" name="Google Shape;624;p6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6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31" name="Google Shape;631;p6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48 · Şücâ b. Vehb — Zor Muhataba Elçilik</a:t>
            </a:r>
            <a:endParaRPr b="1" sz="2600">
              <a:solidFill>
                <a:srgbClr val="1F2E33"/>
              </a:solidFill>
              <a:latin typeface="Aptos Display"/>
              <a:ea typeface="Aptos Display"/>
              <a:cs typeface="Aptos Display"/>
              <a:sym typeface="Aptos Display"/>
            </a:endParaRPr>
          </a:p>
        </p:txBody>
      </p:sp>
      <p:sp>
        <p:nvSpPr>
          <p:cNvPr id="632" name="Google Shape;632;p6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33" name="Google Shape;633;p6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Şücâ b. Vehb el-Esedî, Resûlullah’ın mektubunu Gassânî hükümdarına ulaştırmak üzere elçi olarak gönderildi. Şam bölgesine giderek kendisine verilen mesajı muhatabına sundu. Elçilik görevleri, farklı siyasî şartlarda ve uzak bölgelerde gerçekleştiriliyordu. Şücâ b. Vehb de kendisine verilen görevi yerine getirerek Resûlullah’ın davetinin farklı bölgelere ulaştırılmasına hizmet etti.</a:t>
            </a:r>
            <a:endParaRPr sz="1350">
              <a:solidFill>
                <a:srgbClr val="292E30"/>
              </a:solidFill>
              <a:latin typeface="Aptos"/>
              <a:ea typeface="Aptos"/>
              <a:cs typeface="Aptos"/>
              <a:sym typeface="Aptos"/>
            </a:endParaRPr>
          </a:p>
        </p:txBody>
      </p:sp>
      <p:sp>
        <p:nvSpPr>
          <p:cNvPr id="634" name="Google Shape;634;p6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İnsan, seçemediği muhataplarla da doğru iletişim kurabilmelidir.</a:t>
            </a:r>
            <a:endParaRPr sz="1500">
              <a:solidFill>
                <a:srgbClr val="143333"/>
              </a:solidFill>
              <a:latin typeface="Aptos"/>
              <a:ea typeface="Aptos"/>
              <a:cs typeface="Aptos"/>
              <a:sym typeface="Aptos"/>
            </a:endParaRPr>
          </a:p>
        </p:txBody>
      </p:sp>
      <p:sp>
        <p:nvSpPr>
          <p:cNvPr id="635" name="Google Shape;635;p6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Seni zorlayan biriyle konuşmadan önce üç sakin cümle hazırla.</a:t>
            </a:r>
            <a:endParaRPr b="1" sz="1200">
              <a:solidFill>
                <a:srgbClr val="FFFFFF"/>
              </a:solidFill>
              <a:latin typeface="Aptos"/>
              <a:ea typeface="Aptos"/>
              <a:cs typeface="Aptos"/>
              <a:sym typeface="Aptos"/>
            </a:endParaRPr>
          </a:p>
        </p:txBody>
      </p:sp>
      <p:sp>
        <p:nvSpPr>
          <p:cNvPr id="636" name="Google Shape;636;p6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6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43" name="Google Shape;643;p6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49 · Selît b. Amr — Sonucu Garanti Olmayan Görev</a:t>
            </a:r>
            <a:endParaRPr b="1" sz="2600">
              <a:solidFill>
                <a:srgbClr val="1F2E33"/>
              </a:solidFill>
              <a:latin typeface="Aptos Display"/>
              <a:ea typeface="Aptos Display"/>
              <a:cs typeface="Aptos Display"/>
              <a:sym typeface="Aptos Display"/>
            </a:endParaRPr>
          </a:p>
        </p:txBody>
      </p:sp>
      <p:sp>
        <p:nvSpPr>
          <p:cNvPr id="644" name="Google Shape;644;p6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45" name="Google Shape;645;p6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Selît b. Amr, Resûlullah’ın mektubunu Yemâme bölgesinin yöneticilerine ulaştırmak üzere elçi olarak gönderildi. Mektubu teslim ederek İslâm’a daveti iletti. Muhatapların cevabı Resûlullah’ın istediği şekilde olmadı; fakat Selît kendisine verilen tebliğ ve elçilik görevini tamamladı. Bu hadise, bir görevin değerinin yalnız karşı tarafın olumlu cevabıyla ölçülmediğini; emaneti doğru biçimde ulaştırmanın da başlı başına bir sorumluluk olduğunu gösterir.</a:t>
            </a:r>
            <a:endParaRPr sz="1350">
              <a:solidFill>
                <a:srgbClr val="292E30"/>
              </a:solidFill>
              <a:latin typeface="Aptos"/>
              <a:ea typeface="Aptos"/>
              <a:cs typeface="Aptos"/>
              <a:sym typeface="Aptos"/>
            </a:endParaRPr>
          </a:p>
        </p:txBody>
      </p:sp>
      <p:sp>
        <p:nvSpPr>
          <p:cNvPr id="646" name="Google Shape;646;p6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Biz gayretten sorumluyuz; her sonucu kontrol edemeyiz.</a:t>
            </a:r>
            <a:endParaRPr sz="1500">
              <a:solidFill>
                <a:srgbClr val="143333"/>
              </a:solidFill>
              <a:latin typeface="Aptos"/>
              <a:ea typeface="Aptos"/>
              <a:cs typeface="Aptos"/>
              <a:sym typeface="Aptos"/>
            </a:endParaRPr>
          </a:p>
        </p:txBody>
      </p:sp>
      <p:sp>
        <p:nvSpPr>
          <p:cNvPr id="647" name="Google Shape;647;p6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Kontrol edemediğin bir sonucu bırakıp bugün yalnız yapabileceğin adıma odaklan.</a:t>
            </a:r>
            <a:endParaRPr b="1" sz="1200">
              <a:solidFill>
                <a:srgbClr val="FFFFFF"/>
              </a:solidFill>
              <a:latin typeface="Aptos"/>
              <a:ea typeface="Aptos"/>
              <a:cs typeface="Aptos"/>
              <a:sym typeface="Aptos"/>
            </a:endParaRPr>
          </a:p>
        </p:txBody>
      </p:sp>
      <p:sp>
        <p:nvSpPr>
          <p:cNvPr id="648" name="Google Shape;648;p6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Peygamberimizin Elçileri</a:t>
            </a:r>
            <a:endParaRPr sz="700">
              <a:solidFill>
                <a:srgbClr val="737373"/>
              </a:solidFill>
              <a:latin typeface="Aptos"/>
              <a:ea typeface="Aptos"/>
              <a:cs typeface="Aptos"/>
              <a:sym typeface="Apto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6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55" name="Google Shape;655;p6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50 · Hz. Hâlid — Makam Değişince Hizmeti Bırakmamak</a:t>
            </a:r>
            <a:endParaRPr b="1" sz="2600">
              <a:solidFill>
                <a:srgbClr val="1F2E33"/>
              </a:solidFill>
              <a:latin typeface="Aptos Display"/>
              <a:ea typeface="Aptos Display"/>
              <a:cs typeface="Aptos Display"/>
              <a:sym typeface="Aptos Display"/>
            </a:endParaRPr>
          </a:p>
        </p:txBody>
      </p:sp>
      <p:sp>
        <p:nvSpPr>
          <p:cNvPr id="656" name="Google Shape;656;p6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57" name="Google Shape;657;p6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Hâlid uzun süre ordulara kumandanlık etmiş ve önemli başarılar kazanmıştı. Hz. Ömer döneminde başkumandanlık görevi Ebû Ubeyde b. Cerrâh’a verildiğinde Hz. Hâlid ordudan ayrılmadı. Yeni kumandanın emrinde savaşmaya ve görev yapmaya devam etti. Komutanlık makamı değişmesine rağmen hizmetini sürdürmesi, vazifeyi unvandan üstün tuttuğunu gösteren güçlü örneklerden biri olarak hatırlanır.</a:t>
            </a:r>
            <a:endParaRPr sz="1350">
              <a:solidFill>
                <a:srgbClr val="292E30"/>
              </a:solidFill>
              <a:latin typeface="Aptos"/>
              <a:ea typeface="Aptos"/>
              <a:cs typeface="Aptos"/>
              <a:sym typeface="Aptos"/>
            </a:endParaRPr>
          </a:p>
        </p:txBody>
      </p:sp>
      <p:sp>
        <p:nvSpPr>
          <p:cNvPr id="658" name="Google Shape;658;p6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Hizmetin değeri, sahip olunan unvandan daha büyüktür.</a:t>
            </a:r>
            <a:endParaRPr sz="1500">
              <a:solidFill>
                <a:srgbClr val="143333"/>
              </a:solidFill>
              <a:latin typeface="Aptos"/>
              <a:ea typeface="Aptos"/>
              <a:cs typeface="Aptos"/>
              <a:sym typeface="Aptos"/>
            </a:endParaRPr>
          </a:p>
        </p:txBody>
      </p:sp>
      <p:sp>
        <p:nvSpPr>
          <p:cNvPr id="659" name="Google Shape;659;p6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işi unvan ya da övgü beklemeden tamamla.</a:t>
            </a:r>
            <a:endParaRPr b="1" sz="1200">
              <a:solidFill>
                <a:srgbClr val="FFFFFF"/>
              </a:solidFill>
              <a:latin typeface="Aptos"/>
              <a:ea typeface="Aptos"/>
              <a:cs typeface="Aptos"/>
              <a:sym typeface="Aptos"/>
            </a:endParaRPr>
          </a:p>
        </p:txBody>
      </p:sp>
      <p:sp>
        <p:nvSpPr>
          <p:cNvPr id="660" name="Google Shape;660;p6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Yöneticilik ve Vazife Şuuru</a:t>
            </a:r>
            <a:endParaRPr sz="700">
              <a:solidFill>
                <a:srgbClr val="737373"/>
              </a:solidFill>
              <a:latin typeface="Aptos"/>
              <a:ea typeface="Aptos"/>
              <a:cs typeface="Aptos"/>
              <a:sym typeface="Apto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6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67" name="Google Shape;667;p6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51 · Ebû Ubeyde b. Cerrâh — Salgında İnsanlarını Bırakmamak</a:t>
            </a:r>
            <a:endParaRPr b="1" sz="2600">
              <a:solidFill>
                <a:srgbClr val="1F2E33"/>
              </a:solidFill>
              <a:latin typeface="Aptos Display"/>
              <a:ea typeface="Aptos Display"/>
              <a:cs typeface="Aptos Display"/>
              <a:sym typeface="Aptos Display"/>
            </a:endParaRPr>
          </a:p>
        </p:txBody>
      </p:sp>
      <p:sp>
        <p:nvSpPr>
          <p:cNvPr id="668" name="Google Shape;668;p6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69" name="Google Shape;669;p6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Amvâs vebası Şam bölgesinde yayıldığında Hz. Ömer, Ebû Ubeyde b. Cerrâh’ı salgın bölgesinden çıkarmak amacıyla kendisine ihtiyaç duyduğunu bildiren bir mektup gönderdi. Ebû Ubeyde mektubun maksadını anladı ve Müslüman askerlerden biri olduğunu, onların başına gelen şeyden kendisini ayrı tutmak istemediğini belirterek yanında bulunan ordudan ayrılmadı. Daha sonra vebaya yakalandı ve bu hastalık sebebiyle vefat etti. Bu tavrı, sorumluluğundaki insanlarla aynı şartları paylaşma anlayışının güçlü bir örneğidir.</a:t>
            </a:r>
            <a:endParaRPr sz="1350">
              <a:solidFill>
                <a:srgbClr val="292E30"/>
              </a:solidFill>
              <a:latin typeface="Aptos"/>
              <a:ea typeface="Aptos"/>
              <a:cs typeface="Aptos"/>
              <a:sym typeface="Aptos"/>
            </a:endParaRPr>
          </a:p>
        </p:txBody>
      </p:sp>
      <p:sp>
        <p:nvSpPr>
          <p:cNvPr id="670" name="Google Shape;670;p6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Liderlik, zor zamanda insanlardan uzaklaşmamak demektir.</a:t>
            </a:r>
            <a:endParaRPr sz="1500">
              <a:solidFill>
                <a:srgbClr val="143333"/>
              </a:solidFill>
              <a:latin typeface="Aptos"/>
              <a:ea typeface="Aptos"/>
              <a:cs typeface="Aptos"/>
              <a:sym typeface="Aptos"/>
            </a:endParaRPr>
          </a:p>
        </p:txBody>
      </p:sp>
      <p:sp>
        <p:nvSpPr>
          <p:cNvPr id="671" name="Google Shape;671;p6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Sıkıntı yaşayan bir arkadaşına sadece mesaj atmak yerine yanında bulun.</a:t>
            </a:r>
            <a:endParaRPr b="1" sz="1200">
              <a:solidFill>
                <a:srgbClr val="FFFFFF"/>
              </a:solidFill>
              <a:latin typeface="Aptos"/>
              <a:ea typeface="Aptos"/>
              <a:cs typeface="Aptos"/>
              <a:sym typeface="Aptos"/>
            </a:endParaRPr>
          </a:p>
        </p:txBody>
      </p:sp>
      <p:sp>
        <p:nvSpPr>
          <p:cNvPr id="672" name="Google Shape;672;p6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İdarecilerin Sorumluluğu</a:t>
            </a:r>
            <a:endParaRPr sz="700">
              <a:solidFill>
                <a:srgbClr val="737373"/>
              </a:solidFill>
              <a:latin typeface="Aptos"/>
              <a:ea typeface="Aptos"/>
              <a:cs typeface="Aptos"/>
              <a:sym typeface="Apto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6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79" name="Google Shape;679;p6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52 · Hz. Ebû Bekir — “Ailene Ne Bıraktın?”</a:t>
            </a:r>
            <a:endParaRPr b="1" sz="2600">
              <a:solidFill>
                <a:srgbClr val="1F2E33"/>
              </a:solidFill>
              <a:latin typeface="Aptos Display"/>
              <a:ea typeface="Aptos Display"/>
              <a:cs typeface="Aptos Display"/>
              <a:sym typeface="Aptos Display"/>
            </a:endParaRPr>
          </a:p>
        </p:txBody>
      </p:sp>
      <p:sp>
        <p:nvSpPr>
          <p:cNvPr id="680" name="Google Shape;680;p6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81" name="Google Shape;681;p6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Tebük hazırlıkları sırasında Müslümanlardan imkânları ölçüsünde yardım istendi. Hz. Ebû Bekir sahip olduğu malın tamamını getirip Resûlullah’ın önüne koydu. Peygamberimiz ailesine ne bıraktığını sorunca Hz. Ebû Bekir, Allah’ı ve Resûlü’nü bıraktığını ifade etti. Bu davranış, onun Allah’a güvenini, Resûlullah’a bağlılığını ve fedakârlıkta ulaştığı yüksek seviyeyi gösteren özel bir örnek olarak nakledilir.</a:t>
            </a:r>
            <a:endParaRPr sz="1350">
              <a:solidFill>
                <a:srgbClr val="292E30"/>
              </a:solidFill>
              <a:latin typeface="Aptos"/>
              <a:ea typeface="Aptos"/>
              <a:cs typeface="Aptos"/>
              <a:sym typeface="Aptos"/>
            </a:endParaRPr>
          </a:p>
        </p:txBody>
      </p:sp>
      <p:sp>
        <p:nvSpPr>
          <p:cNvPr id="682" name="Google Shape;682;p6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Fedakârlık, insanın en çok değer verdiği şeylerle sınanır.</a:t>
            </a:r>
            <a:endParaRPr sz="1500">
              <a:solidFill>
                <a:srgbClr val="143333"/>
              </a:solidFill>
              <a:latin typeface="Aptos"/>
              <a:ea typeface="Aptos"/>
              <a:cs typeface="Aptos"/>
              <a:sym typeface="Aptos"/>
            </a:endParaRPr>
          </a:p>
        </p:txBody>
      </p:sp>
      <p:sp>
        <p:nvSpPr>
          <p:cNvPr id="683" name="Google Shape;683;p6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sevdiğin bir imkândan başkası için bilinçli biçimde vazgeç.</a:t>
            </a:r>
            <a:endParaRPr b="1" sz="1200">
              <a:solidFill>
                <a:srgbClr val="FFFFFF"/>
              </a:solidFill>
              <a:latin typeface="Aptos"/>
              <a:ea typeface="Aptos"/>
              <a:cs typeface="Aptos"/>
              <a:sym typeface="Aptos"/>
            </a:endParaRPr>
          </a:p>
        </p:txBody>
      </p:sp>
      <p:sp>
        <p:nvSpPr>
          <p:cNvPr id="684" name="Google Shape;684;p6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Fedakârlık ve Sabır — “Ailene Ne Bıraktın”</a:t>
            </a:r>
            <a:endParaRPr sz="700">
              <a:solidFill>
                <a:srgbClr val="737373"/>
              </a:solidFill>
              <a:latin typeface="Aptos"/>
              <a:ea typeface="Aptos"/>
              <a:cs typeface="Aptos"/>
              <a:sym typeface="Apto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6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691" name="Google Shape;691;p6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53 · Hz. Ömer — Ebû Bekir’le Yarışırken Kendini Tanımak</a:t>
            </a:r>
            <a:endParaRPr b="1" sz="2600">
              <a:solidFill>
                <a:srgbClr val="1F2E33"/>
              </a:solidFill>
              <a:latin typeface="Aptos Display"/>
              <a:ea typeface="Aptos Display"/>
              <a:cs typeface="Aptos Display"/>
              <a:sym typeface="Aptos Display"/>
            </a:endParaRPr>
          </a:p>
        </p:txBody>
      </p:sp>
      <p:sp>
        <p:nvSpPr>
          <p:cNvPr id="692" name="Google Shape;692;p6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93" name="Google Shape;693;p6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Tebük hazırlıkları için yardım istendiğinde Hz. Ömer malının yarısını getirdi. O gün Hz. Ebû Bekir’i hayırda geçebileceğini ümit ettiğini kendisi anlatır. Hz. Ebû Bekir’in bütün malını getirdiğini görünce onunla bu konuda yarışamayacağını ifade etti. Bu rivayet, iki büyük sahabinin hayırda yarışmasını ve Hz. Ömer’in Hz. Ebû Bekir’in üstün fedakârlığını açıkça teslim etmesini gösteren güzel bir hatıradır.</a:t>
            </a:r>
            <a:endParaRPr sz="1350">
              <a:solidFill>
                <a:srgbClr val="292E30"/>
              </a:solidFill>
              <a:latin typeface="Aptos"/>
              <a:ea typeface="Aptos"/>
              <a:cs typeface="Aptos"/>
              <a:sym typeface="Aptos"/>
            </a:endParaRPr>
          </a:p>
        </p:txBody>
      </p:sp>
      <p:sp>
        <p:nvSpPr>
          <p:cNvPr id="694" name="Google Shape;694;p6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Hayırda yarışırken başkasının üstün güzel davranışını da takdir edebilirim.</a:t>
            </a:r>
            <a:endParaRPr sz="1500">
              <a:solidFill>
                <a:srgbClr val="143333"/>
              </a:solidFill>
              <a:latin typeface="Aptos"/>
              <a:ea typeface="Aptos"/>
              <a:cs typeface="Aptos"/>
              <a:sym typeface="Aptos"/>
            </a:endParaRPr>
          </a:p>
        </p:txBody>
      </p:sp>
      <p:sp>
        <p:nvSpPr>
          <p:cNvPr id="695" name="Google Shape;695;p6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Senden daha iyi olan birini seç ve ondan bir davranış öğren.</a:t>
            </a:r>
            <a:endParaRPr b="1" sz="1200">
              <a:solidFill>
                <a:srgbClr val="FFFFFF"/>
              </a:solidFill>
              <a:latin typeface="Aptos"/>
              <a:ea typeface="Aptos"/>
              <a:cs typeface="Aptos"/>
              <a:sym typeface="Aptos"/>
            </a:endParaRPr>
          </a:p>
        </p:txBody>
      </p:sp>
      <p:sp>
        <p:nvSpPr>
          <p:cNvPr id="696" name="Google Shape;696;p6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Saadet Asrında Fedakârlık ve Sabır</a:t>
            </a:r>
            <a:endParaRPr sz="700">
              <a:solidFill>
                <a:srgbClr val="737373"/>
              </a:solidFill>
              <a:latin typeface="Aptos"/>
              <a:ea typeface="Aptos"/>
              <a:cs typeface="Aptos"/>
              <a:sym typeface="Apto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703" name="Google Shape;703;p6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54 · Ebû Zer — Makam İstemek ile Makama Uygun Olmak Aynı Değil</a:t>
            </a:r>
            <a:endParaRPr b="1" sz="2600">
              <a:solidFill>
                <a:srgbClr val="1F2E33"/>
              </a:solidFill>
              <a:latin typeface="Aptos Display"/>
              <a:ea typeface="Aptos Display"/>
              <a:cs typeface="Aptos Display"/>
              <a:sym typeface="Aptos Display"/>
            </a:endParaRPr>
          </a:p>
        </p:txBody>
      </p:sp>
      <p:sp>
        <p:nvSpPr>
          <p:cNvPr id="704" name="Google Shape;704;p6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705" name="Google Shape;705;p6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Ebû Zer bir gün Resûlullah’tan kendisine idarî bir görev vermesini istedi. Peygamberimiz onun omzuna dokunarak yöneticiliğin ağır bir emanet olduğunu ve Ebû Zer’in bu görev için zayıf bulunduğunu açıkça söyledi. Başka bir rivayette de ona, kendisi için istediğini onun için de istediğini belirterek iki kişiye bile yönetici olmamasını tavsiye etti. Bu sözler Ebû Zer’in imanına veya faziletine değil, belirli bir idarî görevin gerektirdiği kabiliyete dair bir değerlendirmeydi. Hadise, liyakatin kişisel faziletle aynı şey olmadığını gösterir.</a:t>
            </a:r>
            <a:endParaRPr sz="1350">
              <a:solidFill>
                <a:srgbClr val="292E30"/>
              </a:solidFill>
              <a:latin typeface="Aptos"/>
              <a:ea typeface="Aptos"/>
              <a:cs typeface="Aptos"/>
              <a:sym typeface="Aptos"/>
            </a:endParaRPr>
          </a:p>
        </p:txBody>
      </p:sp>
      <p:sp>
        <p:nvSpPr>
          <p:cNvPr id="706" name="Google Shape;706;p6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şeyi çok istemem, o görev için mutlaka uygun olduğum anlamına gelmez.</a:t>
            </a:r>
            <a:endParaRPr sz="1500">
              <a:solidFill>
                <a:srgbClr val="143333"/>
              </a:solidFill>
              <a:latin typeface="Aptos"/>
              <a:ea typeface="Aptos"/>
              <a:cs typeface="Aptos"/>
              <a:sym typeface="Aptos"/>
            </a:endParaRPr>
          </a:p>
        </p:txBody>
      </p:sp>
      <p:sp>
        <p:nvSpPr>
          <p:cNvPr id="707" name="Google Shape;707;p6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İstediğin bir görev için hangi yetkinliklerinin eksik olduğunu dürüstçe yaz.</a:t>
            </a:r>
            <a:endParaRPr b="1" sz="1200">
              <a:solidFill>
                <a:srgbClr val="FFFFFF"/>
              </a:solidFill>
              <a:latin typeface="Aptos"/>
              <a:ea typeface="Aptos"/>
              <a:cs typeface="Aptos"/>
              <a:sym typeface="Aptos"/>
            </a:endParaRPr>
          </a:p>
        </p:txBody>
      </p:sp>
      <p:sp>
        <p:nvSpPr>
          <p:cNvPr id="708" name="Google Shape;708;p6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C.1 — Kimler Amir Yapılmalıdır?</a:t>
            </a:r>
            <a:endParaRPr sz="700">
              <a:solidFill>
                <a:srgbClr val="737373"/>
              </a:solidFill>
              <a:latin typeface="Aptos"/>
              <a:ea typeface="Aptos"/>
              <a:cs typeface="Aptos"/>
              <a:sym typeface="Apto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4" name="Google Shape;714;p6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LİSE • SAHABE</a:t>
            </a:r>
            <a:endParaRPr b="1" sz="900">
              <a:solidFill>
                <a:srgbClr val="146B66"/>
              </a:solidFill>
              <a:latin typeface="Aptos"/>
              <a:ea typeface="Aptos"/>
              <a:cs typeface="Aptos"/>
              <a:sym typeface="Aptos"/>
            </a:endParaRPr>
          </a:p>
        </p:txBody>
      </p:sp>
      <p:sp>
        <p:nvSpPr>
          <p:cNvPr id="715" name="Google Shape;715;p6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55 · Ebû Talha — En Sevdiğini Verebilmek</a:t>
            </a:r>
            <a:endParaRPr b="1" sz="2600">
              <a:solidFill>
                <a:srgbClr val="1F2E33"/>
              </a:solidFill>
              <a:latin typeface="Aptos Display"/>
              <a:ea typeface="Aptos Display"/>
              <a:cs typeface="Aptos Display"/>
              <a:sym typeface="Aptos Display"/>
            </a:endParaRPr>
          </a:p>
        </p:txBody>
      </p:sp>
      <p:sp>
        <p:nvSpPr>
          <p:cNvPr id="716" name="Google Shape;716;p6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717" name="Google Shape;717;p6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Ebû Talha’nın Mescid-i Nebevî’ye yakın, verimli ve çok sevdiği Beyruhâ adlı bir bahçesi vardı. Bu bahçe onun için sadece maddî değeri olan bir mülk değildi; sevdiği ve önem verdiği bir yerdi. Sevilen şeylerden vermenin değerini bildiren ayeti duyduğunda, elinde kalan fazlalığı değil en kıymetli mallarından birini paylaşmak istedi. Bahçeyi Allah yolunda bağışlamayı teklif etti. Böylece cömertliği kolayca vazgeçebildiği şeylerle sınırlı tutmadı. Gerçek fedakârlığın insanın sevdiği şeyle arasındaki bağı sorgulamasını gerektirebileceğini gösterdi. Vermek, bazen artandan değil değer verdiğinden verebilmektir.</a:t>
            </a:r>
            <a:endParaRPr sz="1350">
              <a:solidFill>
                <a:srgbClr val="292E30"/>
              </a:solidFill>
              <a:latin typeface="Aptos"/>
              <a:ea typeface="Aptos"/>
              <a:cs typeface="Aptos"/>
              <a:sym typeface="Aptos"/>
            </a:endParaRPr>
          </a:p>
        </p:txBody>
      </p:sp>
      <p:sp>
        <p:nvSpPr>
          <p:cNvPr id="718" name="Google Shape;718;p6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Gerçek cömertlik, artandan değil değer verdiğinden verebilmektir.</a:t>
            </a:r>
            <a:endParaRPr sz="1500">
              <a:solidFill>
                <a:srgbClr val="143333"/>
              </a:solidFill>
              <a:latin typeface="Aptos"/>
              <a:ea typeface="Aptos"/>
              <a:cs typeface="Aptos"/>
              <a:sym typeface="Aptos"/>
            </a:endParaRPr>
          </a:p>
        </p:txBody>
      </p:sp>
      <p:sp>
        <p:nvSpPr>
          <p:cNvPr id="719" name="Google Shape;719;p6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sevdiğin bir eşyanı ya da zamanını başkasıyla paylaş.</a:t>
            </a:r>
            <a:endParaRPr b="1" sz="1200">
              <a:solidFill>
                <a:srgbClr val="FFFFFF"/>
              </a:solidFill>
              <a:latin typeface="Aptos"/>
              <a:ea typeface="Aptos"/>
              <a:cs typeface="Aptos"/>
              <a:sym typeface="Aptos"/>
            </a:endParaRPr>
          </a:p>
        </p:txBody>
      </p:sp>
      <p:sp>
        <p:nvSpPr>
          <p:cNvPr id="720" name="Google Shape;720;p6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Hayâtü’s-Sahâbe, C.2 — En Çok Değer Verilen Şeylerin İnfakı</a:t>
            </a:r>
            <a:endParaRPr sz="700">
              <a:solidFill>
                <a:srgbClr val="737373"/>
              </a:solidFill>
              <a:latin typeface="Aptos"/>
              <a:ea typeface="Aptos"/>
              <a:cs typeface="Aptos"/>
              <a:sym typeface="Apto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